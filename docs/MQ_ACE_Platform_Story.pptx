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room. Over the next few minutes I'll walk you through the platform we run, the daily reality of running it, what we've already done about that, and where we're taking it next — with agentic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MQ owns the transport guarantee; ACE owns the translation. The carrier can swap a portal, upgrade a claims engine, or onboard a new partner without touching the rest — because everything meets in the middle on a queue or a flow. That's the architecture on paper. The next slide is what running it actually looks like, day to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pain on this slide has the same root cause: the diagnostic experience is manual, fragmented, and expert-gated. It's not a staffing problem — adding people doesn't fix it, because the tooling forces the same workflow on every person. We haven't sat still: over the last two years the team has built thirteen in-house automations that take the most painful, repetitive work off our plate — the next slide walks through that journey, and the five tracks they now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Thirteen automations is real progress — but it isn't the finish line. Each automation still answers a predefined question; anything outside the script still escalates to a human. The next step is closing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was about taking known toil off the team's plate. Slide 4 is about taking the rest off — the free-form, unpredictable, "I just need to know X" questions that no script can anticipate. This isn't a chatbot bolted onto a dashboard; it's an autonomous reasoner that decides which diagnostics to run, in what order, and how to present the answer — within guardrails we set. The foundation we built in 2024-25 is exactly what makes this safe and credible to roll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chatbot with an API stitched to the back. It is an autonomous reasoning agent with a bounded, audited surface area — every layer was chosen so the security, observability, and read-only guarantees are properties of the architecture itself, not policies that have to be re-enforced by every developer. The next slide opens the hood further — the engineering controls, coding standards, security shield, and governance that make this safe to roll out against production diagnostics.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agentic AI is not a demo glued to our platform — it's a governed system whose security, observability, and read-only guarantees are architectural properties, not policies that have to be re-enforced by every developer who touches the codebase. That distinction is what makes it credible to run against production diagnostics, and what lets us onboard new tools (or new domains entirely) without lowering the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slideLayout" Target="../slideLayouts/slideLayout1.xml"/><Relationship Id="rId2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82880" y="274320"/>
            <a:ext cx="4754880" cy="4297680"/>
          </a:xfrm>
          <a:prstGeom prst="rect">
            <a:avLst/>
          </a:prstGeom>
        </p:spPr>
      </p:pic>
      <p:sp>
        <p:nvSpPr>
          <p:cNvPr id="3" name="Text 0"/>
          <p:cNvSpPr/>
          <p:nvPr/>
        </p:nvSpPr>
        <p:spPr>
          <a:xfrm>
            <a:off x="4846320" y="1280160"/>
            <a:ext cx="4114800" cy="2331720"/>
          </a:xfrm>
          <a:prstGeom prst="rect">
            <a:avLst/>
          </a:prstGeom>
          <a:noFill/>
          <a:ln/>
        </p:spPr>
        <p:txBody>
          <a:bodyPr wrap="square" lIns="0" tIns="0" rIns="0" bIns="0" rtlCol="0" anchor="t"/>
          <a:lstStyle/>
          <a:p>
            <a:pPr indent="0" marL="0">
              <a:buNone/>
            </a:pPr>
            <a:r>
              <a:rPr lang="en-US" sz="3800" b="1" dirty="0">
                <a:solidFill>
                  <a:srgbClr val="4C1D95"/>
                </a:solidFill>
                <a:latin typeface="Aptos Display" pitchFamily="34" charset="0"/>
                <a:ea typeface="Aptos Display" pitchFamily="34" charset="-122"/>
                <a:cs typeface="Aptos Display" pitchFamily="34" charset="-120"/>
              </a:rPr>
              <a:t>From Console Chaos</a:t>
            </a:r>
            <a:endParaRPr lang="en-US" sz="3800" dirty="0"/>
          </a:p>
          <a:p>
            <a:pPr indent="0" marL="0">
              <a:buNone/>
            </a:pPr>
            <a:r>
              <a:rPr lang="en-US" sz="3800" b="1" dirty="0">
                <a:solidFill>
                  <a:srgbClr val="4C1D95"/>
                </a:solidFill>
                <a:latin typeface="Aptos Display" pitchFamily="34" charset="0"/>
                <a:ea typeface="Aptos Display" pitchFamily="34" charset="-122"/>
                <a:cs typeface="Aptos Display" pitchFamily="34" charset="-120"/>
              </a:rPr>
              <a:t>to Conversational</a:t>
            </a:r>
            <a:endParaRPr lang="en-US" sz="3800" dirty="0"/>
          </a:p>
          <a:p>
            <a:pPr indent="0" marL="0">
              <a:buNone/>
            </a:pPr>
            <a:r>
              <a:rPr lang="en-US" sz="3800" b="1" dirty="0">
                <a:solidFill>
                  <a:srgbClr val="4C1D95"/>
                </a:solidFill>
                <a:latin typeface="Aptos Display" pitchFamily="34" charset="0"/>
                <a:ea typeface="Aptos Display" pitchFamily="34" charset="-122"/>
                <a:cs typeface="Aptos Display" pitchFamily="34" charset="-120"/>
              </a:rPr>
              <a:t>Intelligence</a:t>
            </a:r>
            <a:endParaRPr lang="en-US" sz="3800" dirty="0"/>
          </a:p>
        </p:txBody>
      </p:sp>
      <p:sp>
        <p:nvSpPr>
          <p:cNvPr id="4" name="Text 1"/>
          <p:cNvSpPr/>
          <p:nvPr/>
        </p:nvSpPr>
        <p:spPr>
          <a:xfrm>
            <a:off x="4846320" y="3657600"/>
            <a:ext cx="4114800" cy="365760"/>
          </a:xfrm>
          <a:prstGeom prst="rect">
            <a:avLst/>
          </a:prstGeom>
          <a:noFill/>
          <a:ln/>
        </p:spPr>
        <p:txBody>
          <a:bodyPr wrap="square" lIns="0" tIns="0" rIns="0" bIns="0" rtlCol="0" anchor="ctr"/>
          <a:lstStyle/>
          <a:p>
            <a:pPr indent="0" marL="0">
              <a:buNone/>
            </a:pPr>
            <a:r>
              <a:rPr lang="en-US" sz="1500" i="1" dirty="0">
                <a:solidFill>
                  <a:srgbClr val="6B7280"/>
                </a:solidFill>
                <a:latin typeface="Aptos" pitchFamily="34" charset="0"/>
                <a:ea typeface="Aptos" pitchFamily="34" charset="-122"/>
                <a:cs typeface="Aptos" pitchFamily="34" charset="-120"/>
              </a:rPr>
              <a:t>An MQ/ACE Platform Maturity Story</a:t>
            </a:r>
            <a:endParaRPr lang="en-US" sz="1500" dirty="0"/>
          </a:p>
        </p:txBody>
      </p:sp>
      <p:sp>
        <p:nvSpPr>
          <p:cNvPr id="5" name="Shape 2"/>
          <p:cNvSpPr/>
          <p:nvPr/>
        </p:nvSpPr>
        <p:spPr>
          <a:xfrm>
            <a:off x="6126480" y="4297680"/>
            <a:ext cx="2651760" cy="18288"/>
          </a:xfrm>
          <a:prstGeom prst="rect">
            <a:avLst/>
          </a:prstGeom>
          <a:solidFill>
            <a:srgbClr val="5B21B6"/>
          </a:solidFill>
          <a:ln/>
        </p:spPr>
      </p:sp>
      <p:sp>
        <p:nvSpPr>
          <p:cNvPr id="6" name="Text 3"/>
          <p:cNvSpPr/>
          <p:nvPr/>
        </p:nvSpPr>
        <p:spPr>
          <a:xfrm>
            <a:off x="6126480" y="4352544"/>
            <a:ext cx="2651760" cy="182880"/>
          </a:xfrm>
          <a:prstGeom prst="rect">
            <a:avLst/>
          </a:prstGeom>
          <a:noFill/>
          <a:ln/>
        </p:spPr>
        <p:txBody>
          <a:bodyPr wrap="square" lIns="0" tIns="0" rIns="0" bIns="0" rtlCol="0" anchor="ctr"/>
          <a:lstStyle/>
          <a:p>
            <a:pPr algn="r" indent="0" marL="0">
              <a:buNone/>
            </a:pPr>
            <a:r>
              <a:rPr lang="en-US" sz="800" b="1" spc="500" kern="0" dirty="0">
                <a:solidFill>
                  <a:srgbClr val="6B7280"/>
                </a:solidFill>
                <a:latin typeface="Aptos" pitchFamily="34" charset="0"/>
                <a:ea typeface="Aptos" pitchFamily="34" charset="-122"/>
                <a:cs typeface="Aptos" pitchFamily="34" charset="-120"/>
              </a:rPr>
              <a:t>PRESENTED BY</a:t>
            </a:r>
            <a:endParaRPr lang="en-US" sz="800" dirty="0"/>
          </a:p>
        </p:txBody>
      </p:sp>
      <p:sp>
        <p:nvSpPr>
          <p:cNvPr id="7" name="Text 4"/>
          <p:cNvSpPr/>
          <p:nvPr/>
        </p:nvSpPr>
        <p:spPr>
          <a:xfrm>
            <a:off x="6126480" y="4535424"/>
            <a:ext cx="2651760" cy="274320"/>
          </a:xfrm>
          <a:prstGeom prst="rect">
            <a:avLst/>
          </a:prstGeom>
          <a:noFill/>
          <a:ln/>
        </p:spPr>
        <p:txBody>
          <a:bodyPr wrap="square" lIns="0" tIns="0" rIns="0" bIns="0" rtlCol="0" anchor="ctr"/>
          <a:lstStyle/>
          <a:p>
            <a:pPr algn="r" indent="0" marL="0">
              <a:buNone/>
            </a:pPr>
            <a:r>
              <a:rPr lang="en-US" sz="1600" b="1" dirty="0">
                <a:solidFill>
                  <a:srgbClr val="4C1D95"/>
                </a:solidFill>
                <a:latin typeface="Aptos Display" pitchFamily="34" charset="0"/>
                <a:ea typeface="Aptos Display" pitchFamily="34" charset="-122"/>
                <a:cs typeface="Aptos Display" pitchFamily="34" charset="-120"/>
              </a:rPr>
              <a:t>Ajit K.</a:t>
            </a:r>
            <a:endParaRPr lang="en-US" sz="1600" dirty="0"/>
          </a:p>
        </p:txBody>
      </p:sp>
      <p:sp>
        <p:nvSpPr>
          <p:cNvPr id="8" name="Text 5"/>
          <p:cNvSpPr/>
          <p:nvPr/>
        </p:nvSpPr>
        <p:spPr>
          <a:xfrm>
            <a:off x="6126480" y="4809744"/>
            <a:ext cx="2651760" cy="182880"/>
          </a:xfrm>
          <a:prstGeom prst="rect">
            <a:avLst/>
          </a:prstGeom>
          <a:noFill/>
          <a:ln/>
        </p:spPr>
        <p:txBody>
          <a:bodyPr wrap="square" lIns="0" tIns="0" rIns="0" bIns="0" rtlCol="0" anchor="ctr"/>
          <a:lstStyle/>
          <a:p>
            <a:pPr algn="r" indent="0" marL="0">
              <a:buNone/>
            </a:pPr>
            <a:r>
              <a:rPr lang="en-US" sz="900" i="1" dirty="0">
                <a:solidFill>
                  <a:srgbClr val="6B7280"/>
                </a:solidFill>
                <a:latin typeface="Aptos" pitchFamily="34" charset="0"/>
                <a:ea typeface="Aptos" pitchFamily="34" charset="-122"/>
                <a:cs typeface="Aptos" pitchFamily="34" charset="-120"/>
              </a:rPr>
              <a:t>MQ/ACE Platform Support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457200" y="292608"/>
            <a:ext cx="91440" cy="91440"/>
          </a:xfrm>
          <a:prstGeom prst="ellipse">
            <a:avLst/>
          </a:prstGeom>
          <a:solidFill>
            <a:srgbClr val="5B21B6"/>
          </a:solidFill>
          <a:ln/>
        </p:spPr>
      </p:sp>
      <p:sp>
        <p:nvSpPr>
          <p:cNvPr id="3" name="Text 1"/>
          <p:cNvSpPr/>
          <p:nvPr/>
        </p:nvSpPr>
        <p:spPr>
          <a:xfrm>
            <a:off x="603504" y="246888"/>
            <a:ext cx="4572000" cy="182880"/>
          </a:xfrm>
          <a:prstGeom prst="rect">
            <a:avLst/>
          </a:prstGeom>
          <a:noFill/>
          <a:ln/>
        </p:spPr>
        <p:txBody>
          <a:bodyPr wrap="square" lIns="0" tIns="0" rIns="0" bIns="0" rtlCol="0" anchor="ctr"/>
          <a:lstStyle/>
          <a:p>
            <a:pPr indent="0" marL="0">
              <a:buNone/>
            </a:pPr>
            <a:r>
              <a:rPr lang="en-US" sz="800" b="1" spc="500" kern="0" dirty="0">
                <a:solidFill>
                  <a:srgbClr val="6B7280"/>
                </a:solidFill>
                <a:latin typeface="Aptos" pitchFamily="34" charset="0"/>
                <a:ea typeface="Aptos" pitchFamily="34" charset="-122"/>
                <a:cs typeface="Aptos" pitchFamily="34" charset="-120"/>
              </a:rPr>
              <a:t>MQ &amp; ACE PLATFORM STORY</a:t>
            </a:r>
            <a:endParaRPr lang="en-US" sz="800" dirty="0"/>
          </a:p>
        </p:txBody>
      </p:sp>
      <p:sp>
        <p:nvSpPr>
          <p:cNvPr id="4" name="Text 2"/>
          <p:cNvSpPr/>
          <p:nvPr/>
        </p:nvSpPr>
        <p:spPr>
          <a:xfrm>
            <a:off x="457200" y="640080"/>
            <a:ext cx="8229600" cy="685800"/>
          </a:xfrm>
          <a:prstGeom prst="rect">
            <a:avLst/>
          </a:prstGeom>
          <a:noFill/>
          <a:ln/>
        </p:spPr>
        <p:txBody>
          <a:bodyPr wrap="square" lIns="0" tIns="0" rIns="0" bIns="0" rtlCol="0" anchor="t"/>
          <a:lstStyle/>
          <a:p>
            <a:pPr indent="0" marL="0">
              <a:buNone/>
            </a:pPr>
            <a:r>
              <a:rPr lang="en-US" sz="2400" b="1" dirty="0">
                <a:solidFill>
                  <a:srgbClr val="1F2937"/>
                </a:solidFill>
                <a:latin typeface="Aptos Display" pitchFamily="34" charset="0"/>
                <a:ea typeface="Aptos Display" pitchFamily="34" charset="-122"/>
                <a:cs typeface="Aptos Display" pitchFamily="34" charset="-120"/>
              </a:rPr>
              <a:t>IBM MQ guarantees the message, while IBM ACE transforms it</a:t>
            </a:r>
            <a:endParaRPr lang="en-US" sz="2400" dirty="0"/>
          </a:p>
        </p:txBody>
      </p:sp>
      <p:sp>
        <p:nvSpPr>
          <p:cNvPr id="5" name="Shape 3"/>
          <p:cNvSpPr/>
          <p:nvPr/>
        </p:nvSpPr>
        <p:spPr>
          <a:xfrm>
            <a:off x="457200" y="1508760"/>
            <a:ext cx="3291840" cy="365760"/>
          </a:xfrm>
          <a:prstGeom prst="rect">
            <a:avLst/>
          </a:prstGeom>
          <a:solidFill>
            <a:srgbClr val="EDE9FE"/>
          </a:solidFill>
          <a:ln w="3175">
            <a:solidFill>
              <a:srgbClr val="4C1D95"/>
            </a:solidFill>
            <a:prstDash val="solid"/>
          </a:ln>
          <a:effectLst>
            <a:outerShdw sx="100000" sy="100000" kx="0" ky="0" algn="bl" rotWithShape="0" blurRad="76200" dist="12700" dir="5400000">
              <a:srgbClr val="000000">
                <a:alpha val="8000"/>
              </a:srgbClr>
            </a:outerShdw>
          </a:effectLst>
        </p:spPr>
      </p:sp>
      <p:sp>
        <p:nvSpPr>
          <p:cNvPr id="6" name="Text 4"/>
          <p:cNvSpPr/>
          <p:nvPr/>
        </p:nvSpPr>
        <p:spPr>
          <a:xfrm>
            <a:off x="640080" y="1508760"/>
            <a:ext cx="2926080" cy="365760"/>
          </a:xfrm>
          <a:prstGeom prst="rect">
            <a:avLst/>
          </a:prstGeom>
          <a:noFill/>
          <a:ln/>
        </p:spPr>
        <p:txBody>
          <a:bodyPr wrap="square" lIns="0" tIns="0" rIns="0" bIns="0" rtlCol="0" anchor="ctr"/>
          <a:lstStyle/>
          <a:p>
            <a:pPr algn="l" indent="0" marL="0">
              <a:buNone/>
            </a:pPr>
            <a:r>
              <a:rPr lang="en-US" sz="1100" dirty="0">
                <a:solidFill>
                  <a:srgbClr val="1F2937"/>
                </a:solidFill>
                <a:latin typeface="Aptos" pitchFamily="34" charset="0"/>
                <a:ea typeface="Aptos" pitchFamily="34" charset="-122"/>
                <a:cs typeface="Aptos" pitchFamily="34" charset="-120"/>
              </a:rPr>
              <a:t>1. Channel</a:t>
            </a:r>
            <a:endParaRPr lang="en-US" sz="1100" dirty="0"/>
          </a:p>
        </p:txBody>
      </p:sp>
      <p:sp>
        <p:nvSpPr>
          <p:cNvPr id="7" name="Shape 5"/>
          <p:cNvSpPr/>
          <p:nvPr/>
        </p:nvSpPr>
        <p:spPr>
          <a:xfrm>
            <a:off x="457200" y="1929384"/>
            <a:ext cx="3291840" cy="365760"/>
          </a:xfrm>
          <a:prstGeom prst="rect">
            <a:avLst/>
          </a:prstGeom>
          <a:solidFill>
            <a:srgbClr val="DDD6FE"/>
          </a:solidFill>
          <a:ln w="3175">
            <a:solidFill>
              <a:srgbClr val="4C1D95"/>
            </a:solidFill>
            <a:prstDash val="solid"/>
          </a:ln>
          <a:effectLst>
            <a:outerShdw sx="100000" sy="100000" kx="0" ky="0" algn="bl" rotWithShape="0" blurRad="76200" dist="12700" dir="5400000">
              <a:srgbClr val="000000">
                <a:alpha val="8000"/>
              </a:srgbClr>
            </a:outerShdw>
          </a:effectLst>
        </p:spPr>
      </p:sp>
      <p:sp>
        <p:nvSpPr>
          <p:cNvPr id="8" name="Text 6"/>
          <p:cNvSpPr/>
          <p:nvPr/>
        </p:nvSpPr>
        <p:spPr>
          <a:xfrm>
            <a:off x="640080" y="1929384"/>
            <a:ext cx="2926080" cy="365760"/>
          </a:xfrm>
          <a:prstGeom prst="rect">
            <a:avLst/>
          </a:prstGeom>
          <a:noFill/>
          <a:ln/>
        </p:spPr>
        <p:txBody>
          <a:bodyPr wrap="square" lIns="0" tIns="0" rIns="0" bIns="0" rtlCol="0" anchor="ctr"/>
          <a:lstStyle/>
          <a:p>
            <a:pPr algn="l" indent="0" marL="0">
              <a:buNone/>
            </a:pPr>
            <a:r>
              <a:rPr lang="en-US" sz="1100" dirty="0">
                <a:solidFill>
                  <a:srgbClr val="1F2937"/>
                </a:solidFill>
                <a:latin typeface="Aptos" pitchFamily="34" charset="0"/>
                <a:ea typeface="Aptos" pitchFamily="34" charset="-122"/>
                <a:cs typeface="Aptos" pitchFamily="34" charset="-120"/>
              </a:rPr>
              <a:t>2. Gateway</a:t>
            </a:r>
            <a:endParaRPr lang="en-US" sz="1100" dirty="0"/>
          </a:p>
        </p:txBody>
      </p:sp>
      <p:sp>
        <p:nvSpPr>
          <p:cNvPr id="9" name="Shape 7"/>
          <p:cNvSpPr/>
          <p:nvPr/>
        </p:nvSpPr>
        <p:spPr>
          <a:xfrm>
            <a:off x="457200" y="2350008"/>
            <a:ext cx="3291840" cy="365760"/>
          </a:xfrm>
          <a:prstGeom prst="rect">
            <a:avLst/>
          </a:prstGeom>
          <a:solidFill>
            <a:srgbClr val="A78BFA"/>
          </a:solidFill>
          <a:ln w="3175">
            <a:solidFill>
              <a:srgbClr val="4C1D95"/>
            </a:solidFill>
            <a:prstDash val="solid"/>
          </a:ln>
          <a:effectLst>
            <a:outerShdw sx="100000" sy="100000" kx="0" ky="0" algn="bl" rotWithShape="0" blurRad="76200" dist="12700" dir="5400000">
              <a:srgbClr val="000000">
                <a:alpha val="8000"/>
              </a:srgbClr>
            </a:outerShdw>
          </a:effectLst>
        </p:spPr>
      </p:sp>
      <p:sp>
        <p:nvSpPr>
          <p:cNvPr id="10" name="Text 8"/>
          <p:cNvSpPr/>
          <p:nvPr/>
        </p:nvSpPr>
        <p:spPr>
          <a:xfrm>
            <a:off x="640080" y="2350008"/>
            <a:ext cx="2926080" cy="365760"/>
          </a:xfrm>
          <a:prstGeom prst="rect">
            <a:avLst/>
          </a:prstGeom>
          <a:noFill/>
          <a:ln/>
        </p:spPr>
        <p:txBody>
          <a:bodyPr wrap="square" lIns="0" tIns="0" rIns="0" bIns="0" rtlCol="0" anchor="ctr"/>
          <a:lstStyle/>
          <a:p>
            <a:pPr algn="l" indent="0" marL="0">
              <a:buNone/>
            </a:pPr>
            <a:r>
              <a:rPr lang="en-US" sz="1100" dirty="0">
                <a:solidFill>
                  <a:srgbClr val="FFFFFF"/>
                </a:solidFill>
                <a:latin typeface="Aptos" pitchFamily="34" charset="0"/>
                <a:ea typeface="Aptos" pitchFamily="34" charset="-122"/>
                <a:cs typeface="Aptos" pitchFamily="34" charset="-120"/>
              </a:rPr>
              <a:t>3. Orchestration</a:t>
            </a:r>
            <a:endParaRPr lang="en-US" sz="1100" dirty="0"/>
          </a:p>
        </p:txBody>
      </p:sp>
      <p:sp>
        <p:nvSpPr>
          <p:cNvPr id="11" name="Shape 9"/>
          <p:cNvSpPr/>
          <p:nvPr/>
        </p:nvSpPr>
        <p:spPr>
          <a:xfrm>
            <a:off x="457200" y="2770632"/>
            <a:ext cx="3291840" cy="365760"/>
          </a:xfrm>
          <a:prstGeom prst="rect">
            <a:avLst/>
          </a:prstGeom>
          <a:solidFill>
            <a:srgbClr val="5B21B6"/>
          </a:solidFill>
          <a:ln w="9525">
            <a:solidFill>
              <a:srgbClr val="4C1D95"/>
            </a:solidFill>
            <a:prstDash val="solid"/>
          </a:ln>
          <a:effectLst>
            <a:outerShdw sx="100000" sy="100000" kx="0" ky="0" algn="bl" rotWithShape="0" blurRad="127000" dist="25400" dir="5400000">
              <a:srgbClr val="000000">
                <a:alpha val="14000"/>
              </a:srgbClr>
            </a:outerShdw>
          </a:effectLst>
        </p:spPr>
      </p:sp>
      <p:sp>
        <p:nvSpPr>
          <p:cNvPr id="12" name="Text 10"/>
          <p:cNvSpPr/>
          <p:nvPr/>
        </p:nvSpPr>
        <p:spPr>
          <a:xfrm>
            <a:off x="640080" y="2770632"/>
            <a:ext cx="2926080" cy="365760"/>
          </a:xfrm>
          <a:prstGeom prst="rect">
            <a:avLst/>
          </a:prstGeom>
          <a:noFill/>
          <a:ln/>
        </p:spPr>
        <p:txBody>
          <a:bodyPr wrap="square" lIns="0" tIns="0" rIns="0" bIns="0" rtlCol="0" anchor="ctr"/>
          <a:lstStyle/>
          <a:p>
            <a:pPr algn="l" indent="0" marL="0">
              <a:buNone/>
            </a:pPr>
            <a:r>
              <a:rPr lang="en-US" sz="1100" b="1" dirty="0">
                <a:solidFill>
                  <a:srgbClr val="FFFFFF"/>
                </a:solidFill>
                <a:latin typeface="Aptos" pitchFamily="34" charset="0"/>
                <a:ea typeface="Aptos" pitchFamily="34" charset="-122"/>
                <a:cs typeface="Aptos" pitchFamily="34" charset="-120"/>
              </a:rPr>
              <a:t>4. Integration  (ACE)</a:t>
            </a:r>
            <a:endParaRPr lang="en-US" sz="1100" dirty="0"/>
          </a:p>
        </p:txBody>
      </p:sp>
      <p:sp>
        <p:nvSpPr>
          <p:cNvPr id="13" name="Shape 11"/>
          <p:cNvSpPr/>
          <p:nvPr/>
        </p:nvSpPr>
        <p:spPr>
          <a:xfrm>
            <a:off x="457200" y="3191256"/>
            <a:ext cx="3291840" cy="365760"/>
          </a:xfrm>
          <a:prstGeom prst="rect">
            <a:avLst/>
          </a:prstGeom>
          <a:solidFill>
            <a:srgbClr val="4C1D95"/>
          </a:solidFill>
          <a:ln w="9525">
            <a:solidFill>
              <a:srgbClr val="4C1D95"/>
            </a:solidFill>
            <a:prstDash val="solid"/>
          </a:ln>
          <a:effectLst>
            <a:outerShdw sx="100000" sy="100000" kx="0" ky="0" algn="bl" rotWithShape="0" blurRad="127000" dist="25400" dir="5400000">
              <a:srgbClr val="000000">
                <a:alpha val="14000"/>
              </a:srgbClr>
            </a:outerShdw>
          </a:effectLst>
        </p:spPr>
      </p:sp>
      <p:sp>
        <p:nvSpPr>
          <p:cNvPr id="14" name="Text 12"/>
          <p:cNvSpPr/>
          <p:nvPr/>
        </p:nvSpPr>
        <p:spPr>
          <a:xfrm>
            <a:off x="640080" y="3191256"/>
            <a:ext cx="2926080" cy="365760"/>
          </a:xfrm>
          <a:prstGeom prst="rect">
            <a:avLst/>
          </a:prstGeom>
          <a:noFill/>
          <a:ln/>
        </p:spPr>
        <p:txBody>
          <a:bodyPr wrap="square" lIns="0" tIns="0" rIns="0" bIns="0" rtlCol="0" anchor="ctr"/>
          <a:lstStyle/>
          <a:p>
            <a:pPr algn="l" indent="0" marL="0">
              <a:buNone/>
            </a:pPr>
            <a:r>
              <a:rPr lang="en-US" sz="1100" b="1" dirty="0">
                <a:solidFill>
                  <a:srgbClr val="FFFFFF"/>
                </a:solidFill>
                <a:latin typeface="Aptos" pitchFamily="34" charset="0"/>
                <a:ea typeface="Aptos" pitchFamily="34" charset="-122"/>
                <a:cs typeface="Aptos" pitchFamily="34" charset="-120"/>
              </a:rPr>
              <a:t>5. Messaging  (MQ)</a:t>
            </a:r>
            <a:endParaRPr lang="en-US" sz="1100" dirty="0"/>
          </a:p>
        </p:txBody>
      </p:sp>
      <p:sp>
        <p:nvSpPr>
          <p:cNvPr id="15" name="Shape 13"/>
          <p:cNvSpPr/>
          <p:nvPr/>
        </p:nvSpPr>
        <p:spPr>
          <a:xfrm>
            <a:off x="457200" y="3611880"/>
            <a:ext cx="3291840" cy="365760"/>
          </a:xfrm>
          <a:prstGeom prst="rect">
            <a:avLst/>
          </a:prstGeom>
          <a:solidFill>
            <a:srgbClr val="A78BFA"/>
          </a:solidFill>
          <a:ln w="3175">
            <a:solidFill>
              <a:srgbClr val="4C1D95"/>
            </a:solidFill>
            <a:prstDash val="solid"/>
          </a:ln>
          <a:effectLst>
            <a:outerShdw sx="100000" sy="100000" kx="0" ky="0" algn="bl" rotWithShape="0" blurRad="76200" dist="12700" dir="5400000">
              <a:srgbClr val="000000">
                <a:alpha val="8000"/>
              </a:srgbClr>
            </a:outerShdw>
          </a:effectLst>
        </p:spPr>
      </p:sp>
      <p:sp>
        <p:nvSpPr>
          <p:cNvPr id="16" name="Text 14"/>
          <p:cNvSpPr/>
          <p:nvPr/>
        </p:nvSpPr>
        <p:spPr>
          <a:xfrm>
            <a:off x="640080" y="3611880"/>
            <a:ext cx="2926080" cy="365760"/>
          </a:xfrm>
          <a:prstGeom prst="rect">
            <a:avLst/>
          </a:prstGeom>
          <a:noFill/>
          <a:ln/>
        </p:spPr>
        <p:txBody>
          <a:bodyPr wrap="square" lIns="0" tIns="0" rIns="0" bIns="0" rtlCol="0" anchor="ctr"/>
          <a:lstStyle/>
          <a:p>
            <a:pPr algn="l" indent="0" marL="0">
              <a:buNone/>
            </a:pPr>
            <a:r>
              <a:rPr lang="en-US" sz="1100" dirty="0">
                <a:solidFill>
                  <a:srgbClr val="FFFFFF"/>
                </a:solidFill>
                <a:latin typeface="Aptos" pitchFamily="34" charset="0"/>
                <a:ea typeface="Aptos" pitchFamily="34" charset="-122"/>
                <a:cs typeface="Aptos" pitchFamily="34" charset="-120"/>
              </a:rPr>
              <a:t>6. Systems of Record</a:t>
            </a:r>
            <a:endParaRPr lang="en-US" sz="1100" dirty="0"/>
          </a:p>
        </p:txBody>
      </p:sp>
      <p:sp>
        <p:nvSpPr>
          <p:cNvPr id="17" name="Shape 15"/>
          <p:cNvSpPr/>
          <p:nvPr/>
        </p:nvSpPr>
        <p:spPr>
          <a:xfrm>
            <a:off x="457200" y="4032504"/>
            <a:ext cx="3291840" cy="365760"/>
          </a:xfrm>
          <a:prstGeom prst="rect">
            <a:avLst/>
          </a:prstGeom>
          <a:solidFill>
            <a:srgbClr val="DDD6FE"/>
          </a:solidFill>
          <a:ln w="3175">
            <a:solidFill>
              <a:srgbClr val="4C1D95"/>
            </a:solidFill>
            <a:prstDash val="solid"/>
          </a:ln>
          <a:effectLst>
            <a:outerShdw sx="100000" sy="100000" kx="0" ky="0" algn="bl" rotWithShape="0" blurRad="76200" dist="12700" dir="5400000">
              <a:srgbClr val="000000">
                <a:alpha val="8000"/>
              </a:srgbClr>
            </a:outerShdw>
          </a:effectLst>
        </p:spPr>
      </p:sp>
      <p:sp>
        <p:nvSpPr>
          <p:cNvPr id="18" name="Text 16"/>
          <p:cNvSpPr/>
          <p:nvPr/>
        </p:nvSpPr>
        <p:spPr>
          <a:xfrm>
            <a:off x="640080" y="4032504"/>
            <a:ext cx="2926080" cy="365760"/>
          </a:xfrm>
          <a:prstGeom prst="rect">
            <a:avLst/>
          </a:prstGeom>
          <a:noFill/>
          <a:ln/>
        </p:spPr>
        <p:txBody>
          <a:bodyPr wrap="square" lIns="0" tIns="0" rIns="0" bIns="0" rtlCol="0" anchor="ctr"/>
          <a:lstStyle/>
          <a:p>
            <a:pPr algn="l" indent="0" marL="0">
              <a:buNone/>
            </a:pPr>
            <a:r>
              <a:rPr lang="en-US" sz="1100" dirty="0">
                <a:solidFill>
                  <a:srgbClr val="1F2937"/>
                </a:solidFill>
                <a:latin typeface="Aptos" pitchFamily="34" charset="0"/>
                <a:ea typeface="Aptos" pitchFamily="34" charset="-122"/>
                <a:cs typeface="Aptos" pitchFamily="34" charset="-120"/>
              </a:rPr>
              <a:t>7. Data</a:t>
            </a:r>
            <a:endParaRPr lang="en-US" sz="1100" dirty="0"/>
          </a:p>
        </p:txBody>
      </p:sp>
      <p:pic>
        <p:nvPicPr>
          <p:cNvPr id="19" name="Image 0" descr="preencoded.png">    </p:cNvPr>
          <p:cNvPicPr>
            <a:picLocks noChangeAspect="1"/>
          </p:cNvPicPr>
          <p:nvPr/>
        </p:nvPicPr>
        <p:blipFill>
          <a:blip r:embed="rId1"/>
          <a:stretch>
            <a:fillRect/>
          </a:stretch>
        </p:blipFill>
        <p:spPr>
          <a:xfrm>
            <a:off x="4160520" y="1508760"/>
            <a:ext cx="1435608" cy="1097280"/>
          </a:xfrm>
          <a:prstGeom prst="rect">
            <a:avLst/>
          </a:prstGeom>
        </p:spPr>
      </p:pic>
      <p:pic>
        <p:nvPicPr>
          <p:cNvPr id="20" name="Image 1" descr="preencoded.png">    </p:cNvPr>
          <p:cNvPicPr>
            <a:picLocks noChangeAspect="1"/>
          </p:cNvPicPr>
          <p:nvPr/>
        </p:nvPicPr>
        <p:blipFill>
          <a:blip r:embed="rId2">
            <a:alphaModFix amt="65000"/>
          </a:blip>
          <a:stretch>
            <a:fillRect/>
          </a:stretch>
        </p:blipFill>
        <p:spPr>
          <a:xfrm>
            <a:off x="5212080" y="1581912"/>
            <a:ext cx="274320" cy="274320"/>
          </a:xfrm>
          <a:prstGeom prst="rect">
            <a:avLst/>
          </a:prstGeom>
        </p:spPr>
      </p:pic>
      <p:sp>
        <p:nvSpPr>
          <p:cNvPr id="21" name="Text 17"/>
          <p:cNvSpPr/>
          <p:nvPr/>
        </p:nvSpPr>
        <p:spPr>
          <a:xfrm>
            <a:off x="4288536" y="1600200"/>
            <a:ext cx="1179576" cy="603504"/>
          </a:xfrm>
          <a:prstGeom prst="rect">
            <a:avLst/>
          </a:prstGeom>
          <a:noFill/>
          <a:ln/>
        </p:spPr>
        <p:txBody>
          <a:bodyPr wrap="square" lIns="0" tIns="0" rIns="0" bIns="0" rtlCol="0" anchor="ctr"/>
          <a:lstStyle/>
          <a:p>
            <a:pPr algn="l" indent="0" marL="0">
              <a:buNone/>
            </a:pPr>
            <a:r>
              <a:rPr lang="en-US" sz="3000" b="1" dirty="0">
                <a:solidFill>
                  <a:srgbClr val="FFFFFF"/>
                </a:solidFill>
                <a:latin typeface="Aptos Display" pitchFamily="34" charset="0"/>
                <a:ea typeface="Aptos Display" pitchFamily="34" charset="-122"/>
                <a:cs typeface="Aptos Display" pitchFamily="34" charset="-120"/>
              </a:rPr>
              <a:t>150+</a:t>
            </a:r>
            <a:endParaRPr lang="en-US" sz="3000" dirty="0"/>
          </a:p>
        </p:txBody>
      </p:sp>
      <p:sp>
        <p:nvSpPr>
          <p:cNvPr id="22" name="Text 18"/>
          <p:cNvSpPr/>
          <p:nvPr/>
        </p:nvSpPr>
        <p:spPr>
          <a:xfrm>
            <a:off x="4288536" y="2189074"/>
            <a:ext cx="1179576" cy="351130"/>
          </a:xfrm>
          <a:prstGeom prst="rect">
            <a:avLst/>
          </a:prstGeom>
          <a:noFill/>
          <a:ln/>
        </p:spPr>
        <p:txBody>
          <a:bodyPr wrap="square" lIns="0" tIns="0" rIns="0" bIns="0" rtlCol="0" anchor="t"/>
          <a:lstStyle/>
          <a:p>
            <a:pPr algn="l" indent="0" marL="0">
              <a:buNone/>
            </a:pPr>
            <a:r>
              <a:rPr lang="en-US" sz="950" spc="200" kern="0" dirty="0">
                <a:solidFill>
                  <a:srgbClr val="DDD6FE"/>
                </a:solidFill>
                <a:latin typeface="Aptos" pitchFamily="34" charset="0"/>
                <a:ea typeface="Aptos" pitchFamily="34" charset="-122"/>
                <a:cs typeface="Aptos" pitchFamily="34" charset="-120"/>
              </a:rPr>
              <a:t>Queue Managers</a:t>
            </a:r>
            <a:endParaRPr lang="en-US" sz="950" dirty="0"/>
          </a:p>
        </p:txBody>
      </p:sp>
      <p:pic>
        <p:nvPicPr>
          <p:cNvPr id="23" name="Image 2" descr="preencoded.png">    </p:cNvPr>
          <p:cNvPicPr>
            <a:picLocks noChangeAspect="1"/>
          </p:cNvPicPr>
          <p:nvPr/>
        </p:nvPicPr>
        <p:blipFill>
          <a:blip r:embed="rId3"/>
          <a:stretch>
            <a:fillRect/>
          </a:stretch>
        </p:blipFill>
        <p:spPr>
          <a:xfrm>
            <a:off x="5705856" y="1508760"/>
            <a:ext cx="1435608" cy="1097280"/>
          </a:xfrm>
          <a:prstGeom prst="rect">
            <a:avLst/>
          </a:prstGeom>
        </p:spPr>
      </p:pic>
      <p:pic>
        <p:nvPicPr>
          <p:cNvPr id="24" name="Image 3" descr="preencoded.png">    </p:cNvPr>
          <p:cNvPicPr>
            <a:picLocks noChangeAspect="1"/>
          </p:cNvPicPr>
          <p:nvPr/>
        </p:nvPicPr>
        <p:blipFill>
          <a:blip r:embed="rId4">
            <a:alphaModFix amt="65000"/>
          </a:blip>
          <a:stretch>
            <a:fillRect/>
          </a:stretch>
        </p:blipFill>
        <p:spPr>
          <a:xfrm>
            <a:off x="6757416" y="1581912"/>
            <a:ext cx="274320" cy="274320"/>
          </a:xfrm>
          <a:prstGeom prst="rect">
            <a:avLst/>
          </a:prstGeom>
        </p:spPr>
      </p:pic>
      <p:sp>
        <p:nvSpPr>
          <p:cNvPr id="25" name="Text 19"/>
          <p:cNvSpPr/>
          <p:nvPr/>
        </p:nvSpPr>
        <p:spPr>
          <a:xfrm>
            <a:off x="5833872" y="1600200"/>
            <a:ext cx="1179576" cy="603504"/>
          </a:xfrm>
          <a:prstGeom prst="rect">
            <a:avLst/>
          </a:prstGeom>
          <a:noFill/>
          <a:ln/>
        </p:spPr>
        <p:txBody>
          <a:bodyPr wrap="square" lIns="0" tIns="0" rIns="0" bIns="0" rtlCol="0" anchor="ctr"/>
          <a:lstStyle/>
          <a:p>
            <a:pPr algn="l" indent="0" marL="0">
              <a:buNone/>
            </a:pPr>
            <a:r>
              <a:rPr lang="en-US" sz="3000" b="1" dirty="0">
                <a:solidFill>
                  <a:srgbClr val="FFFFFF"/>
                </a:solidFill>
                <a:latin typeface="Aptos Display" pitchFamily="34" charset="0"/>
                <a:ea typeface="Aptos Display" pitchFamily="34" charset="-122"/>
                <a:cs typeface="Aptos Display" pitchFamily="34" charset="-120"/>
              </a:rPr>
              <a:t>60</a:t>
            </a:r>
            <a:endParaRPr lang="en-US" sz="3000" dirty="0"/>
          </a:p>
        </p:txBody>
      </p:sp>
      <p:sp>
        <p:nvSpPr>
          <p:cNvPr id="26" name="Text 20"/>
          <p:cNvSpPr/>
          <p:nvPr/>
        </p:nvSpPr>
        <p:spPr>
          <a:xfrm>
            <a:off x="5833872" y="2189074"/>
            <a:ext cx="1179576" cy="351130"/>
          </a:xfrm>
          <a:prstGeom prst="rect">
            <a:avLst/>
          </a:prstGeom>
          <a:noFill/>
          <a:ln/>
        </p:spPr>
        <p:txBody>
          <a:bodyPr wrap="square" lIns="0" tIns="0" rIns="0" bIns="0" rtlCol="0" anchor="t"/>
          <a:lstStyle/>
          <a:p>
            <a:pPr algn="l" indent="0" marL="0">
              <a:buNone/>
            </a:pPr>
            <a:r>
              <a:rPr lang="en-US" sz="950" spc="200" kern="0" dirty="0">
                <a:solidFill>
                  <a:srgbClr val="DDD6FE"/>
                </a:solidFill>
                <a:latin typeface="Aptos" pitchFamily="34" charset="0"/>
                <a:ea typeface="Aptos" pitchFamily="34" charset="-122"/>
                <a:cs typeface="Aptos" pitchFamily="34" charset="-120"/>
              </a:rPr>
              <a:t>ACE Integration Nodes</a:t>
            </a:r>
            <a:endParaRPr lang="en-US" sz="950" dirty="0"/>
          </a:p>
        </p:txBody>
      </p:sp>
      <p:pic>
        <p:nvPicPr>
          <p:cNvPr id="27" name="Image 4" descr="preencoded.png">    </p:cNvPr>
          <p:cNvPicPr>
            <a:picLocks noChangeAspect="1"/>
          </p:cNvPicPr>
          <p:nvPr/>
        </p:nvPicPr>
        <p:blipFill>
          <a:blip r:embed="rId5"/>
          <a:stretch>
            <a:fillRect/>
          </a:stretch>
        </p:blipFill>
        <p:spPr>
          <a:xfrm>
            <a:off x="7251192" y="1508760"/>
            <a:ext cx="1435608" cy="1097280"/>
          </a:xfrm>
          <a:prstGeom prst="rect">
            <a:avLst/>
          </a:prstGeom>
        </p:spPr>
      </p:pic>
      <p:pic>
        <p:nvPicPr>
          <p:cNvPr id="28" name="Image 5" descr="preencoded.png">    </p:cNvPr>
          <p:cNvPicPr>
            <a:picLocks noChangeAspect="1"/>
          </p:cNvPicPr>
          <p:nvPr/>
        </p:nvPicPr>
        <p:blipFill>
          <a:blip r:embed="rId6">
            <a:alphaModFix amt="65000"/>
          </a:blip>
          <a:stretch>
            <a:fillRect/>
          </a:stretch>
        </p:blipFill>
        <p:spPr>
          <a:xfrm>
            <a:off x="8302752" y="1581912"/>
            <a:ext cx="274320" cy="274320"/>
          </a:xfrm>
          <a:prstGeom prst="rect">
            <a:avLst/>
          </a:prstGeom>
        </p:spPr>
      </p:pic>
      <p:sp>
        <p:nvSpPr>
          <p:cNvPr id="29" name="Text 21"/>
          <p:cNvSpPr/>
          <p:nvPr/>
        </p:nvSpPr>
        <p:spPr>
          <a:xfrm>
            <a:off x="7379208" y="1600200"/>
            <a:ext cx="1179576" cy="603504"/>
          </a:xfrm>
          <a:prstGeom prst="rect">
            <a:avLst/>
          </a:prstGeom>
          <a:noFill/>
          <a:ln/>
        </p:spPr>
        <p:txBody>
          <a:bodyPr wrap="square" lIns="0" tIns="0" rIns="0" bIns="0" rtlCol="0" anchor="ctr"/>
          <a:lstStyle/>
          <a:p>
            <a:pPr algn="l" indent="0" marL="0">
              <a:buNone/>
            </a:pPr>
            <a:r>
              <a:rPr lang="en-US" sz="3000" b="1" dirty="0">
                <a:solidFill>
                  <a:srgbClr val="FFFFFF"/>
                </a:solidFill>
                <a:latin typeface="Aptos Display" pitchFamily="34" charset="0"/>
                <a:ea typeface="Aptos Display" pitchFamily="34" charset="-122"/>
                <a:cs typeface="Aptos Display" pitchFamily="34" charset="-120"/>
              </a:rPr>
              <a:t>200</a:t>
            </a:r>
            <a:endParaRPr lang="en-US" sz="3000" dirty="0"/>
          </a:p>
        </p:txBody>
      </p:sp>
      <p:sp>
        <p:nvSpPr>
          <p:cNvPr id="30" name="Text 22"/>
          <p:cNvSpPr/>
          <p:nvPr/>
        </p:nvSpPr>
        <p:spPr>
          <a:xfrm>
            <a:off x="7379208" y="2189074"/>
            <a:ext cx="1179576" cy="351130"/>
          </a:xfrm>
          <a:prstGeom prst="rect">
            <a:avLst/>
          </a:prstGeom>
          <a:noFill/>
          <a:ln/>
        </p:spPr>
        <p:txBody>
          <a:bodyPr wrap="square" lIns="0" tIns="0" rIns="0" bIns="0" rtlCol="0" anchor="t"/>
          <a:lstStyle/>
          <a:p>
            <a:pPr algn="l" indent="0" marL="0">
              <a:buNone/>
            </a:pPr>
            <a:r>
              <a:rPr lang="en-US" sz="950" spc="200" kern="0" dirty="0">
                <a:solidFill>
                  <a:srgbClr val="DDD6FE"/>
                </a:solidFill>
                <a:latin typeface="Aptos" pitchFamily="34" charset="0"/>
                <a:ea typeface="Aptos" pitchFamily="34" charset="-122"/>
                <a:cs typeface="Aptos" pitchFamily="34" charset="-120"/>
              </a:rPr>
              <a:t>Integration Servers</a:t>
            </a:r>
            <a:endParaRPr lang="en-US" sz="950" dirty="0"/>
          </a:p>
        </p:txBody>
      </p:sp>
      <p:pic>
        <p:nvPicPr>
          <p:cNvPr id="31" name="Image 6" descr="preencoded.png">    </p:cNvPr>
          <p:cNvPicPr>
            <a:picLocks noChangeAspect="1"/>
          </p:cNvPicPr>
          <p:nvPr/>
        </p:nvPicPr>
        <p:blipFill>
          <a:blip r:embed="rId7"/>
          <a:stretch>
            <a:fillRect/>
          </a:stretch>
        </p:blipFill>
        <p:spPr>
          <a:xfrm>
            <a:off x="4160520" y="2734056"/>
            <a:ext cx="1435608" cy="1097280"/>
          </a:xfrm>
          <a:prstGeom prst="rect">
            <a:avLst/>
          </a:prstGeom>
        </p:spPr>
      </p:pic>
      <p:pic>
        <p:nvPicPr>
          <p:cNvPr id="32" name="Image 7" descr="preencoded.png">    </p:cNvPr>
          <p:cNvPicPr>
            <a:picLocks noChangeAspect="1"/>
          </p:cNvPicPr>
          <p:nvPr/>
        </p:nvPicPr>
        <p:blipFill>
          <a:blip r:embed="rId8">
            <a:alphaModFix amt="65000"/>
          </a:blip>
          <a:stretch>
            <a:fillRect/>
          </a:stretch>
        </p:blipFill>
        <p:spPr>
          <a:xfrm>
            <a:off x="5212080" y="2807208"/>
            <a:ext cx="274320" cy="274320"/>
          </a:xfrm>
          <a:prstGeom prst="rect">
            <a:avLst/>
          </a:prstGeom>
        </p:spPr>
      </p:pic>
      <p:sp>
        <p:nvSpPr>
          <p:cNvPr id="33" name="Text 23"/>
          <p:cNvSpPr/>
          <p:nvPr/>
        </p:nvSpPr>
        <p:spPr>
          <a:xfrm>
            <a:off x="4288536" y="2825496"/>
            <a:ext cx="1179576" cy="603504"/>
          </a:xfrm>
          <a:prstGeom prst="rect">
            <a:avLst/>
          </a:prstGeom>
          <a:noFill/>
          <a:ln/>
        </p:spPr>
        <p:txBody>
          <a:bodyPr wrap="square" lIns="0" tIns="0" rIns="0" bIns="0" rtlCol="0" anchor="ctr"/>
          <a:lstStyle/>
          <a:p>
            <a:pPr algn="l" indent="0" marL="0">
              <a:buNone/>
            </a:pPr>
            <a:r>
              <a:rPr lang="en-US" sz="3000" b="1" dirty="0">
                <a:solidFill>
                  <a:srgbClr val="FFFFFF"/>
                </a:solidFill>
                <a:latin typeface="Aptos Display" pitchFamily="34" charset="0"/>
                <a:ea typeface="Aptos Display" pitchFamily="34" charset="-122"/>
                <a:cs typeface="Aptos Display" pitchFamily="34" charset="-120"/>
              </a:rPr>
              <a:t>600</a:t>
            </a:r>
            <a:endParaRPr lang="en-US" sz="3000" dirty="0"/>
          </a:p>
        </p:txBody>
      </p:sp>
      <p:sp>
        <p:nvSpPr>
          <p:cNvPr id="34" name="Text 24"/>
          <p:cNvSpPr/>
          <p:nvPr/>
        </p:nvSpPr>
        <p:spPr>
          <a:xfrm>
            <a:off x="4288536" y="3414370"/>
            <a:ext cx="1179576" cy="351130"/>
          </a:xfrm>
          <a:prstGeom prst="rect">
            <a:avLst/>
          </a:prstGeom>
          <a:noFill/>
          <a:ln/>
        </p:spPr>
        <p:txBody>
          <a:bodyPr wrap="square" lIns="0" tIns="0" rIns="0" bIns="0" rtlCol="0" anchor="t"/>
          <a:lstStyle/>
          <a:p>
            <a:pPr algn="l" indent="0" marL="0">
              <a:buNone/>
            </a:pPr>
            <a:r>
              <a:rPr lang="en-US" sz="950" spc="200" kern="0" dirty="0">
                <a:solidFill>
                  <a:srgbClr val="DDD6FE"/>
                </a:solidFill>
                <a:latin typeface="Aptos" pitchFamily="34" charset="0"/>
                <a:ea typeface="Aptos" pitchFamily="34" charset="-122"/>
                <a:cs typeface="Aptos" pitchFamily="34" charset="-120"/>
              </a:rPr>
              <a:t>Deployed Applications</a:t>
            </a:r>
            <a:endParaRPr lang="en-US" sz="950" dirty="0"/>
          </a:p>
        </p:txBody>
      </p:sp>
      <p:pic>
        <p:nvPicPr>
          <p:cNvPr id="35" name="Image 8" descr="preencoded.png">    </p:cNvPr>
          <p:cNvPicPr>
            <a:picLocks noChangeAspect="1"/>
          </p:cNvPicPr>
          <p:nvPr/>
        </p:nvPicPr>
        <p:blipFill>
          <a:blip r:embed="rId9"/>
          <a:stretch>
            <a:fillRect/>
          </a:stretch>
        </p:blipFill>
        <p:spPr>
          <a:xfrm>
            <a:off x="5705856" y="2734056"/>
            <a:ext cx="1435608" cy="1097280"/>
          </a:xfrm>
          <a:prstGeom prst="rect">
            <a:avLst/>
          </a:prstGeom>
        </p:spPr>
      </p:pic>
      <p:pic>
        <p:nvPicPr>
          <p:cNvPr id="36" name="Image 9" descr="preencoded.png">    </p:cNvPr>
          <p:cNvPicPr>
            <a:picLocks noChangeAspect="1"/>
          </p:cNvPicPr>
          <p:nvPr/>
        </p:nvPicPr>
        <p:blipFill>
          <a:blip r:embed="rId10">
            <a:alphaModFix amt="65000"/>
          </a:blip>
          <a:stretch>
            <a:fillRect/>
          </a:stretch>
        </p:blipFill>
        <p:spPr>
          <a:xfrm>
            <a:off x="6757416" y="2807208"/>
            <a:ext cx="274320" cy="274320"/>
          </a:xfrm>
          <a:prstGeom prst="rect">
            <a:avLst/>
          </a:prstGeom>
        </p:spPr>
      </p:pic>
      <p:sp>
        <p:nvSpPr>
          <p:cNvPr id="37" name="Text 25"/>
          <p:cNvSpPr/>
          <p:nvPr/>
        </p:nvSpPr>
        <p:spPr>
          <a:xfrm>
            <a:off x="5833872" y="2825496"/>
            <a:ext cx="1179576" cy="603504"/>
          </a:xfrm>
          <a:prstGeom prst="rect">
            <a:avLst/>
          </a:prstGeom>
          <a:noFill/>
          <a:ln/>
        </p:spPr>
        <p:txBody>
          <a:bodyPr wrap="square" lIns="0" tIns="0" rIns="0" bIns="0" rtlCol="0" anchor="ctr"/>
          <a:lstStyle/>
          <a:p>
            <a:pPr algn="l" indent="0" marL="0">
              <a:buNone/>
            </a:pPr>
            <a:r>
              <a:rPr lang="en-US" sz="3000" b="1" dirty="0">
                <a:solidFill>
                  <a:srgbClr val="FFFFFF"/>
                </a:solidFill>
                <a:latin typeface="Aptos Display" pitchFamily="34" charset="0"/>
                <a:ea typeface="Aptos Display" pitchFamily="34" charset="-122"/>
                <a:cs typeface="Aptos Display" pitchFamily="34" charset="-120"/>
              </a:rPr>
              <a:t>5,000+</a:t>
            </a:r>
            <a:endParaRPr lang="en-US" sz="3000" dirty="0"/>
          </a:p>
        </p:txBody>
      </p:sp>
      <p:sp>
        <p:nvSpPr>
          <p:cNvPr id="38" name="Text 26"/>
          <p:cNvSpPr/>
          <p:nvPr/>
        </p:nvSpPr>
        <p:spPr>
          <a:xfrm>
            <a:off x="5833872" y="3414370"/>
            <a:ext cx="1179576" cy="351130"/>
          </a:xfrm>
          <a:prstGeom prst="rect">
            <a:avLst/>
          </a:prstGeom>
          <a:noFill/>
          <a:ln/>
        </p:spPr>
        <p:txBody>
          <a:bodyPr wrap="square" lIns="0" tIns="0" rIns="0" bIns="0" rtlCol="0" anchor="t"/>
          <a:lstStyle/>
          <a:p>
            <a:pPr algn="l" indent="0" marL="0">
              <a:buNone/>
            </a:pPr>
            <a:r>
              <a:rPr lang="en-US" sz="950" spc="200" kern="0" dirty="0">
                <a:solidFill>
                  <a:srgbClr val="DDD6FE"/>
                </a:solidFill>
                <a:latin typeface="Aptos" pitchFamily="34" charset="0"/>
                <a:ea typeface="Aptos" pitchFamily="34" charset="-122"/>
                <a:cs typeface="Aptos" pitchFamily="34" charset="-120"/>
              </a:rPr>
              <a:t>Active Queues</a:t>
            </a:r>
            <a:endParaRPr lang="en-US" sz="950" dirty="0"/>
          </a:p>
        </p:txBody>
      </p:sp>
      <p:pic>
        <p:nvPicPr>
          <p:cNvPr id="39" name="Image 10" descr="preencoded.png">    </p:cNvPr>
          <p:cNvPicPr>
            <a:picLocks noChangeAspect="1"/>
          </p:cNvPicPr>
          <p:nvPr/>
        </p:nvPicPr>
        <p:blipFill>
          <a:blip r:embed="rId11"/>
          <a:stretch>
            <a:fillRect/>
          </a:stretch>
        </p:blipFill>
        <p:spPr>
          <a:xfrm>
            <a:off x="7251192" y="2734056"/>
            <a:ext cx="1435608" cy="1097280"/>
          </a:xfrm>
          <a:prstGeom prst="rect">
            <a:avLst/>
          </a:prstGeom>
        </p:spPr>
      </p:pic>
      <p:pic>
        <p:nvPicPr>
          <p:cNvPr id="40" name="Image 11" descr="preencoded.png">    </p:cNvPr>
          <p:cNvPicPr>
            <a:picLocks noChangeAspect="1"/>
          </p:cNvPicPr>
          <p:nvPr/>
        </p:nvPicPr>
        <p:blipFill>
          <a:blip r:embed="rId12">
            <a:alphaModFix amt="65000"/>
          </a:blip>
          <a:stretch>
            <a:fillRect/>
          </a:stretch>
        </p:blipFill>
        <p:spPr>
          <a:xfrm>
            <a:off x="8302752" y="2807208"/>
            <a:ext cx="274320" cy="274320"/>
          </a:xfrm>
          <a:prstGeom prst="rect">
            <a:avLst/>
          </a:prstGeom>
        </p:spPr>
      </p:pic>
      <p:sp>
        <p:nvSpPr>
          <p:cNvPr id="41" name="Text 27"/>
          <p:cNvSpPr/>
          <p:nvPr/>
        </p:nvSpPr>
        <p:spPr>
          <a:xfrm>
            <a:off x="7379208" y="2825496"/>
            <a:ext cx="1179576" cy="603504"/>
          </a:xfrm>
          <a:prstGeom prst="rect">
            <a:avLst/>
          </a:prstGeom>
          <a:noFill/>
          <a:ln/>
        </p:spPr>
        <p:txBody>
          <a:bodyPr wrap="square" lIns="0" tIns="0" rIns="0" bIns="0" rtlCol="0" anchor="ctr"/>
          <a:lstStyle/>
          <a:p>
            <a:pPr algn="l" indent="0" marL="0">
              <a:buNone/>
            </a:pPr>
            <a:r>
              <a:rPr lang="en-US" sz="3000" b="1" dirty="0">
                <a:solidFill>
                  <a:srgbClr val="FFFFFF"/>
                </a:solidFill>
                <a:latin typeface="Aptos Display" pitchFamily="34" charset="0"/>
                <a:ea typeface="Aptos Display" pitchFamily="34" charset="-122"/>
                <a:cs typeface="Aptos Display" pitchFamily="34" charset="-120"/>
              </a:rPr>
              <a:t>8,000+</a:t>
            </a:r>
            <a:endParaRPr lang="en-US" sz="3000" dirty="0"/>
          </a:p>
        </p:txBody>
      </p:sp>
      <p:sp>
        <p:nvSpPr>
          <p:cNvPr id="42" name="Text 28"/>
          <p:cNvSpPr/>
          <p:nvPr/>
        </p:nvSpPr>
        <p:spPr>
          <a:xfrm>
            <a:off x="7379208" y="3414370"/>
            <a:ext cx="1179576" cy="351130"/>
          </a:xfrm>
          <a:prstGeom prst="rect">
            <a:avLst/>
          </a:prstGeom>
          <a:noFill/>
          <a:ln/>
        </p:spPr>
        <p:txBody>
          <a:bodyPr wrap="square" lIns="0" tIns="0" rIns="0" bIns="0" rtlCol="0" anchor="t"/>
          <a:lstStyle/>
          <a:p>
            <a:pPr algn="l" indent="0" marL="0">
              <a:buNone/>
            </a:pPr>
            <a:r>
              <a:rPr lang="en-US" sz="950" spc="200" kern="0" dirty="0">
                <a:solidFill>
                  <a:srgbClr val="DDD6FE"/>
                </a:solidFill>
                <a:latin typeface="Aptos" pitchFamily="34" charset="0"/>
                <a:ea typeface="Aptos" pitchFamily="34" charset="-122"/>
                <a:cs typeface="Aptos" pitchFamily="34" charset="-120"/>
              </a:rPr>
              <a:t>Message Flows</a:t>
            </a:r>
            <a:endParaRPr lang="en-US" sz="950" dirty="0"/>
          </a:p>
        </p:txBody>
      </p:sp>
      <p:sp>
        <p:nvSpPr>
          <p:cNvPr id="43" name="Shape 29"/>
          <p:cNvSpPr/>
          <p:nvPr/>
        </p:nvSpPr>
        <p:spPr>
          <a:xfrm>
            <a:off x="457200" y="4434840"/>
            <a:ext cx="980694" cy="502920"/>
          </a:xfrm>
          <a:prstGeom prst="roundRect">
            <a:avLst>
              <a:gd name="adj" fmla="val 10909"/>
            </a:avLst>
          </a:prstGeom>
          <a:solidFill>
            <a:srgbClr val="F5F3FF"/>
          </a:solidFill>
          <a:ln w="6350">
            <a:solidFill>
              <a:srgbClr val="DDD6FE"/>
            </a:solidFill>
            <a:prstDash val="solid"/>
          </a:ln>
        </p:spPr>
      </p:sp>
      <p:pic>
        <p:nvPicPr>
          <p:cNvPr id="44" name="Image 12" descr="preencoded.png">    </p:cNvPr>
          <p:cNvPicPr>
            <a:picLocks noChangeAspect="1"/>
          </p:cNvPicPr>
          <p:nvPr/>
        </p:nvPicPr>
        <p:blipFill>
          <a:blip r:embed="rId13"/>
          <a:stretch>
            <a:fillRect/>
          </a:stretch>
        </p:blipFill>
        <p:spPr>
          <a:xfrm>
            <a:off x="548640" y="4544568"/>
            <a:ext cx="292608" cy="292608"/>
          </a:xfrm>
          <a:prstGeom prst="rect">
            <a:avLst/>
          </a:prstGeom>
        </p:spPr>
      </p:pic>
      <p:sp>
        <p:nvSpPr>
          <p:cNvPr id="45" name="Text 30"/>
          <p:cNvSpPr/>
          <p:nvPr/>
        </p:nvSpPr>
        <p:spPr>
          <a:xfrm>
            <a:off x="877824" y="4434840"/>
            <a:ext cx="505206" cy="502920"/>
          </a:xfrm>
          <a:prstGeom prst="rect">
            <a:avLst/>
          </a:prstGeom>
          <a:noFill/>
          <a:ln/>
        </p:spPr>
        <p:txBody>
          <a:bodyPr wrap="square" lIns="0" tIns="0" rIns="0" bIns="0" rtlCol="0" anchor="ctr"/>
          <a:lstStyle/>
          <a:p>
            <a:pPr indent="0" marL="0">
              <a:buNone/>
            </a:pPr>
            <a:r>
              <a:rPr lang="en-US" sz="900" b="1" dirty="0">
                <a:solidFill>
                  <a:srgbClr val="4C1D95"/>
                </a:solidFill>
                <a:latin typeface="Aptos" pitchFamily="34" charset="0"/>
                <a:ea typeface="Aptos" pitchFamily="34" charset="-122"/>
                <a:cs typeface="Aptos" pitchFamily="34" charset="-120"/>
              </a:rPr>
              <a:t>Claims</a:t>
            </a:r>
            <a:endParaRPr lang="en-US" sz="900" dirty="0"/>
          </a:p>
        </p:txBody>
      </p:sp>
      <p:sp>
        <p:nvSpPr>
          <p:cNvPr id="46" name="Shape 31"/>
          <p:cNvSpPr/>
          <p:nvPr/>
        </p:nvSpPr>
        <p:spPr>
          <a:xfrm>
            <a:off x="1492758" y="4434840"/>
            <a:ext cx="980694" cy="502920"/>
          </a:xfrm>
          <a:prstGeom prst="roundRect">
            <a:avLst>
              <a:gd name="adj" fmla="val 10909"/>
            </a:avLst>
          </a:prstGeom>
          <a:solidFill>
            <a:srgbClr val="F5F3FF"/>
          </a:solidFill>
          <a:ln w="6350">
            <a:solidFill>
              <a:srgbClr val="DDD6FE"/>
            </a:solidFill>
            <a:prstDash val="solid"/>
          </a:ln>
        </p:spPr>
      </p:sp>
      <p:pic>
        <p:nvPicPr>
          <p:cNvPr id="47" name="Image 13" descr="preencoded.png">    </p:cNvPr>
          <p:cNvPicPr>
            <a:picLocks noChangeAspect="1"/>
          </p:cNvPicPr>
          <p:nvPr/>
        </p:nvPicPr>
        <p:blipFill>
          <a:blip r:embed="rId14"/>
          <a:stretch>
            <a:fillRect/>
          </a:stretch>
        </p:blipFill>
        <p:spPr>
          <a:xfrm>
            <a:off x="1584198" y="4544568"/>
            <a:ext cx="292608" cy="292608"/>
          </a:xfrm>
          <a:prstGeom prst="rect">
            <a:avLst/>
          </a:prstGeom>
        </p:spPr>
      </p:pic>
      <p:sp>
        <p:nvSpPr>
          <p:cNvPr id="48" name="Text 32"/>
          <p:cNvSpPr/>
          <p:nvPr/>
        </p:nvSpPr>
        <p:spPr>
          <a:xfrm>
            <a:off x="1913382" y="4434840"/>
            <a:ext cx="505206" cy="502920"/>
          </a:xfrm>
          <a:prstGeom prst="rect">
            <a:avLst/>
          </a:prstGeom>
          <a:noFill/>
          <a:ln/>
        </p:spPr>
        <p:txBody>
          <a:bodyPr wrap="square" lIns="0" tIns="0" rIns="0" bIns="0" rtlCol="0" anchor="ctr"/>
          <a:lstStyle/>
          <a:p>
            <a:pPr indent="0" marL="0">
              <a:buNone/>
            </a:pPr>
            <a:r>
              <a:rPr lang="en-US" sz="900" b="1" dirty="0">
                <a:solidFill>
                  <a:srgbClr val="4C1D95"/>
                </a:solidFill>
                <a:latin typeface="Aptos" pitchFamily="34" charset="0"/>
                <a:ea typeface="Aptos" pitchFamily="34" charset="-122"/>
                <a:cs typeface="Aptos" pitchFamily="34" charset="-120"/>
              </a:rPr>
              <a:t>Eligibility</a:t>
            </a:r>
            <a:endParaRPr lang="en-US" sz="900" dirty="0"/>
          </a:p>
        </p:txBody>
      </p:sp>
      <p:sp>
        <p:nvSpPr>
          <p:cNvPr id="49" name="Shape 33"/>
          <p:cNvSpPr/>
          <p:nvPr/>
        </p:nvSpPr>
        <p:spPr>
          <a:xfrm>
            <a:off x="2528316" y="4434840"/>
            <a:ext cx="980694" cy="502920"/>
          </a:xfrm>
          <a:prstGeom prst="roundRect">
            <a:avLst>
              <a:gd name="adj" fmla="val 10909"/>
            </a:avLst>
          </a:prstGeom>
          <a:solidFill>
            <a:srgbClr val="F5F3FF"/>
          </a:solidFill>
          <a:ln w="6350">
            <a:solidFill>
              <a:srgbClr val="DDD6FE"/>
            </a:solidFill>
            <a:prstDash val="solid"/>
          </a:ln>
        </p:spPr>
      </p:sp>
      <p:pic>
        <p:nvPicPr>
          <p:cNvPr id="50" name="Image 14" descr="preencoded.png">    </p:cNvPr>
          <p:cNvPicPr>
            <a:picLocks noChangeAspect="1"/>
          </p:cNvPicPr>
          <p:nvPr/>
        </p:nvPicPr>
        <p:blipFill>
          <a:blip r:embed="rId15"/>
          <a:stretch>
            <a:fillRect/>
          </a:stretch>
        </p:blipFill>
        <p:spPr>
          <a:xfrm>
            <a:off x="2619756" y="4544568"/>
            <a:ext cx="292608" cy="292608"/>
          </a:xfrm>
          <a:prstGeom prst="rect">
            <a:avLst/>
          </a:prstGeom>
        </p:spPr>
      </p:pic>
      <p:sp>
        <p:nvSpPr>
          <p:cNvPr id="51" name="Text 34"/>
          <p:cNvSpPr/>
          <p:nvPr/>
        </p:nvSpPr>
        <p:spPr>
          <a:xfrm>
            <a:off x="2948940" y="4434840"/>
            <a:ext cx="505206" cy="502920"/>
          </a:xfrm>
          <a:prstGeom prst="rect">
            <a:avLst/>
          </a:prstGeom>
          <a:noFill/>
          <a:ln/>
        </p:spPr>
        <p:txBody>
          <a:bodyPr wrap="square" lIns="0" tIns="0" rIns="0" bIns="0" rtlCol="0" anchor="ctr"/>
          <a:lstStyle/>
          <a:p>
            <a:pPr indent="0" marL="0">
              <a:buNone/>
            </a:pPr>
            <a:r>
              <a:rPr lang="en-US" sz="900" b="1" dirty="0">
                <a:solidFill>
                  <a:srgbClr val="4C1D95"/>
                </a:solidFill>
                <a:latin typeface="Aptos" pitchFamily="34" charset="0"/>
                <a:ea typeface="Aptos" pitchFamily="34" charset="-122"/>
                <a:cs typeface="Aptos" pitchFamily="34" charset="-120"/>
              </a:rPr>
              <a:t>Enrollment</a:t>
            </a:r>
            <a:endParaRPr lang="en-US" sz="900" dirty="0"/>
          </a:p>
        </p:txBody>
      </p:sp>
      <p:sp>
        <p:nvSpPr>
          <p:cNvPr id="52" name="Shape 35"/>
          <p:cNvSpPr/>
          <p:nvPr/>
        </p:nvSpPr>
        <p:spPr>
          <a:xfrm>
            <a:off x="3563874" y="4434840"/>
            <a:ext cx="980694" cy="502920"/>
          </a:xfrm>
          <a:prstGeom prst="roundRect">
            <a:avLst>
              <a:gd name="adj" fmla="val 10909"/>
            </a:avLst>
          </a:prstGeom>
          <a:solidFill>
            <a:srgbClr val="F5F3FF"/>
          </a:solidFill>
          <a:ln w="6350">
            <a:solidFill>
              <a:srgbClr val="DDD6FE"/>
            </a:solidFill>
            <a:prstDash val="solid"/>
          </a:ln>
        </p:spPr>
      </p:sp>
      <p:pic>
        <p:nvPicPr>
          <p:cNvPr id="53" name="Image 15" descr="preencoded.png">    </p:cNvPr>
          <p:cNvPicPr>
            <a:picLocks noChangeAspect="1"/>
          </p:cNvPicPr>
          <p:nvPr/>
        </p:nvPicPr>
        <p:blipFill>
          <a:blip r:embed="rId16"/>
          <a:stretch>
            <a:fillRect/>
          </a:stretch>
        </p:blipFill>
        <p:spPr>
          <a:xfrm>
            <a:off x="3655314" y="4544568"/>
            <a:ext cx="292608" cy="292608"/>
          </a:xfrm>
          <a:prstGeom prst="rect">
            <a:avLst/>
          </a:prstGeom>
        </p:spPr>
      </p:pic>
      <p:sp>
        <p:nvSpPr>
          <p:cNvPr id="54" name="Text 36"/>
          <p:cNvSpPr/>
          <p:nvPr/>
        </p:nvSpPr>
        <p:spPr>
          <a:xfrm>
            <a:off x="3984498" y="4434840"/>
            <a:ext cx="505206" cy="502920"/>
          </a:xfrm>
          <a:prstGeom prst="rect">
            <a:avLst/>
          </a:prstGeom>
          <a:noFill/>
          <a:ln/>
        </p:spPr>
        <p:txBody>
          <a:bodyPr wrap="square" lIns="0" tIns="0" rIns="0" bIns="0" rtlCol="0" anchor="ctr"/>
          <a:lstStyle/>
          <a:p>
            <a:pPr indent="0" marL="0">
              <a:buNone/>
            </a:pPr>
            <a:r>
              <a:rPr lang="en-US" sz="900" b="1" dirty="0">
                <a:solidFill>
                  <a:srgbClr val="4C1D95"/>
                </a:solidFill>
                <a:latin typeface="Aptos" pitchFamily="34" charset="0"/>
                <a:ea typeface="Aptos" pitchFamily="34" charset="-122"/>
                <a:cs typeface="Aptos" pitchFamily="34" charset="-120"/>
              </a:rPr>
              <a:t>Portals</a:t>
            </a:r>
            <a:endParaRPr lang="en-US" sz="900" dirty="0"/>
          </a:p>
        </p:txBody>
      </p:sp>
      <p:sp>
        <p:nvSpPr>
          <p:cNvPr id="55" name="Shape 37"/>
          <p:cNvSpPr/>
          <p:nvPr/>
        </p:nvSpPr>
        <p:spPr>
          <a:xfrm>
            <a:off x="4599432" y="4434840"/>
            <a:ext cx="980694" cy="502920"/>
          </a:xfrm>
          <a:prstGeom prst="roundRect">
            <a:avLst>
              <a:gd name="adj" fmla="val 10909"/>
            </a:avLst>
          </a:prstGeom>
          <a:solidFill>
            <a:srgbClr val="F5F3FF"/>
          </a:solidFill>
          <a:ln w="6350">
            <a:solidFill>
              <a:srgbClr val="DDD6FE"/>
            </a:solidFill>
            <a:prstDash val="solid"/>
          </a:ln>
        </p:spPr>
      </p:sp>
      <p:pic>
        <p:nvPicPr>
          <p:cNvPr id="56" name="Image 16" descr="preencoded.png">    </p:cNvPr>
          <p:cNvPicPr>
            <a:picLocks noChangeAspect="1"/>
          </p:cNvPicPr>
          <p:nvPr/>
        </p:nvPicPr>
        <p:blipFill>
          <a:blip r:embed="rId17"/>
          <a:stretch>
            <a:fillRect/>
          </a:stretch>
        </p:blipFill>
        <p:spPr>
          <a:xfrm>
            <a:off x="4690872" y="4544568"/>
            <a:ext cx="292608" cy="292608"/>
          </a:xfrm>
          <a:prstGeom prst="rect">
            <a:avLst/>
          </a:prstGeom>
        </p:spPr>
      </p:pic>
      <p:sp>
        <p:nvSpPr>
          <p:cNvPr id="57" name="Text 38"/>
          <p:cNvSpPr/>
          <p:nvPr/>
        </p:nvSpPr>
        <p:spPr>
          <a:xfrm>
            <a:off x="5020056" y="4434840"/>
            <a:ext cx="505206" cy="502920"/>
          </a:xfrm>
          <a:prstGeom prst="rect">
            <a:avLst/>
          </a:prstGeom>
          <a:noFill/>
          <a:ln/>
        </p:spPr>
        <p:txBody>
          <a:bodyPr wrap="square" lIns="0" tIns="0" rIns="0" bIns="0" rtlCol="0" anchor="ctr"/>
          <a:lstStyle/>
          <a:p>
            <a:pPr indent="0" marL="0">
              <a:buNone/>
            </a:pPr>
            <a:r>
              <a:rPr lang="en-US" sz="900" b="1" dirty="0">
                <a:solidFill>
                  <a:srgbClr val="4C1D95"/>
                </a:solidFill>
                <a:latin typeface="Aptos" pitchFamily="34" charset="0"/>
                <a:ea typeface="Aptos" pitchFamily="34" charset="-122"/>
                <a:cs typeface="Aptos" pitchFamily="34" charset="-120"/>
              </a:rPr>
              <a:t>Provider Data</a:t>
            </a:r>
            <a:endParaRPr lang="en-US" sz="900" dirty="0"/>
          </a:p>
        </p:txBody>
      </p:sp>
      <p:sp>
        <p:nvSpPr>
          <p:cNvPr id="58" name="Shape 39"/>
          <p:cNvSpPr/>
          <p:nvPr/>
        </p:nvSpPr>
        <p:spPr>
          <a:xfrm>
            <a:off x="5634990" y="4434840"/>
            <a:ext cx="980694" cy="502920"/>
          </a:xfrm>
          <a:prstGeom prst="roundRect">
            <a:avLst>
              <a:gd name="adj" fmla="val 10909"/>
            </a:avLst>
          </a:prstGeom>
          <a:solidFill>
            <a:srgbClr val="F5F3FF"/>
          </a:solidFill>
          <a:ln w="6350">
            <a:solidFill>
              <a:srgbClr val="DDD6FE"/>
            </a:solidFill>
            <a:prstDash val="solid"/>
          </a:ln>
        </p:spPr>
      </p:sp>
      <p:pic>
        <p:nvPicPr>
          <p:cNvPr id="59" name="Image 17" descr="preencoded.png">    </p:cNvPr>
          <p:cNvPicPr>
            <a:picLocks noChangeAspect="1"/>
          </p:cNvPicPr>
          <p:nvPr/>
        </p:nvPicPr>
        <p:blipFill>
          <a:blip r:embed="rId18"/>
          <a:stretch>
            <a:fillRect/>
          </a:stretch>
        </p:blipFill>
        <p:spPr>
          <a:xfrm>
            <a:off x="5726430" y="4544568"/>
            <a:ext cx="292608" cy="292608"/>
          </a:xfrm>
          <a:prstGeom prst="rect">
            <a:avLst/>
          </a:prstGeom>
        </p:spPr>
      </p:pic>
      <p:sp>
        <p:nvSpPr>
          <p:cNvPr id="60" name="Text 40"/>
          <p:cNvSpPr/>
          <p:nvPr/>
        </p:nvSpPr>
        <p:spPr>
          <a:xfrm>
            <a:off x="6055614" y="4434840"/>
            <a:ext cx="505206" cy="502920"/>
          </a:xfrm>
          <a:prstGeom prst="rect">
            <a:avLst/>
          </a:prstGeom>
          <a:noFill/>
          <a:ln/>
        </p:spPr>
        <p:txBody>
          <a:bodyPr wrap="square" lIns="0" tIns="0" rIns="0" bIns="0" rtlCol="0" anchor="ctr"/>
          <a:lstStyle/>
          <a:p>
            <a:pPr indent="0" marL="0">
              <a:buNone/>
            </a:pPr>
            <a:r>
              <a:rPr lang="en-US" sz="900" b="1" dirty="0">
                <a:solidFill>
                  <a:srgbClr val="4C1D95"/>
                </a:solidFill>
                <a:latin typeface="Aptos" pitchFamily="34" charset="0"/>
                <a:ea typeface="Aptos" pitchFamily="34" charset="-122"/>
                <a:cs typeface="Aptos" pitchFamily="34" charset="-120"/>
              </a:rPr>
              <a:t>Pharmacy</a:t>
            </a:r>
            <a:endParaRPr lang="en-US" sz="900" dirty="0"/>
          </a:p>
        </p:txBody>
      </p:sp>
      <p:sp>
        <p:nvSpPr>
          <p:cNvPr id="61" name="Shape 41"/>
          <p:cNvSpPr/>
          <p:nvPr/>
        </p:nvSpPr>
        <p:spPr>
          <a:xfrm>
            <a:off x="6670548" y="4434840"/>
            <a:ext cx="980694" cy="502920"/>
          </a:xfrm>
          <a:prstGeom prst="roundRect">
            <a:avLst>
              <a:gd name="adj" fmla="val 10909"/>
            </a:avLst>
          </a:prstGeom>
          <a:solidFill>
            <a:srgbClr val="F5F3FF"/>
          </a:solidFill>
          <a:ln w="6350">
            <a:solidFill>
              <a:srgbClr val="DDD6FE"/>
            </a:solidFill>
            <a:prstDash val="solid"/>
          </a:ln>
        </p:spPr>
      </p:sp>
      <p:pic>
        <p:nvPicPr>
          <p:cNvPr id="62" name="Image 18" descr="preencoded.png">    </p:cNvPr>
          <p:cNvPicPr>
            <a:picLocks noChangeAspect="1"/>
          </p:cNvPicPr>
          <p:nvPr/>
        </p:nvPicPr>
        <p:blipFill>
          <a:blip r:embed="rId19"/>
          <a:stretch>
            <a:fillRect/>
          </a:stretch>
        </p:blipFill>
        <p:spPr>
          <a:xfrm>
            <a:off x="6761988" y="4544568"/>
            <a:ext cx="292608" cy="292608"/>
          </a:xfrm>
          <a:prstGeom prst="rect">
            <a:avLst/>
          </a:prstGeom>
        </p:spPr>
      </p:pic>
      <p:sp>
        <p:nvSpPr>
          <p:cNvPr id="63" name="Text 42"/>
          <p:cNvSpPr/>
          <p:nvPr/>
        </p:nvSpPr>
        <p:spPr>
          <a:xfrm>
            <a:off x="7091172" y="4434840"/>
            <a:ext cx="505206" cy="502920"/>
          </a:xfrm>
          <a:prstGeom prst="rect">
            <a:avLst/>
          </a:prstGeom>
          <a:noFill/>
          <a:ln/>
        </p:spPr>
        <p:txBody>
          <a:bodyPr wrap="square" lIns="0" tIns="0" rIns="0" bIns="0" rtlCol="0" anchor="ctr"/>
          <a:lstStyle/>
          <a:p>
            <a:pPr indent="0" marL="0">
              <a:buNone/>
            </a:pPr>
            <a:r>
              <a:rPr lang="en-US" sz="900" b="1" dirty="0">
                <a:solidFill>
                  <a:srgbClr val="4C1D95"/>
                </a:solidFill>
                <a:latin typeface="Aptos" pitchFamily="34" charset="0"/>
                <a:ea typeface="Aptos" pitchFamily="34" charset="-122"/>
                <a:cs typeface="Aptos" pitchFamily="34" charset="-120"/>
              </a:rPr>
              <a:t>Correspondence</a:t>
            </a:r>
            <a:endParaRPr lang="en-US" sz="900" dirty="0"/>
          </a:p>
        </p:txBody>
      </p:sp>
      <p:sp>
        <p:nvSpPr>
          <p:cNvPr id="64" name="Shape 43"/>
          <p:cNvSpPr/>
          <p:nvPr/>
        </p:nvSpPr>
        <p:spPr>
          <a:xfrm>
            <a:off x="7706106" y="4434840"/>
            <a:ext cx="980694" cy="502920"/>
          </a:xfrm>
          <a:prstGeom prst="roundRect">
            <a:avLst>
              <a:gd name="adj" fmla="val 10909"/>
            </a:avLst>
          </a:prstGeom>
          <a:solidFill>
            <a:srgbClr val="F5F3FF"/>
          </a:solidFill>
          <a:ln w="6350">
            <a:solidFill>
              <a:srgbClr val="DDD6FE"/>
            </a:solidFill>
            <a:prstDash val="solid"/>
          </a:ln>
        </p:spPr>
      </p:sp>
      <p:pic>
        <p:nvPicPr>
          <p:cNvPr id="65" name="Image 19" descr="preencoded.png">    </p:cNvPr>
          <p:cNvPicPr>
            <a:picLocks noChangeAspect="1"/>
          </p:cNvPicPr>
          <p:nvPr/>
        </p:nvPicPr>
        <p:blipFill>
          <a:blip r:embed="rId20"/>
          <a:stretch>
            <a:fillRect/>
          </a:stretch>
        </p:blipFill>
        <p:spPr>
          <a:xfrm>
            <a:off x="7797546" y="4544568"/>
            <a:ext cx="292608" cy="292608"/>
          </a:xfrm>
          <a:prstGeom prst="rect">
            <a:avLst/>
          </a:prstGeom>
        </p:spPr>
      </p:pic>
      <p:sp>
        <p:nvSpPr>
          <p:cNvPr id="66" name="Text 44"/>
          <p:cNvSpPr/>
          <p:nvPr/>
        </p:nvSpPr>
        <p:spPr>
          <a:xfrm>
            <a:off x="8126730" y="4434840"/>
            <a:ext cx="505206" cy="502920"/>
          </a:xfrm>
          <a:prstGeom prst="rect">
            <a:avLst/>
          </a:prstGeom>
          <a:noFill/>
          <a:ln/>
        </p:spPr>
        <p:txBody>
          <a:bodyPr wrap="square" lIns="0" tIns="0" rIns="0" bIns="0" rtlCol="0" anchor="ctr"/>
          <a:lstStyle/>
          <a:p>
            <a:pPr indent="0" marL="0">
              <a:buNone/>
            </a:pPr>
            <a:r>
              <a:rPr lang="en-US" sz="900" b="1" dirty="0">
                <a:solidFill>
                  <a:srgbClr val="4C1D95"/>
                </a:solidFill>
                <a:latin typeface="Aptos" pitchFamily="34" charset="0"/>
                <a:ea typeface="Aptos" pitchFamily="34" charset="-122"/>
                <a:cs typeface="Aptos" pitchFamily="34" charset="-120"/>
              </a:rPr>
              <a:t>Reinsurance</a:t>
            </a:r>
            <a:endParaRPr lang="en-US" sz="900" dirty="0"/>
          </a:p>
        </p:txBody>
      </p:sp>
      <p:sp>
        <p:nvSpPr>
          <p:cNvPr id="67" name="Text 45"/>
          <p:cNvSpPr/>
          <p:nvPr/>
        </p:nvSpPr>
        <p:spPr>
          <a:xfrm>
            <a:off x="8412480" y="4846320"/>
            <a:ext cx="594360" cy="182880"/>
          </a:xfrm>
          <a:prstGeom prst="rect">
            <a:avLst/>
          </a:prstGeom>
          <a:noFill/>
          <a:ln/>
        </p:spPr>
        <p:txBody>
          <a:bodyPr wrap="square" lIns="0" tIns="0" rIns="0" bIns="0" rtlCol="0" anchor="ctr"/>
          <a:lstStyle/>
          <a:p>
            <a:pPr algn="r" indent="0" marL="0">
              <a:buNone/>
            </a:pPr>
            <a:r>
              <a:rPr lang="en-US" sz="800" spc="100" kern="0" dirty="0">
                <a:solidFill>
                  <a:srgbClr val="9CA3AF"/>
                </a:solidFill>
                <a:latin typeface="Aptos" pitchFamily="34" charset="0"/>
                <a:ea typeface="Aptos" pitchFamily="34" charset="-122"/>
                <a:cs typeface="Aptos" pitchFamily="34" charset="-120"/>
              </a:rPr>
              <a:t>2 / 7</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457200" y="292608"/>
            <a:ext cx="91440" cy="91440"/>
          </a:xfrm>
          <a:prstGeom prst="ellipse">
            <a:avLst/>
          </a:prstGeom>
          <a:solidFill>
            <a:srgbClr val="5B21B6"/>
          </a:solidFill>
          <a:ln/>
        </p:spPr>
      </p:sp>
      <p:sp>
        <p:nvSpPr>
          <p:cNvPr id="3" name="Text 1"/>
          <p:cNvSpPr/>
          <p:nvPr/>
        </p:nvSpPr>
        <p:spPr>
          <a:xfrm>
            <a:off x="603504" y="246888"/>
            <a:ext cx="4572000" cy="182880"/>
          </a:xfrm>
          <a:prstGeom prst="rect">
            <a:avLst/>
          </a:prstGeom>
          <a:noFill/>
          <a:ln/>
        </p:spPr>
        <p:txBody>
          <a:bodyPr wrap="square" lIns="0" tIns="0" rIns="0" bIns="0" rtlCol="0" anchor="ctr"/>
          <a:lstStyle/>
          <a:p>
            <a:pPr indent="0" marL="0">
              <a:buNone/>
            </a:pPr>
            <a:r>
              <a:rPr lang="en-US" sz="800" b="1" spc="500" kern="0" dirty="0">
                <a:solidFill>
                  <a:srgbClr val="6B7280"/>
                </a:solidFill>
                <a:latin typeface="Aptos" pitchFamily="34" charset="0"/>
                <a:ea typeface="Aptos" pitchFamily="34" charset="-122"/>
                <a:cs typeface="Aptos" pitchFamily="34" charset="-120"/>
              </a:rPr>
              <a:t>MQ &amp; ACE PLATFORM STORY</a:t>
            </a:r>
            <a:endParaRPr lang="en-US" sz="800" dirty="0"/>
          </a:p>
        </p:txBody>
      </p:sp>
      <p:sp>
        <p:nvSpPr>
          <p:cNvPr id="4" name="Text 2"/>
          <p:cNvSpPr/>
          <p:nvPr/>
        </p:nvSpPr>
        <p:spPr>
          <a:xfrm>
            <a:off x="457200" y="640080"/>
            <a:ext cx="8229600" cy="777240"/>
          </a:xfrm>
          <a:prstGeom prst="rect">
            <a:avLst/>
          </a:prstGeom>
          <a:noFill/>
          <a:ln/>
        </p:spPr>
        <p:txBody>
          <a:bodyPr wrap="square" lIns="0" tIns="0" rIns="0" bIns="0" rtlCol="0" anchor="t"/>
          <a:lstStyle/>
          <a:p>
            <a:pPr indent="0" marL="0">
              <a:buNone/>
            </a:pPr>
            <a:r>
              <a:rPr lang="en-US" sz="2200" b="1" dirty="0">
                <a:solidFill>
                  <a:srgbClr val="1F2937"/>
                </a:solidFill>
                <a:latin typeface="Aptos Display" pitchFamily="34" charset="0"/>
                <a:ea typeface="Aptos Display" pitchFamily="34" charset="-122"/>
                <a:cs typeface="Aptos Display" pitchFamily="34" charset="-120"/>
              </a:rPr>
              <a:t>Every routine diagnostic requires a detective trail across disconnected tools</a:t>
            </a:r>
            <a:endParaRPr lang="en-US" sz="2200" dirty="0"/>
          </a:p>
        </p:txBody>
      </p:sp>
      <p:sp>
        <p:nvSpPr>
          <p:cNvPr id="5" name="Shape 3"/>
          <p:cNvSpPr/>
          <p:nvPr/>
        </p:nvSpPr>
        <p:spPr>
          <a:xfrm>
            <a:off x="548640" y="1828800"/>
            <a:ext cx="1097280" cy="1097280"/>
          </a:xfrm>
          <a:prstGeom prst="ellipse">
            <a:avLst/>
          </a:prstGeom>
          <a:solidFill>
            <a:srgbClr val="EDE9FE"/>
          </a:solidFill>
          <a:ln w="12700">
            <a:solidFill>
              <a:srgbClr val="A78BFA"/>
            </a:solidFill>
            <a:prstDash val="solid"/>
          </a:ln>
        </p:spPr>
      </p:sp>
      <p:pic>
        <p:nvPicPr>
          <p:cNvPr id="6" name="Image 0" descr="preencoded.png">    </p:cNvPr>
          <p:cNvPicPr>
            <a:picLocks noChangeAspect="1"/>
          </p:cNvPicPr>
          <p:nvPr/>
        </p:nvPicPr>
        <p:blipFill>
          <a:blip r:embed="rId1"/>
          <a:stretch>
            <a:fillRect/>
          </a:stretch>
        </p:blipFill>
        <p:spPr>
          <a:xfrm>
            <a:off x="713232" y="1993392"/>
            <a:ext cx="768096" cy="768096"/>
          </a:xfrm>
          <a:prstGeom prst="rect">
            <a:avLst/>
          </a:prstGeom>
        </p:spPr>
      </p:pic>
      <p:sp>
        <p:nvSpPr>
          <p:cNvPr id="7" name="Text 4"/>
          <p:cNvSpPr/>
          <p:nvPr/>
        </p:nvSpPr>
        <p:spPr>
          <a:xfrm>
            <a:off x="365760" y="2971800"/>
            <a:ext cx="1463040" cy="228600"/>
          </a:xfrm>
          <a:prstGeom prst="rect">
            <a:avLst/>
          </a:prstGeom>
          <a:noFill/>
          <a:ln/>
        </p:spPr>
        <p:txBody>
          <a:bodyPr wrap="square" lIns="0" tIns="0" rIns="0" bIns="0" rtlCol="0" anchor="ctr"/>
          <a:lstStyle/>
          <a:p>
            <a:pPr algn="ctr" indent="0" marL="0">
              <a:buNone/>
            </a:pPr>
            <a:r>
              <a:rPr lang="en-US" sz="900" b="1" dirty="0">
                <a:solidFill>
                  <a:srgbClr val="6B7280"/>
                </a:solidFill>
                <a:latin typeface="Aptos" pitchFamily="34" charset="0"/>
                <a:ea typeface="Aptos" pitchFamily="34" charset="-122"/>
                <a:cs typeface="Aptos" pitchFamily="34" charset="-120"/>
              </a:rPr>
              <a:t>Platform admin</a:t>
            </a:r>
            <a:endParaRPr lang="en-US" sz="900" dirty="0"/>
          </a:p>
        </p:txBody>
      </p:sp>
      <p:sp>
        <p:nvSpPr>
          <p:cNvPr id="8" name="Shape 5"/>
          <p:cNvSpPr/>
          <p:nvPr/>
        </p:nvSpPr>
        <p:spPr>
          <a:xfrm>
            <a:off x="1691640" y="2377440"/>
            <a:ext cx="1005840" cy="-502920"/>
          </a:xfrm>
          <a:prstGeom prst="line">
            <a:avLst/>
          </a:prstGeom>
          <a:noFill/>
          <a:ln w="12700">
            <a:solidFill>
              <a:srgbClr val="A78BFA"/>
            </a:solidFill>
            <a:prstDash val="dash"/>
          </a:ln>
        </p:spPr>
      </p:sp>
      <p:sp>
        <p:nvSpPr>
          <p:cNvPr id="9" name="Shape 6"/>
          <p:cNvSpPr/>
          <p:nvPr/>
        </p:nvSpPr>
        <p:spPr>
          <a:xfrm>
            <a:off x="1691640" y="2377440"/>
            <a:ext cx="2651760" cy="-594360"/>
          </a:xfrm>
          <a:prstGeom prst="line">
            <a:avLst/>
          </a:prstGeom>
          <a:noFill/>
          <a:ln w="12700">
            <a:solidFill>
              <a:srgbClr val="A78BFA"/>
            </a:solidFill>
            <a:prstDash val="dash"/>
          </a:ln>
        </p:spPr>
      </p:sp>
      <p:sp>
        <p:nvSpPr>
          <p:cNvPr id="10" name="Shape 7"/>
          <p:cNvSpPr/>
          <p:nvPr/>
        </p:nvSpPr>
        <p:spPr>
          <a:xfrm>
            <a:off x="1691640" y="2377440"/>
            <a:ext cx="4389120" cy="-411480"/>
          </a:xfrm>
          <a:prstGeom prst="line">
            <a:avLst/>
          </a:prstGeom>
          <a:noFill/>
          <a:ln w="12700">
            <a:solidFill>
              <a:srgbClr val="A78BFA"/>
            </a:solidFill>
            <a:prstDash val="dash"/>
          </a:ln>
        </p:spPr>
      </p:sp>
      <p:sp>
        <p:nvSpPr>
          <p:cNvPr id="11" name="Shape 8"/>
          <p:cNvSpPr/>
          <p:nvPr/>
        </p:nvSpPr>
        <p:spPr>
          <a:xfrm>
            <a:off x="1691640" y="2377440"/>
            <a:ext cx="1554480" cy="502920"/>
          </a:xfrm>
          <a:prstGeom prst="line">
            <a:avLst/>
          </a:prstGeom>
          <a:noFill/>
          <a:ln w="12700">
            <a:solidFill>
              <a:srgbClr val="A78BFA"/>
            </a:solidFill>
            <a:prstDash val="dash"/>
          </a:ln>
        </p:spPr>
      </p:sp>
      <p:sp>
        <p:nvSpPr>
          <p:cNvPr id="12" name="Shape 9"/>
          <p:cNvSpPr/>
          <p:nvPr/>
        </p:nvSpPr>
        <p:spPr>
          <a:xfrm>
            <a:off x="1691640" y="2377440"/>
            <a:ext cx="3566160" cy="640080"/>
          </a:xfrm>
          <a:prstGeom prst="line">
            <a:avLst/>
          </a:prstGeom>
          <a:noFill/>
          <a:ln w="12700">
            <a:solidFill>
              <a:srgbClr val="A78BFA"/>
            </a:solidFill>
            <a:prstDash val="dash"/>
          </a:ln>
        </p:spPr>
      </p:sp>
      <p:sp>
        <p:nvSpPr>
          <p:cNvPr id="13" name="Shape 10"/>
          <p:cNvSpPr/>
          <p:nvPr/>
        </p:nvSpPr>
        <p:spPr>
          <a:xfrm>
            <a:off x="1691640" y="2377440"/>
            <a:ext cx="5486400" cy="411480"/>
          </a:xfrm>
          <a:prstGeom prst="line">
            <a:avLst/>
          </a:prstGeom>
          <a:noFill/>
          <a:ln w="12700">
            <a:solidFill>
              <a:srgbClr val="A78BFA"/>
            </a:solidFill>
            <a:prstDash val="dash"/>
          </a:ln>
        </p:spPr>
      </p:sp>
      <p:sp>
        <p:nvSpPr>
          <p:cNvPr id="14" name="Shape 11"/>
          <p:cNvSpPr/>
          <p:nvPr/>
        </p:nvSpPr>
        <p:spPr>
          <a:xfrm>
            <a:off x="2286000" y="1691640"/>
            <a:ext cx="914400" cy="365760"/>
          </a:xfrm>
          <a:prstGeom prst="roundRect">
            <a:avLst>
              <a:gd name="adj" fmla="val 12500"/>
            </a:avLst>
          </a:prstGeom>
          <a:solidFill>
            <a:srgbClr val="F5F3FF"/>
          </a:solidFill>
          <a:ln w="9525">
            <a:solidFill>
              <a:srgbClr val="5B21B6"/>
            </a:solidFill>
            <a:prstDash val="solid"/>
          </a:ln>
        </p:spPr>
      </p:sp>
      <p:pic>
        <p:nvPicPr>
          <p:cNvPr id="15" name="Image 1" descr="preencoded.png">    </p:cNvPr>
          <p:cNvPicPr>
            <a:picLocks noChangeAspect="1"/>
          </p:cNvPicPr>
          <p:nvPr/>
        </p:nvPicPr>
        <p:blipFill>
          <a:blip r:embed="rId2"/>
          <a:stretch>
            <a:fillRect/>
          </a:stretch>
        </p:blipFill>
        <p:spPr>
          <a:xfrm>
            <a:off x="2331720" y="1764792"/>
            <a:ext cx="219456" cy="219456"/>
          </a:xfrm>
          <a:prstGeom prst="rect">
            <a:avLst/>
          </a:prstGeom>
        </p:spPr>
      </p:pic>
      <p:sp>
        <p:nvSpPr>
          <p:cNvPr id="16" name="Text 12"/>
          <p:cNvSpPr/>
          <p:nvPr/>
        </p:nvSpPr>
        <p:spPr>
          <a:xfrm>
            <a:off x="2560320" y="1691640"/>
            <a:ext cx="640080" cy="365760"/>
          </a:xfrm>
          <a:prstGeom prst="rect">
            <a:avLst/>
          </a:prstGeom>
          <a:noFill/>
          <a:ln/>
        </p:spPr>
        <p:txBody>
          <a:bodyPr wrap="square" lIns="0" tIns="0" rIns="0" bIns="0" rtlCol="0" anchor="ctr"/>
          <a:lstStyle/>
          <a:p>
            <a:pPr indent="0" marL="0">
              <a:buNone/>
            </a:pPr>
            <a:r>
              <a:rPr lang="en-US" sz="900" b="1" dirty="0">
                <a:solidFill>
                  <a:srgbClr val="1F2937"/>
                </a:solidFill>
                <a:latin typeface="Aptos" pitchFamily="34" charset="0"/>
                <a:ea typeface="Aptos" pitchFamily="34" charset="-122"/>
                <a:cs typeface="Aptos" pitchFamily="34" charset="-120"/>
              </a:rPr>
              <a:t>Console A</a:t>
            </a:r>
            <a:endParaRPr lang="en-US" sz="900" dirty="0"/>
          </a:p>
        </p:txBody>
      </p:sp>
      <p:sp>
        <p:nvSpPr>
          <p:cNvPr id="17" name="Shape 13"/>
          <p:cNvSpPr/>
          <p:nvPr/>
        </p:nvSpPr>
        <p:spPr>
          <a:xfrm>
            <a:off x="3931920" y="1600200"/>
            <a:ext cx="914400" cy="365760"/>
          </a:xfrm>
          <a:prstGeom prst="roundRect">
            <a:avLst>
              <a:gd name="adj" fmla="val 12500"/>
            </a:avLst>
          </a:prstGeom>
          <a:solidFill>
            <a:srgbClr val="F5F3FF"/>
          </a:solidFill>
          <a:ln w="9525">
            <a:solidFill>
              <a:srgbClr val="5B21B6"/>
            </a:solidFill>
            <a:prstDash val="solid"/>
          </a:ln>
        </p:spPr>
      </p:sp>
      <p:pic>
        <p:nvPicPr>
          <p:cNvPr id="18" name="Image 2" descr="preencoded.png">    </p:cNvPr>
          <p:cNvPicPr>
            <a:picLocks noChangeAspect="1"/>
          </p:cNvPicPr>
          <p:nvPr/>
        </p:nvPicPr>
        <p:blipFill>
          <a:blip r:embed="rId3"/>
          <a:stretch>
            <a:fillRect/>
          </a:stretch>
        </p:blipFill>
        <p:spPr>
          <a:xfrm>
            <a:off x="3977640" y="1673352"/>
            <a:ext cx="219456" cy="219456"/>
          </a:xfrm>
          <a:prstGeom prst="rect">
            <a:avLst/>
          </a:prstGeom>
        </p:spPr>
      </p:pic>
      <p:sp>
        <p:nvSpPr>
          <p:cNvPr id="19" name="Text 14"/>
          <p:cNvSpPr/>
          <p:nvPr/>
        </p:nvSpPr>
        <p:spPr>
          <a:xfrm>
            <a:off x="4206240" y="1600200"/>
            <a:ext cx="640080" cy="365760"/>
          </a:xfrm>
          <a:prstGeom prst="rect">
            <a:avLst/>
          </a:prstGeom>
          <a:noFill/>
          <a:ln/>
        </p:spPr>
        <p:txBody>
          <a:bodyPr wrap="square" lIns="0" tIns="0" rIns="0" bIns="0" rtlCol="0" anchor="ctr"/>
          <a:lstStyle/>
          <a:p>
            <a:pPr indent="0" marL="0">
              <a:buNone/>
            </a:pPr>
            <a:r>
              <a:rPr lang="en-US" sz="900" b="1" dirty="0">
                <a:solidFill>
                  <a:srgbClr val="1F2937"/>
                </a:solidFill>
                <a:latin typeface="Aptos" pitchFamily="34" charset="0"/>
                <a:ea typeface="Aptos" pitchFamily="34" charset="-122"/>
                <a:cs typeface="Aptos" pitchFamily="34" charset="-120"/>
              </a:rPr>
              <a:t>Monitor B</a:t>
            </a:r>
            <a:endParaRPr lang="en-US" sz="900" dirty="0"/>
          </a:p>
        </p:txBody>
      </p:sp>
      <p:sp>
        <p:nvSpPr>
          <p:cNvPr id="20" name="Shape 15"/>
          <p:cNvSpPr/>
          <p:nvPr/>
        </p:nvSpPr>
        <p:spPr>
          <a:xfrm>
            <a:off x="5669280" y="1783080"/>
            <a:ext cx="914400" cy="365760"/>
          </a:xfrm>
          <a:prstGeom prst="roundRect">
            <a:avLst>
              <a:gd name="adj" fmla="val 12500"/>
            </a:avLst>
          </a:prstGeom>
          <a:solidFill>
            <a:srgbClr val="F5F3FF"/>
          </a:solidFill>
          <a:ln w="9525">
            <a:solidFill>
              <a:srgbClr val="5B21B6"/>
            </a:solidFill>
            <a:prstDash val="solid"/>
          </a:ln>
        </p:spPr>
      </p:sp>
      <p:pic>
        <p:nvPicPr>
          <p:cNvPr id="21" name="Image 3" descr="preencoded.png">    </p:cNvPr>
          <p:cNvPicPr>
            <a:picLocks noChangeAspect="1"/>
          </p:cNvPicPr>
          <p:nvPr/>
        </p:nvPicPr>
        <p:blipFill>
          <a:blip r:embed="rId4"/>
          <a:stretch>
            <a:fillRect/>
          </a:stretch>
        </p:blipFill>
        <p:spPr>
          <a:xfrm>
            <a:off x="5715000" y="1856232"/>
            <a:ext cx="219456" cy="219456"/>
          </a:xfrm>
          <a:prstGeom prst="rect">
            <a:avLst/>
          </a:prstGeom>
        </p:spPr>
      </p:pic>
      <p:sp>
        <p:nvSpPr>
          <p:cNvPr id="22" name="Text 16"/>
          <p:cNvSpPr/>
          <p:nvPr/>
        </p:nvSpPr>
        <p:spPr>
          <a:xfrm>
            <a:off x="5943600" y="1783080"/>
            <a:ext cx="640080" cy="365760"/>
          </a:xfrm>
          <a:prstGeom prst="rect">
            <a:avLst/>
          </a:prstGeom>
          <a:noFill/>
          <a:ln/>
        </p:spPr>
        <p:txBody>
          <a:bodyPr wrap="square" lIns="0" tIns="0" rIns="0" bIns="0" rtlCol="0" anchor="ctr"/>
          <a:lstStyle/>
          <a:p>
            <a:pPr indent="0" marL="0">
              <a:buNone/>
            </a:pPr>
            <a:r>
              <a:rPr lang="en-US" sz="900" b="1" dirty="0">
                <a:solidFill>
                  <a:srgbClr val="1F2937"/>
                </a:solidFill>
                <a:latin typeface="Aptos" pitchFamily="34" charset="0"/>
                <a:ea typeface="Aptos" pitchFamily="34" charset="-122"/>
                <a:cs typeface="Aptos" pitchFamily="34" charset="-120"/>
              </a:rPr>
              <a:t>Log C</a:t>
            </a:r>
            <a:endParaRPr lang="en-US" sz="900" dirty="0"/>
          </a:p>
        </p:txBody>
      </p:sp>
      <p:sp>
        <p:nvSpPr>
          <p:cNvPr id="23" name="Shape 17"/>
          <p:cNvSpPr/>
          <p:nvPr/>
        </p:nvSpPr>
        <p:spPr>
          <a:xfrm>
            <a:off x="2834640" y="2697480"/>
            <a:ext cx="914400" cy="365760"/>
          </a:xfrm>
          <a:prstGeom prst="roundRect">
            <a:avLst>
              <a:gd name="adj" fmla="val 12500"/>
            </a:avLst>
          </a:prstGeom>
          <a:solidFill>
            <a:srgbClr val="F5F3FF"/>
          </a:solidFill>
          <a:ln w="9525">
            <a:solidFill>
              <a:srgbClr val="5B21B6"/>
            </a:solidFill>
            <a:prstDash val="solid"/>
          </a:ln>
        </p:spPr>
      </p:sp>
      <p:pic>
        <p:nvPicPr>
          <p:cNvPr id="24" name="Image 4" descr="preencoded.png">    </p:cNvPr>
          <p:cNvPicPr>
            <a:picLocks noChangeAspect="1"/>
          </p:cNvPicPr>
          <p:nvPr/>
        </p:nvPicPr>
        <p:blipFill>
          <a:blip r:embed="rId5"/>
          <a:stretch>
            <a:fillRect/>
          </a:stretch>
        </p:blipFill>
        <p:spPr>
          <a:xfrm>
            <a:off x="2880360" y="2770632"/>
            <a:ext cx="219456" cy="219456"/>
          </a:xfrm>
          <a:prstGeom prst="rect">
            <a:avLst/>
          </a:prstGeom>
        </p:spPr>
      </p:pic>
      <p:sp>
        <p:nvSpPr>
          <p:cNvPr id="25" name="Text 18"/>
          <p:cNvSpPr/>
          <p:nvPr/>
        </p:nvSpPr>
        <p:spPr>
          <a:xfrm>
            <a:off x="3108960" y="2697480"/>
            <a:ext cx="640080" cy="365760"/>
          </a:xfrm>
          <a:prstGeom prst="rect">
            <a:avLst/>
          </a:prstGeom>
          <a:noFill/>
          <a:ln/>
        </p:spPr>
        <p:txBody>
          <a:bodyPr wrap="square" lIns="0" tIns="0" rIns="0" bIns="0" rtlCol="0" anchor="ctr"/>
          <a:lstStyle/>
          <a:p>
            <a:pPr indent="0" marL="0">
              <a:buNone/>
            </a:pPr>
            <a:r>
              <a:rPr lang="en-US" sz="900" b="1" dirty="0">
                <a:solidFill>
                  <a:srgbClr val="1F2937"/>
                </a:solidFill>
                <a:latin typeface="Aptos" pitchFamily="34" charset="0"/>
                <a:ea typeface="Aptos" pitchFamily="34" charset="-122"/>
                <a:cs typeface="Aptos" pitchFamily="34" charset="-120"/>
              </a:rPr>
              <a:t>Config D</a:t>
            </a:r>
            <a:endParaRPr lang="en-US" sz="900" dirty="0"/>
          </a:p>
        </p:txBody>
      </p:sp>
      <p:sp>
        <p:nvSpPr>
          <p:cNvPr id="26" name="Shape 19"/>
          <p:cNvSpPr/>
          <p:nvPr/>
        </p:nvSpPr>
        <p:spPr>
          <a:xfrm>
            <a:off x="4846320" y="2834640"/>
            <a:ext cx="914400" cy="365760"/>
          </a:xfrm>
          <a:prstGeom prst="roundRect">
            <a:avLst>
              <a:gd name="adj" fmla="val 12500"/>
            </a:avLst>
          </a:prstGeom>
          <a:solidFill>
            <a:srgbClr val="F5F3FF"/>
          </a:solidFill>
          <a:ln w="9525">
            <a:solidFill>
              <a:srgbClr val="5B21B6"/>
            </a:solidFill>
            <a:prstDash val="solid"/>
          </a:ln>
        </p:spPr>
      </p:sp>
      <p:pic>
        <p:nvPicPr>
          <p:cNvPr id="27" name="Image 5" descr="preencoded.png">    </p:cNvPr>
          <p:cNvPicPr>
            <a:picLocks noChangeAspect="1"/>
          </p:cNvPicPr>
          <p:nvPr/>
        </p:nvPicPr>
        <p:blipFill>
          <a:blip r:embed="rId6"/>
          <a:stretch>
            <a:fillRect/>
          </a:stretch>
        </p:blipFill>
        <p:spPr>
          <a:xfrm>
            <a:off x="4892040" y="2907792"/>
            <a:ext cx="219456" cy="219456"/>
          </a:xfrm>
          <a:prstGeom prst="rect">
            <a:avLst/>
          </a:prstGeom>
        </p:spPr>
      </p:pic>
      <p:sp>
        <p:nvSpPr>
          <p:cNvPr id="28" name="Text 20"/>
          <p:cNvSpPr/>
          <p:nvPr/>
        </p:nvSpPr>
        <p:spPr>
          <a:xfrm>
            <a:off x="5120640" y="2834640"/>
            <a:ext cx="640080" cy="365760"/>
          </a:xfrm>
          <a:prstGeom prst="rect">
            <a:avLst/>
          </a:prstGeom>
          <a:noFill/>
          <a:ln/>
        </p:spPr>
        <p:txBody>
          <a:bodyPr wrap="square" lIns="0" tIns="0" rIns="0" bIns="0" rtlCol="0" anchor="ctr"/>
          <a:lstStyle/>
          <a:p>
            <a:pPr indent="0" marL="0">
              <a:buNone/>
            </a:pPr>
            <a:r>
              <a:rPr lang="en-US" sz="900" b="1" dirty="0">
                <a:solidFill>
                  <a:srgbClr val="1F2937"/>
                </a:solidFill>
                <a:latin typeface="Aptos" pitchFamily="34" charset="0"/>
                <a:ea typeface="Aptos" pitchFamily="34" charset="-122"/>
                <a:cs typeface="Aptos" pitchFamily="34" charset="-120"/>
              </a:rPr>
              <a:t>Events E</a:t>
            </a:r>
            <a:endParaRPr lang="en-US" sz="900" dirty="0"/>
          </a:p>
        </p:txBody>
      </p:sp>
      <p:sp>
        <p:nvSpPr>
          <p:cNvPr id="29" name="Shape 21"/>
          <p:cNvSpPr/>
          <p:nvPr/>
        </p:nvSpPr>
        <p:spPr>
          <a:xfrm>
            <a:off x="6766560" y="2606040"/>
            <a:ext cx="914400" cy="365760"/>
          </a:xfrm>
          <a:prstGeom prst="roundRect">
            <a:avLst>
              <a:gd name="adj" fmla="val 12500"/>
            </a:avLst>
          </a:prstGeom>
          <a:solidFill>
            <a:srgbClr val="F5F3FF"/>
          </a:solidFill>
          <a:ln w="9525">
            <a:solidFill>
              <a:srgbClr val="5B21B6"/>
            </a:solidFill>
            <a:prstDash val="solid"/>
          </a:ln>
        </p:spPr>
      </p:sp>
      <p:pic>
        <p:nvPicPr>
          <p:cNvPr id="30" name="Image 6" descr="preencoded.png">    </p:cNvPr>
          <p:cNvPicPr>
            <a:picLocks noChangeAspect="1"/>
          </p:cNvPicPr>
          <p:nvPr/>
        </p:nvPicPr>
        <p:blipFill>
          <a:blip r:embed="rId7"/>
          <a:stretch>
            <a:fillRect/>
          </a:stretch>
        </p:blipFill>
        <p:spPr>
          <a:xfrm>
            <a:off x="6812280" y="2679192"/>
            <a:ext cx="219456" cy="219456"/>
          </a:xfrm>
          <a:prstGeom prst="rect">
            <a:avLst/>
          </a:prstGeom>
        </p:spPr>
      </p:pic>
      <p:sp>
        <p:nvSpPr>
          <p:cNvPr id="31" name="Text 22"/>
          <p:cNvSpPr/>
          <p:nvPr/>
        </p:nvSpPr>
        <p:spPr>
          <a:xfrm>
            <a:off x="7040880" y="2606040"/>
            <a:ext cx="640080" cy="365760"/>
          </a:xfrm>
          <a:prstGeom prst="rect">
            <a:avLst/>
          </a:prstGeom>
          <a:noFill/>
          <a:ln/>
        </p:spPr>
        <p:txBody>
          <a:bodyPr wrap="square" lIns="0" tIns="0" rIns="0" bIns="0" rtlCol="0" anchor="ctr"/>
          <a:lstStyle/>
          <a:p>
            <a:pPr indent="0" marL="0">
              <a:buNone/>
            </a:pPr>
            <a:r>
              <a:rPr lang="en-US" sz="900" b="1" dirty="0">
                <a:solidFill>
                  <a:srgbClr val="1F2937"/>
                </a:solidFill>
                <a:latin typeface="Aptos" pitchFamily="34" charset="0"/>
                <a:ea typeface="Aptos" pitchFamily="34" charset="-122"/>
                <a:cs typeface="Aptos" pitchFamily="34" charset="-120"/>
              </a:rPr>
              <a:t>Audit F</a:t>
            </a:r>
            <a:endParaRPr lang="en-US" sz="900" dirty="0"/>
          </a:p>
        </p:txBody>
      </p:sp>
      <p:sp>
        <p:nvSpPr>
          <p:cNvPr id="32" name="Text 23"/>
          <p:cNvSpPr/>
          <p:nvPr/>
        </p:nvSpPr>
        <p:spPr>
          <a:xfrm>
            <a:off x="7589520" y="1691640"/>
            <a:ext cx="1371600" cy="822960"/>
          </a:xfrm>
          <a:prstGeom prst="rect">
            <a:avLst/>
          </a:prstGeom>
          <a:noFill/>
          <a:ln/>
        </p:spPr>
        <p:txBody>
          <a:bodyPr wrap="square" lIns="0" tIns="0" rIns="0" bIns="0" rtlCol="0" anchor="t"/>
          <a:lstStyle/>
          <a:p>
            <a:pPr indent="0" marL="0">
              <a:buNone/>
            </a:pPr>
            <a:r>
              <a:rPr lang="en-US" sz="950" i="1" dirty="0">
                <a:solidFill>
                  <a:srgbClr val="6B7280"/>
                </a:solidFill>
                <a:latin typeface="Aptos" pitchFamily="34" charset="0"/>
                <a:ea typeface="Aptos" pitchFamily="34" charset="-122"/>
                <a:cs typeface="Aptos" pitchFamily="34" charset="-120"/>
              </a:rPr>
              <a:t>No single pane of glass.</a:t>
            </a:r>
            <a:endParaRPr lang="en-US" sz="950" dirty="0"/>
          </a:p>
          <a:p>
            <a:pPr indent="0" marL="0">
              <a:buNone/>
            </a:pPr>
            <a:r>
              <a:rPr lang="en-US" sz="950" i="1" dirty="0">
                <a:solidFill>
                  <a:srgbClr val="6B7280"/>
                </a:solidFill>
                <a:latin typeface="Aptos" pitchFamily="34" charset="0"/>
                <a:ea typeface="Aptos" pitchFamily="34" charset="-122"/>
                <a:cs typeface="Aptos" pitchFamily="34" charset="-120"/>
              </a:rPr>
              <a:t>Dozens of consoles per question.</a:t>
            </a:r>
            <a:endParaRPr lang="en-US" sz="950" dirty="0"/>
          </a:p>
        </p:txBody>
      </p:sp>
      <p:sp>
        <p:nvSpPr>
          <p:cNvPr id="33" name="Shape 24"/>
          <p:cNvSpPr/>
          <p:nvPr/>
        </p:nvSpPr>
        <p:spPr>
          <a:xfrm>
            <a:off x="457200" y="3474720"/>
            <a:ext cx="1975104" cy="1234440"/>
          </a:xfrm>
          <a:prstGeom prst="rect">
            <a:avLst/>
          </a:prstGeom>
          <a:solidFill>
            <a:srgbClr val="4C1D95"/>
          </a:solidFill>
          <a:ln/>
          <a:effectLst>
            <a:outerShdw sx="100000" sy="100000" kx="0" ky="0" algn="bl" rotWithShape="0" blurRad="152400" dist="25400" dir="5400000">
              <a:srgbClr val="5B21B6">
                <a:alpha val="10000"/>
              </a:srgbClr>
            </a:outerShdw>
          </a:effectLst>
        </p:spPr>
      </p:sp>
      <p:sp>
        <p:nvSpPr>
          <p:cNvPr id="34" name="Shape 25"/>
          <p:cNvSpPr/>
          <p:nvPr/>
        </p:nvSpPr>
        <p:spPr>
          <a:xfrm>
            <a:off x="457200" y="3474720"/>
            <a:ext cx="1975104" cy="36576"/>
          </a:xfrm>
          <a:prstGeom prst="rect">
            <a:avLst/>
          </a:prstGeom>
          <a:solidFill>
            <a:srgbClr val="C026D3"/>
          </a:solidFill>
          <a:ln/>
        </p:spPr>
      </p:sp>
      <p:sp>
        <p:nvSpPr>
          <p:cNvPr id="35" name="Text 26"/>
          <p:cNvSpPr/>
          <p:nvPr/>
        </p:nvSpPr>
        <p:spPr>
          <a:xfrm>
            <a:off x="594360" y="3566160"/>
            <a:ext cx="1700784"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Aptos Display" pitchFamily="34" charset="0"/>
                <a:ea typeface="Aptos Display" pitchFamily="34" charset="-122"/>
                <a:cs typeface="Aptos Display" pitchFamily="34" charset="-120"/>
              </a:rPr>
              <a:t>20–45 min</a:t>
            </a:r>
            <a:endParaRPr lang="en-US" sz="2600" dirty="0"/>
          </a:p>
        </p:txBody>
      </p:sp>
      <p:sp>
        <p:nvSpPr>
          <p:cNvPr id="36" name="Text 27"/>
          <p:cNvSpPr/>
          <p:nvPr/>
        </p:nvSpPr>
        <p:spPr>
          <a:xfrm>
            <a:off x="594360" y="4114800"/>
            <a:ext cx="1700784" cy="502920"/>
          </a:xfrm>
          <a:prstGeom prst="rect">
            <a:avLst/>
          </a:prstGeom>
          <a:noFill/>
          <a:ln/>
        </p:spPr>
        <p:txBody>
          <a:bodyPr wrap="square" lIns="0" tIns="0" rIns="0" bIns="0" rtlCol="0" anchor="t"/>
          <a:lstStyle/>
          <a:p>
            <a:pPr algn="l" indent="0" marL="0">
              <a:buNone/>
            </a:pPr>
            <a:r>
              <a:rPr lang="en-US" sz="950" dirty="0">
                <a:solidFill>
                  <a:srgbClr val="DDD6FE"/>
                </a:solidFill>
                <a:latin typeface="Aptos" pitchFamily="34" charset="0"/>
                <a:ea typeface="Aptos" pitchFamily="34" charset="-122"/>
                <a:cs typeface="Aptos" pitchFamily="34" charset="-120"/>
              </a:rPr>
              <a:t>To trace a stuck message or answer a routine query</a:t>
            </a:r>
            <a:endParaRPr lang="en-US" sz="950" dirty="0"/>
          </a:p>
        </p:txBody>
      </p:sp>
      <p:sp>
        <p:nvSpPr>
          <p:cNvPr id="37" name="Shape 28"/>
          <p:cNvSpPr/>
          <p:nvPr/>
        </p:nvSpPr>
        <p:spPr>
          <a:xfrm>
            <a:off x="2542032" y="3474720"/>
            <a:ext cx="1975104" cy="1234440"/>
          </a:xfrm>
          <a:prstGeom prst="rect">
            <a:avLst/>
          </a:prstGeom>
          <a:solidFill>
            <a:srgbClr val="4C1D95"/>
          </a:solidFill>
          <a:ln/>
          <a:effectLst>
            <a:outerShdw sx="100000" sy="100000" kx="0" ky="0" algn="bl" rotWithShape="0" blurRad="152400" dist="25400" dir="5400000">
              <a:srgbClr val="5B21B6">
                <a:alpha val="10000"/>
              </a:srgbClr>
            </a:outerShdw>
          </a:effectLst>
        </p:spPr>
      </p:sp>
      <p:sp>
        <p:nvSpPr>
          <p:cNvPr id="38" name="Shape 29"/>
          <p:cNvSpPr/>
          <p:nvPr/>
        </p:nvSpPr>
        <p:spPr>
          <a:xfrm>
            <a:off x="2542032" y="3474720"/>
            <a:ext cx="1975104" cy="36576"/>
          </a:xfrm>
          <a:prstGeom prst="rect">
            <a:avLst/>
          </a:prstGeom>
          <a:solidFill>
            <a:srgbClr val="C026D3"/>
          </a:solidFill>
          <a:ln/>
        </p:spPr>
      </p:sp>
      <p:sp>
        <p:nvSpPr>
          <p:cNvPr id="39" name="Text 30"/>
          <p:cNvSpPr/>
          <p:nvPr/>
        </p:nvSpPr>
        <p:spPr>
          <a:xfrm>
            <a:off x="2679192" y="3566160"/>
            <a:ext cx="1700784"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Aptos Display" pitchFamily="34" charset="0"/>
                <a:ea typeface="Aptos Display" pitchFamily="34" charset="-122"/>
                <a:cs typeface="Aptos Display" pitchFamily="34" charset="-120"/>
              </a:rPr>
              <a:t>16×5</a:t>
            </a:r>
            <a:endParaRPr lang="en-US" sz="2600" dirty="0"/>
          </a:p>
        </p:txBody>
      </p:sp>
      <p:sp>
        <p:nvSpPr>
          <p:cNvPr id="40" name="Text 31"/>
          <p:cNvSpPr/>
          <p:nvPr/>
        </p:nvSpPr>
        <p:spPr>
          <a:xfrm>
            <a:off x="2679192" y="4114800"/>
            <a:ext cx="1700784" cy="502920"/>
          </a:xfrm>
          <a:prstGeom prst="rect">
            <a:avLst/>
          </a:prstGeom>
          <a:noFill/>
          <a:ln/>
        </p:spPr>
        <p:txBody>
          <a:bodyPr wrap="square" lIns="0" tIns="0" rIns="0" bIns="0" rtlCol="0" anchor="t"/>
          <a:lstStyle/>
          <a:p>
            <a:pPr algn="l" indent="0" marL="0">
              <a:buNone/>
            </a:pPr>
            <a:r>
              <a:rPr lang="en-US" sz="950" dirty="0">
                <a:solidFill>
                  <a:srgbClr val="DDD6FE"/>
                </a:solidFill>
                <a:latin typeface="Aptos" pitchFamily="34" charset="0"/>
                <a:ea typeface="Aptos" pitchFamily="34" charset="-122"/>
                <a:cs typeface="Aptos" pitchFamily="34" charset="-120"/>
              </a:rPr>
              <a:t>Our coverage vs a 24×7 platform requirement</a:t>
            </a:r>
            <a:endParaRPr lang="en-US" sz="950" dirty="0"/>
          </a:p>
        </p:txBody>
      </p:sp>
      <p:sp>
        <p:nvSpPr>
          <p:cNvPr id="41" name="Shape 32"/>
          <p:cNvSpPr/>
          <p:nvPr/>
        </p:nvSpPr>
        <p:spPr>
          <a:xfrm>
            <a:off x="4626864" y="3474720"/>
            <a:ext cx="1975104" cy="1234440"/>
          </a:xfrm>
          <a:prstGeom prst="rect">
            <a:avLst/>
          </a:prstGeom>
          <a:solidFill>
            <a:srgbClr val="4C1D95"/>
          </a:solidFill>
          <a:ln/>
          <a:effectLst>
            <a:outerShdw sx="100000" sy="100000" kx="0" ky="0" algn="bl" rotWithShape="0" blurRad="152400" dist="25400" dir="5400000">
              <a:srgbClr val="5B21B6">
                <a:alpha val="10000"/>
              </a:srgbClr>
            </a:outerShdw>
          </a:effectLst>
        </p:spPr>
      </p:sp>
      <p:sp>
        <p:nvSpPr>
          <p:cNvPr id="42" name="Shape 33"/>
          <p:cNvSpPr/>
          <p:nvPr/>
        </p:nvSpPr>
        <p:spPr>
          <a:xfrm>
            <a:off x="4626864" y="3474720"/>
            <a:ext cx="1975104" cy="36576"/>
          </a:xfrm>
          <a:prstGeom prst="rect">
            <a:avLst/>
          </a:prstGeom>
          <a:solidFill>
            <a:srgbClr val="C026D3"/>
          </a:solidFill>
          <a:ln/>
        </p:spPr>
      </p:sp>
      <p:sp>
        <p:nvSpPr>
          <p:cNvPr id="43" name="Text 34"/>
          <p:cNvSpPr/>
          <p:nvPr/>
        </p:nvSpPr>
        <p:spPr>
          <a:xfrm>
            <a:off x="4764024" y="3566160"/>
            <a:ext cx="1700784"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Aptos Display" pitchFamily="34" charset="0"/>
                <a:ea typeface="Aptos Display" pitchFamily="34" charset="-122"/>
                <a:cs typeface="Aptos Display" pitchFamily="34" charset="-120"/>
              </a:rPr>
              <a:t>2–3</a:t>
            </a:r>
            <a:endParaRPr lang="en-US" sz="2600" dirty="0"/>
          </a:p>
        </p:txBody>
      </p:sp>
      <p:sp>
        <p:nvSpPr>
          <p:cNvPr id="44" name="Text 35"/>
          <p:cNvSpPr/>
          <p:nvPr/>
        </p:nvSpPr>
        <p:spPr>
          <a:xfrm>
            <a:off x="4764024" y="4114800"/>
            <a:ext cx="1700784" cy="502920"/>
          </a:xfrm>
          <a:prstGeom prst="rect">
            <a:avLst/>
          </a:prstGeom>
          <a:noFill/>
          <a:ln/>
        </p:spPr>
        <p:txBody>
          <a:bodyPr wrap="square" lIns="0" tIns="0" rIns="0" bIns="0" rtlCol="0" anchor="t"/>
          <a:lstStyle/>
          <a:p>
            <a:pPr algn="l" indent="0" marL="0">
              <a:buNone/>
            </a:pPr>
            <a:r>
              <a:rPr lang="en-US" sz="950" dirty="0">
                <a:solidFill>
                  <a:srgbClr val="DDD6FE"/>
                </a:solidFill>
                <a:latin typeface="Aptos" pitchFamily="34" charset="0"/>
                <a:ea typeface="Aptos" pitchFamily="34" charset="-122"/>
                <a:cs typeface="Aptos" pitchFamily="34" charset="-120"/>
              </a:rPr>
              <a:t>Subject Matter Experts holding deep tribal knowledge</a:t>
            </a:r>
            <a:endParaRPr lang="en-US" sz="950" dirty="0"/>
          </a:p>
        </p:txBody>
      </p:sp>
      <p:sp>
        <p:nvSpPr>
          <p:cNvPr id="45" name="Shape 36"/>
          <p:cNvSpPr/>
          <p:nvPr/>
        </p:nvSpPr>
        <p:spPr>
          <a:xfrm>
            <a:off x="6711696" y="3474720"/>
            <a:ext cx="1975104" cy="1234440"/>
          </a:xfrm>
          <a:prstGeom prst="rect">
            <a:avLst/>
          </a:prstGeom>
          <a:solidFill>
            <a:srgbClr val="4C1D95"/>
          </a:solidFill>
          <a:ln/>
          <a:effectLst>
            <a:outerShdw sx="100000" sy="100000" kx="0" ky="0" algn="bl" rotWithShape="0" blurRad="152400" dist="25400" dir="5400000">
              <a:srgbClr val="5B21B6">
                <a:alpha val="10000"/>
              </a:srgbClr>
            </a:outerShdw>
          </a:effectLst>
        </p:spPr>
      </p:sp>
      <p:sp>
        <p:nvSpPr>
          <p:cNvPr id="46" name="Shape 37"/>
          <p:cNvSpPr/>
          <p:nvPr/>
        </p:nvSpPr>
        <p:spPr>
          <a:xfrm>
            <a:off x="6711696" y="3474720"/>
            <a:ext cx="1975104" cy="36576"/>
          </a:xfrm>
          <a:prstGeom prst="rect">
            <a:avLst/>
          </a:prstGeom>
          <a:solidFill>
            <a:srgbClr val="C026D3"/>
          </a:solidFill>
          <a:ln/>
        </p:spPr>
      </p:sp>
      <p:sp>
        <p:nvSpPr>
          <p:cNvPr id="47" name="Text 38"/>
          <p:cNvSpPr/>
          <p:nvPr/>
        </p:nvSpPr>
        <p:spPr>
          <a:xfrm>
            <a:off x="6848856" y="3566160"/>
            <a:ext cx="1700784"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Aptos Display" pitchFamily="34" charset="0"/>
                <a:ea typeface="Aptos Display" pitchFamily="34" charset="-122"/>
                <a:cs typeface="Aptos Display" pitchFamily="34" charset="-120"/>
              </a:rPr>
              <a:t>Months</a:t>
            </a:r>
            <a:endParaRPr lang="en-US" sz="2600" dirty="0"/>
          </a:p>
        </p:txBody>
      </p:sp>
      <p:sp>
        <p:nvSpPr>
          <p:cNvPr id="48" name="Text 39"/>
          <p:cNvSpPr/>
          <p:nvPr/>
        </p:nvSpPr>
        <p:spPr>
          <a:xfrm>
            <a:off x="6848856" y="4114800"/>
            <a:ext cx="1700784" cy="502920"/>
          </a:xfrm>
          <a:prstGeom prst="rect">
            <a:avLst/>
          </a:prstGeom>
          <a:noFill/>
          <a:ln/>
        </p:spPr>
        <p:txBody>
          <a:bodyPr wrap="square" lIns="0" tIns="0" rIns="0" bIns="0" rtlCol="0" anchor="t"/>
          <a:lstStyle/>
          <a:p>
            <a:pPr algn="l" indent="0" marL="0">
              <a:buNone/>
            </a:pPr>
            <a:r>
              <a:rPr lang="en-US" sz="950" dirty="0">
                <a:solidFill>
                  <a:srgbClr val="DDD6FE"/>
                </a:solidFill>
                <a:latin typeface="Aptos" pitchFamily="34" charset="0"/>
                <a:ea typeface="Aptos" pitchFamily="34" charset="-122"/>
                <a:cs typeface="Aptos" pitchFamily="34" charset="-120"/>
              </a:rPr>
              <a:t>Time required to onboard a new platform admin</a:t>
            </a:r>
            <a:endParaRPr lang="en-US" sz="950" dirty="0"/>
          </a:p>
        </p:txBody>
      </p:sp>
      <p:sp>
        <p:nvSpPr>
          <p:cNvPr id="49" name="Text 40"/>
          <p:cNvSpPr/>
          <p:nvPr/>
        </p:nvSpPr>
        <p:spPr>
          <a:xfrm>
            <a:off x="8412480" y="4846320"/>
            <a:ext cx="594360" cy="182880"/>
          </a:xfrm>
          <a:prstGeom prst="rect">
            <a:avLst/>
          </a:prstGeom>
          <a:noFill/>
          <a:ln/>
        </p:spPr>
        <p:txBody>
          <a:bodyPr wrap="square" lIns="0" tIns="0" rIns="0" bIns="0" rtlCol="0" anchor="ctr"/>
          <a:lstStyle/>
          <a:p>
            <a:pPr algn="r" indent="0" marL="0">
              <a:buNone/>
            </a:pPr>
            <a:r>
              <a:rPr lang="en-US" sz="800" spc="100" kern="0" dirty="0">
                <a:solidFill>
                  <a:srgbClr val="9CA3AF"/>
                </a:solidFill>
                <a:latin typeface="Aptos" pitchFamily="34" charset="0"/>
                <a:ea typeface="Aptos" pitchFamily="34" charset="-122"/>
                <a:cs typeface="Aptos" pitchFamily="34" charset="-120"/>
              </a:rPr>
              <a:t>3 / 7</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457200" y="292608"/>
            <a:ext cx="91440" cy="91440"/>
          </a:xfrm>
          <a:prstGeom prst="ellipse">
            <a:avLst/>
          </a:prstGeom>
          <a:solidFill>
            <a:srgbClr val="5B21B6"/>
          </a:solidFill>
          <a:ln/>
        </p:spPr>
      </p:sp>
      <p:sp>
        <p:nvSpPr>
          <p:cNvPr id="3" name="Text 1"/>
          <p:cNvSpPr/>
          <p:nvPr/>
        </p:nvSpPr>
        <p:spPr>
          <a:xfrm>
            <a:off x="603504" y="246888"/>
            <a:ext cx="4572000" cy="182880"/>
          </a:xfrm>
          <a:prstGeom prst="rect">
            <a:avLst/>
          </a:prstGeom>
          <a:noFill/>
          <a:ln/>
        </p:spPr>
        <p:txBody>
          <a:bodyPr wrap="square" lIns="0" tIns="0" rIns="0" bIns="0" rtlCol="0" anchor="ctr"/>
          <a:lstStyle/>
          <a:p>
            <a:pPr indent="0" marL="0">
              <a:buNone/>
            </a:pPr>
            <a:r>
              <a:rPr lang="en-US" sz="800" b="1" spc="500" kern="0" dirty="0">
                <a:solidFill>
                  <a:srgbClr val="6B7280"/>
                </a:solidFill>
                <a:latin typeface="Aptos" pitchFamily="34" charset="0"/>
                <a:ea typeface="Aptos" pitchFamily="34" charset="-122"/>
                <a:cs typeface="Aptos" pitchFamily="34" charset="-120"/>
              </a:rPr>
              <a:t>MQ &amp; ACE PLATFORM STORY</a:t>
            </a:r>
            <a:endParaRPr lang="en-US" sz="800" dirty="0"/>
          </a:p>
        </p:txBody>
      </p:sp>
      <p:sp>
        <p:nvSpPr>
          <p:cNvPr id="4" name="Text 2"/>
          <p:cNvSpPr/>
          <p:nvPr/>
        </p:nvSpPr>
        <p:spPr>
          <a:xfrm>
            <a:off x="457200" y="640080"/>
            <a:ext cx="8229600" cy="777240"/>
          </a:xfrm>
          <a:prstGeom prst="rect">
            <a:avLst/>
          </a:prstGeom>
          <a:noFill/>
          <a:ln/>
        </p:spPr>
        <p:txBody>
          <a:bodyPr wrap="square" lIns="0" tIns="0" rIns="0" bIns="0" rtlCol="0" anchor="t"/>
          <a:lstStyle/>
          <a:p>
            <a:pPr indent="0" marL="0">
              <a:buNone/>
            </a:pPr>
            <a:r>
              <a:rPr lang="en-US" sz="2200" b="1" dirty="0">
                <a:solidFill>
                  <a:srgbClr val="1F2937"/>
                </a:solidFill>
                <a:latin typeface="Aptos Display" pitchFamily="34" charset="0"/>
                <a:ea typeface="Aptos Display" pitchFamily="34" charset="-122"/>
                <a:cs typeface="Aptos Display" pitchFamily="34" charset="-120"/>
              </a:rPr>
              <a:t>Two years of in-house automation eliminated predictable manual toil</a:t>
            </a:r>
            <a:endParaRPr lang="en-US" sz="2200" dirty="0"/>
          </a:p>
        </p:txBody>
      </p:sp>
      <p:sp>
        <p:nvSpPr>
          <p:cNvPr id="5" name="Shape 3"/>
          <p:cNvSpPr/>
          <p:nvPr/>
        </p:nvSpPr>
        <p:spPr>
          <a:xfrm>
            <a:off x="4846320" y="1508760"/>
            <a:ext cx="1188720" cy="822960"/>
          </a:xfrm>
          <a:prstGeom prst="roundRect">
            <a:avLst>
              <a:gd name="adj" fmla="val 5556"/>
            </a:avLst>
          </a:prstGeom>
          <a:solidFill>
            <a:srgbClr val="FFFFFF"/>
          </a:solidFill>
          <a:ln w="9525">
            <a:solidFill>
              <a:srgbClr val="5B21B6"/>
            </a:solidFill>
            <a:prstDash val="solid"/>
          </a:ln>
          <a:effectLst>
            <a:outerShdw sx="100000" sy="100000" kx="0" ky="0" algn="bl" rotWithShape="0" blurRad="76200" dist="12700" dir="5400000">
              <a:srgbClr val="000000">
                <a:alpha val="8000"/>
              </a:srgbClr>
            </a:outerShdw>
          </a:effectLst>
        </p:spPr>
      </p:sp>
      <p:sp>
        <p:nvSpPr>
          <p:cNvPr id="6" name="Shape 4"/>
          <p:cNvSpPr/>
          <p:nvPr/>
        </p:nvSpPr>
        <p:spPr>
          <a:xfrm>
            <a:off x="4919472" y="1581912"/>
            <a:ext cx="1042416" cy="365760"/>
          </a:xfrm>
          <a:prstGeom prst="rect">
            <a:avLst/>
          </a:prstGeom>
          <a:solidFill>
            <a:srgbClr val="EDE9FE"/>
          </a:solidFill>
          <a:ln w="6350">
            <a:solidFill>
              <a:srgbClr val="A78BFA"/>
            </a:solidFill>
            <a:prstDash val="solid"/>
          </a:ln>
        </p:spPr>
      </p:sp>
      <p:sp>
        <p:nvSpPr>
          <p:cNvPr id="7" name="Shape 5"/>
          <p:cNvSpPr/>
          <p:nvPr/>
        </p:nvSpPr>
        <p:spPr>
          <a:xfrm>
            <a:off x="4974336" y="1874520"/>
            <a:ext cx="164592" cy="73152"/>
          </a:xfrm>
          <a:prstGeom prst="rect">
            <a:avLst/>
          </a:prstGeom>
          <a:solidFill>
            <a:srgbClr val="5B21B6"/>
          </a:solidFill>
          <a:ln/>
        </p:spPr>
      </p:sp>
      <p:sp>
        <p:nvSpPr>
          <p:cNvPr id="8" name="Shape 6"/>
          <p:cNvSpPr/>
          <p:nvPr/>
        </p:nvSpPr>
        <p:spPr>
          <a:xfrm>
            <a:off x="5193792" y="1828800"/>
            <a:ext cx="164592" cy="118872"/>
          </a:xfrm>
          <a:prstGeom prst="rect">
            <a:avLst/>
          </a:prstGeom>
          <a:solidFill>
            <a:srgbClr val="5B21B6"/>
          </a:solidFill>
          <a:ln/>
        </p:spPr>
      </p:sp>
      <p:sp>
        <p:nvSpPr>
          <p:cNvPr id="9" name="Shape 7"/>
          <p:cNvSpPr/>
          <p:nvPr/>
        </p:nvSpPr>
        <p:spPr>
          <a:xfrm>
            <a:off x="5413248" y="1783080"/>
            <a:ext cx="164592" cy="164592"/>
          </a:xfrm>
          <a:prstGeom prst="rect">
            <a:avLst/>
          </a:prstGeom>
          <a:solidFill>
            <a:srgbClr val="5B21B6"/>
          </a:solidFill>
          <a:ln/>
        </p:spPr>
      </p:sp>
      <p:sp>
        <p:nvSpPr>
          <p:cNvPr id="10" name="Shape 8"/>
          <p:cNvSpPr/>
          <p:nvPr/>
        </p:nvSpPr>
        <p:spPr>
          <a:xfrm>
            <a:off x="5632704" y="1737360"/>
            <a:ext cx="164592" cy="210312"/>
          </a:xfrm>
          <a:prstGeom prst="rect">
            <a:avLst/>
          </a:prstGeom>
          <a:solidFill>
            <a:srgbClr val="5B21B6"/>
          </a:solidFill>
          <a:ln/>
        </p:spPr>
      </p:sp>
      <p:sp>
        <p:nvSpPr>
          <p:cNvPr id="11" name="Text 9"/>
          <p:cNvSpPr/>
          <p:nvPr/>
        </p:nvSpPr>
        <p:spPr>
          <a:xfrm>
            <a:off x="4846320" y="1984248"/>
            <a:ext cx="1188720" cy="347472"/>
          </a:xfrm>
          <a:prstGeom prst="rect">
            <a:avLst/>
          </a:prstGeom>
          <a:noFill/>
          <a:ln/>
        </p:spPr>
        <p:txBody>
          <a:bodyPr wrap="square" lIns="0" tIns="0" rIns="0" bIns="0" rtlCol="0" anchor="ctr"/>
          <a:lstStyle/>
          <a:p>
            <a:pPr algn="ctr" indent="0" marL="0">
              <a:buNone/>
            </a:pPr>
            <a:r>
              <a:rPr lang="en-US" sz="900" b="1" dirty="0">
                <a:solidFill>
                  <a:srgbClr val="1F2937"/>
                </a:solidFill>
                <a:latin typeface="Aptos" pitchFamily="34" charset="0"/>
                <a:ea typeface="Aptos" pitchFamily="34" charset="-122"/>
                <a:cs typeface="Aptos" pitchFamily="34" charset="-120"/>
              </a:rPr>
              <a:t>Configuration</a:t>
            </a:r>
            <a:endParaRPr lang="en-US" sz="900" dirty="0"/>
          </a:p>
          <a:p>
            <a:pPr algn="ctr" indent="0" marL="0">
              <a:buNone/>
            </a:pPr>
            <a:r>
              <a:rPr lang="en-US" sz="900" b="1" dirty="0">
                <a:solidFill>
                  <a:srgbClr val="1F2937"/>
                </a:solidFill>
                <a:latin typeface="Aptos" pitchFamily="34" charset="0"/>
                <a:ea typeface="Aptos" pitchFamily="34" charset="-122"/>
                <a:cs typeface="Aptos" pitchFamily="34" charset="-120"/>
              </a:rPr>
              <a:t>Dashboard</a:t>
            </a:r>
            <a:endParaRPr lang="en-US" sz="900" dirty="0"/>
          </a:p>
        </p:txBody>
      </p:sp>
      <p:sp>
        <p:nvSpPr>
          <p:cNvPr id="12" name="Shape 10"/>
          <p:cNvSpPr/>
          <p:nvPr/>
        </p:nvSpPr>
        <p:spPr>
          <a:xfrm>
            <a:off x="6144768" y="1508760"/>
            <a:ext cx="1188720" cy="822960"/>
          </a:xfrm>
          <a:prstGeom prst="roundRect">
            <a:avLst>
              <a:gd name="adj" fmla="val 5556"/>
            </a:avLst>
          </a:prstGeom>
          <a:solidFill>
            <a:srgbClr val="FFFFFF"/>
          </a:solidFill>
          <a:ln w="9525">
            <a:solidFill>
              <a:srgbClr val="5B21B6"/>
            </a:solidFill>
            <a:prstDash val="solid"/>
          </a:ln>
          <a:effectLst>
            <a:outerShdw sx="100000" sy="100000" kx="0" ky="0" algn="bl" rotWithShape="0" blurRad="76200" dist="12700" dir="5400000">
              <a:srgbClr val="000000">
                <a:alpha val="8000"/>
              </a:srgbClr>
            </a:outerShdw>
          </a:effectLst>
        </p:spPr>
      </p:sp>
      <p:sp>
        <p:nvSpPr>
          <p:cNvPr id="13" name="Shape 11"/>
          <p:cNvSpPr/>
          <p:nvPr/>
        </p:nvSpPr>
        <p:spPr>
          <a:xfrm>
            <a:off x="6217920" y="1581912"/>
            <a:ext cx="1042416" cy="365760"/>
          </a:xfrm>
          <a:prstGeom prst="rect">
            <a:avLst/>
          </a:prstGeom>
          <a:solidFill>
            <a:srgbClr val="EDE9FE"/>
          </a:solidFill>
          <a:ln w="6350">
            <a:solidFill>
              <a:srgbClr val="A78BFA"/>
            </a:solidFill>
            <a:prstDash val="solid"/>
          </a:ln>
        </p:spPr>
      </p:sp>
      <p:sp>
        <p:nvSpPr>
          <p:cNvPr id="14" name="Shape 12"/>
          <p:cNvSpPr/>
          <p:nvPr/>
        </p:nvSpPr>
        <p:spPr>
          <a:xfrm>
            <a:off x="6272784" y="1874520"/>
            <a:ext cx="164592" cy="73152"/>
          </a:xfrm>
          <a:prstGeom prst="rect">
            <a:avLst/>
          </a:prstGeom>
          <a:solidFill>
            <a:srgbClr val="5B21B6"/>
          </a:solidFill>
          <a:ln/>
        </p:spPr>
      </p:sp>
      <p:sp>
        <p:nvSpPr>
          <p:cNvPr id="15" name="Shape 13"/>
          <p:cNvSpPr/>
          <p:nvPr/>
        </p:nvSpPr>
        <p:spPr>
          <a:xfrm>
            <a:off x="6492240" y="1828800"/>
            <a:ext cx="164592" cy="118872"/>
          </a:xfrm>
          <a:prstGeom prst="rect">
            <a:avLst/>
          </a:prstGeom>
          <a:solidFill>
            <a:srgbClr val="5B21B6"/>
          </a:solidFill>
          <a:ln/>
        </p:spPr>
      </p:sp>
      <p:sp>
        <p:nvSpPr>
          <p:cNvPr id="16" name="Shape 14"/>
          <p:cNvSpPr/>
          <p:nvPr/>
        </p:nvSpPr>
        <p:spPr>
          <a:xfrm>
            <a:off x="6711696" y="1783080"/>
            <a:ext cx="164592" cy="164592"/>
          </a:xfrm>
          <a:prstGeom prst="rect">
            <a:avLst/>
          </a:prstGeom>
          <a:solidFill>
            <a:srgbClr val="5B21B6"/>
          </a:solidFill>
          <a:ln/>
        </p:spPr>
      </p:sp>
      <p:sp>
        <p:nvSpPr>
          <p:cNvPr id="17" name="Shape 15"/>
          <p:cNvSpPr/>
          <p:nvPr/>
        </p:nvSpPr>
        <p:spPr>
          <a:xfrm>
            <a:off x="6931152" y="1737360"/>
            <a:ext cx="164592" cy="210312"/>
          </a:xfrm>
          <a:prstGeom prst="rect">
            <a:avLst/>
          </a:prstGeom>
          <a:solidFill>
            <a:srgbClr val="5B21B6"/>
          </a:solidFill>
          <a:ln/>
        </p:spPr>
      </p:sp>
      <p:sp>
        <p:nvSpPr>
          <p:cNvPr id="18" name="Text 16"/>
          <p:cNvSpPr/>
          <p:nvPr/>
        </p:nvSpPr>
        <p:spPr>
          <a:xfrm>
            <a:off x="6144768" y="1984248"/>
            <a:ext cx="1188720" cy="347472"/>
          </a:xfrm>
          <a:prstGeom prst="rect">
            <a:avLst/>
          </a:prstGeom>
          <a:noFill/>
          <a:ln/>
        </p:spPr>
        <p:txBody>
          <a:bodyPr wrap="square" lIns="0" tIns="0" rIns="0" bIns="0" rtlCol="0" anchor="ctr"/>
          <a:lstStyle/>
          <a:p>
            <a:pPr algn="ctr" indent="0" marL="0">
              <a:buNone/>
            </a:pPr>
            <a:r>
              <a:rPr lang="en-US" sz="900" b="1" dirty="0">
                <a:solidFill>
                  <a:srgbClr val="1F2937"/>
                </a:solidFill>
                <a:latin typeface="Aptos" pitchFamily="34" charset="0"/>
                <a:ea typeface="Aptos" pitchFamily="34" charset="-122"/>
                <a:cs typeface="Aptos" pitchFamily="34" charset="-120"/>
              </a:rPr>
              <a:t>Monitor</a:t>
            </a:r>
            <a:endParaRPr lang="en-US" sz="900" dirty="0"/>
          </a:p>
          <a:p>
            <a:pPr algn="ctr" indent="0" marL="0">
              <a:buNone/>
            </a:pPr>
            <a:r>
              <a:rPr lang="en-US" sz="900" b="1" dirty="0">
                <a:solidFill>
                  <a:srgbClr val="1F2937"/>
                </a:solidFill>
                <a:latin typeface="Aptos" pitchFamily="34" charset="0"/>
                <a:ea typeface="Aptos" pitchFamily="34" charset="-122"/>
                <a:cs typeface="Aptos" pitchFamily="34" charset="-120"/>
              </a:rPr>
              <a:t>Dashboard</a:t>
            </a:r>
            <a:endParaRPr lang="en-US" sz="900" dirty="0"/>
          </a:p>
        </p:txBody>
      </p:sp>
      <p:sp>
        <p:nvSpPr>
          <p:cNvPr id="19" name="Shape 17"/>
          <p:cNvSpPr/>
          <p:nvPr/>
        </p:nvSpPr>
        <p:spPr>
          <a:xfrm>
            <a:off x="7443216" y="1508760"/>
            <a:ext cx="1188720" cy="822960"/>
          </a:xfrm>
          <a:prstGeom prst="roundRect">
            <a:avLst>
              <a:gd name="adj" fmla="val 5556"/>
            </a:avLst>
          </a:prstGeom>
          <a:solidFill>
            <a:srgbClr val="FFFFFF"/>
          </a:solidFill>
          <a:ln w="9525">
            <a:solidFill>
              <a:srgbClr val="5B21B6"/>
            </a:solidFill>
            <a:prstDash val="solid"/>
          </a:ln>
          <a:effectLst>
            <a:outerShdw sx="100000" sy="100000" kx="0" ky="0" algn="bl" rotWithShape="0" blurRad="76200" dist="12700" dir="5400000">
              <a:srgbClr val="000000">
                <a:alpha val="8000"/>
              </a:srgbClr>
            </a:outerShdw>
          </a:effectLst>
        </p:spPr>
      </p:sp>
      <p:sp>
        <p:nvSpPr>
          <p:cNvPr id="20" name="Shape 18"/>
          <p:cNvSpPr/>
          <p:nvPr/>
        </p:nvSpPr>
        <p:spPr>
          <a:xfrm>
            <a:off x="7516368" y="1581912"/>
            <a:ext cx="1042416" cy="365760"/>
          </a:xfrm>
          <a:prstGeom prst="rect">
            <a:avLst/>
          </a:prstGeom>
          <a:solidFill>
            <a:srgbClr val="EDE9FE"/>
          </a:solidFill>
          <a:ln w="6350">
            <a:solidFill>
              <a:srgbClr val="A78BFA"/>
            </a:solidFill>
            <a:prstDash val="solid"/>
          </a:ln>
        </p:spPr>
      </p:sp>
      <p:sp>
        <p:nvSpPr>
          <p:cNvPr id="21" name="Shape 19"/>
          <p:cNvSpPr/>
          <p:nvPr/>
        </p:nvSpPr>
        <p:spPr>
          <a:xfrm>
            <a:off x="7571232" y="1874520"/>
            <a:ext cx="164592" cy="73152"/>
          </a:xfrm>
          <a:prstGeom prst="rect">
            <a:avLst/>
          </a:prstGeom>
          <a:solidFill>
            <a:srgbClr val="5B21B6"/>
          </a:solidFill>
          <a:ln/>
        </p:spPr>
      </p:sp>
      <p:sp>
        <p:nvSpPr>
          <p:cNvPr id="22" name="Shape 20"/>
          <p:cNvSpPr/>
          <p:nvPr/>
        </p:nvSpPr>
        <p:spPr>
          <a:xfrm>
            <a:off x="7790688" y="1828800"/>
            <a:ext cx="164592" cy="118872"/>
          </a:xfrm>
          <a:prstGeom prst="rect">
            <a:avLst/>
          </a:prstGeom>
          <a:solidFill>
            <a:srgbClr val="5B21B6"/>
          </a:solidFill>
          <a:ln/>
        </p:spPr>
      </p:sp>
      <p:sp>
        <p:nvSpPr>
          <p:cNvPr id="23" name="Shape 21"/>
          <p:cNvSpPr/>
          <p:nvPr/>
        </p:nvSpPr>
        <p:spPr>
          <a:xfrm>
            <a:off x="8010144" y="1783080"/>
            <a:ext cx="164592" cy="164592"/>
          </a:xfrm>
          <a:prstGeom prst="rect">
            <a:avLst/>
          </a:prstGeom>
          <a:solidFill>
            <a:srgbClr val="5B21B6"/>
          </a:solidFill>
          <a:ln/>
        </p:spPr>
      </p:sp>
      <p:sp>
        <p:nvSpPr>
          <p:cNvPr id="24" name="Shape 22"/>
          <p:cNvSpPr/>
          <p:nvPr/>
        </p:nvSpPr>
        <p:spPr>
          <a:xfrm>
            <a:off x="8229600" y="1737360"/>
            <a:ext cx="164592" cy="210312"/>
          </a:xfrm>
          <a:prstGeom prst="rect">
            <a:avLst/>
          </a:prstGeom>
          <a:solidFill>
            <a:srgbClr val="5B21B6"/>
          </a:solidFill>
          <a:ln/>
        </p:spPr>
      </p:sp>
      <p:sp>
        <p:nvSpPr>
          <p:cNvPr id="25" name="Text 23"/>
          <p:cNvSpPr/>
          <p:nvPr/>
        </p:nvSpPr>
        <p:spPr>
          <a:xfrm>
            <a:off x="7443216" y="1984248"/>
            <a:ext cx="1188720" cy="347472"/>
          </a:xfrm>
          <a:prstGeom prst="rect">
            <a:avLst/>
          </a:prstGeom>
          <a:noFill/>
          <a:ln/>
        </p:spPr>
        <p:txBody>
          <a:bodyPr wrap="square" lIns="0" tIns="0" rIns="0" bIns="0" rtlCol="0" anchor="ctr"/>
          <a:lstStyle/>
          <a:p>
            <a:pPr algn="ctr" indent="0" marL="0">
              <a:buNone/>
            </a:pPr>
            <a:r>
              <a:rPr lang="en-US" sz="900" b="1" dirty="0">
                <a:solidFill>
                  <a:srgbClr val="1F2937"/>
                </a:solidFill>
                <a:latin typeface="Aptos" pitchFamily="34" charset="0"/>
                <a:ea typeface="Aptos" pitchFamily="34" charset="-122"/>
                <a:cs typeface="Aptos" pitchFamily="34" charset="-120"/>
              </a:rPr>
              <a:t>Auto-</a:t>
            </a:r>
            <a:endParaRPr lang="en-US" sz="900" dirty="0"/>
          </a:p>
          <a:p>
            <a:pPr algn="ctr" indent="0" marL="0">
              <a:buNone/>
            </a:pPr>
            <a:r>
              <a:rPr lang="en-US" sz="900" b="1" dirty="0">
                <a:solidFill>
                  <a:srgbClr val="1F2937"/>
                </a:solidFill>
                <a:latin typeface="Aptos" pitchFamily="34" charset="0"/>
                <a:ea typeface="Aptos" pitchFamily="34" charset="-122"/>
                <a:cs typeface="Aptos" pitchFamily="34" charset="-120"/>
              </a:rPr>
              <a:t>Certification</a:t>
            </a:r>
            <a:endParaRPr lang="en-US" sz="900" dirty="0"/>
          </a:p>
        </p:txBody>
      </p:sp>
      <p:pic>
        <p:nvPicPr>
          <p:cNvPr id="26" name="Image 0" descr="preencoded.png">    </p:cNvPr>
          <p:cNvPicPr>
            <a:picLocks noChangeAspect="1"/>
          </p:cNvPicPr>
          <p:nvPr/>
        </p:nvPicPr>
        <p:blipFill>
          <a:blip r:embed="rId1"/>
          <a:stretch>
            <a:fillRect/>
          </a:stretch>
        </p:blipFill>
        <p:spPr>
          <a:xfrm>
            <a:off x="502920" y="3227832"/>
            <a:ext cx="2080260" cy="1129284"/>
          </a:xfrm>
          <a:prstGeom prst="rect">
            <a:avLst/>
          </a:prstGeom>
        </p:spPr>
      </p:pic>
      <p:sp>
        <p:nvSpPr>
          <p:cNvPr id="27" name="Text 24"/>
          <p:cNvSpPr/>
          <p:nvPr/>
        </p:nvSpPr>
        <p:spPr>
          <a:xfrm>
            <a:off x="649224" y="3520440"/>
            <a:ext cx="1490472" cy="228600"/>
          </a:xfrm>
          <a:prstGeom prst="rect">
            <a:avLst/>
          </a:prstGeom>
          <a:noFill/>
          <a:ln/>
        </p:spPr>
        <p:txBody>
          <a:bodyPr wrap="square" lIns="0" tIns="0" rIns="0" bIns="0" rtlCol="0" anchor="ctr"/>
          <a:lstStyle/>
          <a:p>
            <a:pPr indent="0" marL="0">
              <a:buNone/>
            </a:pPr>
            <a:r>
              <a:rPr lang="en-US" sz="1000" b="1" spc="300" kern="0" dirty="0">
                <a:solidFill>
                  <a:srgbClr val="DDD6FE"/>
                </a:solidFill>
                <a:latin typeface="Aptos" pitchFamily="34" charset="0"/>
                <a:ea typeface="Aptos" pitchFamily="34" charset="-122"/>
                <a:cs typeface="Aptos" pitchFamily="34" charset="-120"/>
              </a:rPr>
              <a:t>Pre-2024</a:t>
            </a:r>
            <a:endParaRPr lang="en-US" sz="1000" dirty="0"/>
          </a:p>
        </p:txBody>
      </p:sp>
      <p:sp>
        <p:nvSpPr>
          <p:cNvPr id="28" name="Text 25"/>
          <p:cNvSpPr/>
          <p:nvPr/>
        </p:nvSpPr>
        <p:spPr>
          <a:xfrm>
            <a:off x="502920" y="3749040"/>
            <a:ext cx="1783080" cy="685800"/>
          </a:xfrm>
          <a:prstGeom prst="rect">
            <a:avLst/>
          </a:prstGeom>
          <a:noFill/>
          <a:ln/>
        </p:spPr>
        <p:txBody>
          <a:bodyPr wrap="square" lIns="0" tIns="0" rIns="0" bIns="0" rtlCol="0" anchor="ctr"/>
          <a:lstStyle/>
          <a:p>
            <a:pPr algn="ctr" indent="0" marL="0">
              <a:buNone/>
            </a:pPr>
            <a:r>
              <a:rPr lang="en-US" sz="6000" b="1" dirty="0">
                <a:solidFill>
                  <a:srgbClr val="FFFFFF"/>
                </a:solidFill>
                <a:latin typeface="Aptos Display" pitchFamily="34" charset="0"/>
                <a:ea typeface="Aptos Display" pitchFamily="34" charset="-122"/>
                <a:cs typeface="Aptos Display" pitchFamily="34" charset="-120"/>
              </a:rPr>
              <a:t>0</a:t>
            </a:r>
            <a:endParaRPr lang="en-US" sz="6000" dirty="0"/>
          </a:p>
        </p:txBody>
      </p:sp>
      <p:sp>
        <p:nvSpPr>
          <p:cNvPr id="29" name="Text 26"/>
          <p:cNvSpPr/>
          <p:nvPr/>
        </p:nvSpPr>
        <p:spPr>
          <a:xfrm>
            <a:off x="502920" y="4663440"/>
            <a:ext cx="1783080" cy="228600"/>
          </a:xfrm>
          <a:prstGeom prst="rect">
            <a:avLst/>
          </a:prstGeom>
          <a:noFill/>
          <a:ln/>
        </p:spPr>
        <p:txBody>
          <a:bodyPr wrap="square" lIns="0" tIns="0" rIns="0" bIns="0" rtlCol="0" anchor="ctr"/>
          <a:lstStyle/>
          <a:p>
            <a:pPr algn="ctr" indent="0" marL="0">
              <a:buNone/>
            </a:pPr>
            <a:r>
              <a:rPr lang="en-US" sz="1100" i="1" dirty="0">
                <a:solidFill>
                  <a:srgbClr val="4C1D95"/>
                </a:solidFill>
                <a:latin typeface="Aptos" pitchFamily="34" charset="0"/>
                <a:ea typeface="Aptos" pitchFamily="34" charset="-122"/>
                <a:cs typeface="Aptos" pitchFamily="34" charset="-120"/>
              </a:rPr>
              <a:t>automations</a:t>
            </a:r>
            <a:endParaRPr lang="en-US" sz="1100" dirty="0"/>
          </a:p>
        </p:txBody>
      </p:sp>
      <p:pic>
        <p:nvPicPr>
          <p:cNvPr id="30" name="Image 1" descr="preencoded.png">    </p:cNvPr>
          <p:cNvPicPr>
            <a:picLocks noChangeAspect="1"/>
          </p:cNvPicPr>
          <p:nvPr/>
        </p:nvPicPr>
        <p:blipFill>
          <a:blip r:embed="rId2"/>
          <a:stretch>
            <a:fillRect/>
          </a:stretch>
        </p:blipFill>
        <p:spPr>
          <a:xfrm>
            <a:off x="2542032" y="2770632"/>
            <a:ext cx="2080260" cy="1500759"/>
          </a:xfrm>
          <a:prstGeom prst="rect">
            <a:avLst/>
          </a:prstGeom>
        </p:spPr>
      </p:pic>
      <p:sp>
        <p:nvSpPr>
          <p:cNvPr id="31" name="Text 27"/>
          <p:cNvSpPr/>
          <p:nvPr/>
        </p:nvSpPr>
        <p:spPr>
          <a:xfrm>
            <a:off x="2688336" y="3063240"/>
            <a:ext cx="1490472" cy="228600"/>
          </a:xfrm>
          <a:prstGeom prst="rect">
            <a:avLst/>
          </a:prstGeom>
          <a:noFill/>
          <a:ln/>
        </p:spPr>
        <p:txBody>
          <a:bodyPr wrap="square" lIns="0" tIns="0" rIns="0" bIns="0" rtlCol="0" anchor="ctr"/>
          <a:lstStyle/>
          <a:p>
            <a:pPr indent="0" marL="0">
              <a:buNone/>
            </a:pPr>
            <a:r>
              <a:rPr lang="en-US" sz="1000" b="1" spc="300" kern="0" dirty="0">
                <a:solidFill>
                  <a:srgbClr val="DDD6FE"/>
                </a:solidFill>
                <a:latin typeface="Aptos" pitchFamily="34" charset="0"/>
                <a:ea typeface="Aptos" pitchFamily="34" charset="-122"/>
                <a:cs typeface="Aptos" pitchFamily="34" charset="-120"/>
              </a:rPr>
              <a:t>2024</a:t>
            </a:r>
            <a:endParaRPr lang="en-US" sz="1000" dirty="0"/>
          </a:p>
        </p:txBody>
      </p:sp>
      <p:sp>
        <p:nvSpPr>
          <p:cNvPr id="32" name="Text 28"/>
          <p:cNvSpPr/>
          <p:nvPr/>
        </p:nvSpPr>
        <p:spPr>
          <a:xfrm>
            <a:off x="2542032" y="3291840"/>
            <a:ext cx="1783080" cy="1143000"/>
          </a:xfrm>
          <a:prstGeom prst="rect">
            <a:avLst/>
          </a:prstGeom>
          <a:noFill/>
          <a:ln/>
        </p:spPr>
        <p:txBody>
          <a:bodyPr wrap="square" lIns="0" tIns="0" rIns="0" bIns="0" rtlCol="0" anchor="ctr"/>
          <a:lstStyle/>
          <a:p>
            <a:pPr algn="ctr" indent="0" marL="0">
              <a:buNone/>
            </a:pPr>
            <a:r>
              <a:rPr lang="en-US" sz="6000" b="1" dirty="0">
                <a:solidFill>
                  <a:srgbClr val="FFFFFF"/>
                </a:solidFill>
                <a:latin typeface="Aptos Display" pitchFamily="34" charset="0"/>
                <a:ea typeface="Aptos Display" pitchFamily="34" charset="-122"/>
                <a:cs typeface="Aptos Display" pitchFamily="34" charset="-120"/>
              </a:rPr>
              <a:t>9</a:t>
            </a:r>
            <a:endParaRPr lang="en-US" sz="6000" dirty="0"/>
          </a:p>
        </p:txBody>
      </p:sp>
      <p:sp>
        <p:nvSpPr>
          <p:cNvPr id="33" name="Text 29"/>
          <p:cNvSpPr/>
          <p:nvPr/>
        </p:nvSpPr>
        <p:spPr>
          <a:xfrm>
            <a:off x="2542032" y="4663440"/>
            <a:ext cx="1783080" cy="228600"/>
          </a:xfrm>
          <a:prstGeom prst="rect">
            <a:avLst/>
          </a:prstGeom>
          <a:noFill/>
          <a:ln/>
        </p:spPr>
        <p:txBody>
          <a:bodyPr wrap="square" lIns="0" tIns="0" rIns="0" bIns="0" rtlCol="0" anchor="ctr"/>
          <a:lstStyle/>
          <a:p>
            <a:pPr algn="ctr" indent="0" marL="0">
              <a:buNone/>
            </a:pPr>
            <a:r>
              <a:rPr lang="en-US" sz="1100" i="1" dirty="0">
                <a:solidFill>
                  <a:srgbClr val="4C1D95"/>
                </a:solidFill>
                <a:latin typeface="Aptos" pitchFamily="34" charset="0"/>
                <a:ea typeface="Aptos" pitchFamily="34" charset="-122"/>
                <a:cs typeface="Aptos" pitchFamily="34" charset="-120"/>
              </a:rPr>
              <a:t>automations</a:t>
            </a:r>
            <a:endParaRPr lang="en-US" sz="1100" dirty="0"/>
          </a:p>
        </p:txBody>
      </p:sp>
      <p:pic>
        <p:nvPicPr>
          <p:cNvPr id="34" name="Image 2" descr="preencoded.png">    </p:cNvPr>
          <p:cNvPicPr>
            <a:picLocks noChangeAspect="1"/>
          </p:cNvPicPr>
          <p:nvPr/>
        </p:nvPicPr>
        <p:blipFill>
          <a:blip r:embed="rId3"/>
          <a:stretch>
            <a:fillRect/>
          </a:stretch>
        </p:blipFill>
        <p:spPr>
          <a:xfrm>
            <a:off x="4581144" y="2221992"/>
            <a:ext cx="2080260" cy="1946529"/>
          </a:xfrm>
          <a:prstGeom prst="rect">
            <a:avLst/>
          </a:prstGeom>
        </p:spPr>
      </p:pic>
      <p:sp>
        <p:nvSpPr>
          <p:cNvPr id="35" name="Text 30"/>
          <p:cNvSpPr/>
          <p:nvPr/>
        </p:nvSpPr>
        <p:spPr>
          <a:xfrm>
            <a:off x="4727448" y="2514600"/>
            <a:ext cx="1490472" cy="228600"/>
          </a:xfrm>
          <a:prstGeom prst="rect">
            <a:avLst/>
          </a:prstGeom>
          <a:noFill/>
          <a:ln/>
        </p:spPr>
        <p:txBody>
          <a:bodyPr wrap="square" lIns="0" tIns="0" rIns="0" bIns="0" rtlCol="0" anchor="ctr"/>
          <a:lstStyle/>
          <a:p>
            <a:pPr indent="0" marL="0">
              <a:buNone/>
            </a:pPr>
            <a:r>
              <a:rPr lang="en-US" sz="1000" b="1" spc="300" kern="0" dirty="0">
                <a:solidFill>
                  <a:srgbClr val="DDD6FE"/>
                </a:solidFill>
                <a:latin typeface="Aptos" pitchFamily="34" charset="0"/>
                <a:ea typeface="Aptos" pitchFamily="34" charset="-122"/>
                <a:cs typeface="Aptos" pitchFamily="34" charset="-120"/>
              </a:rPr>
              <a:t>2025</a:t>
            </a:r>
            <a:endParaRPr lang="en-US" sz="1000" dirty="0"/>
          </a:p>
        </p:txBody>
      </p:sp>
      <p:sp>
        <p:nvSpPr>
          <p:cNvPr id="36" name="Text 31"/>
          <p:cNvSpPr/>
          <p:nvPr/>
        </p:nvSpPr>
        <p:spPr>
          <a:xfrm>
            <a:off x="4581144" y="2743200"/>
            <a:ext cx="1783080" cy="1691640"/>
          </a:xfrm>
          <a:prstGeom prst="rect">
            <a:avLst/>
          </a:prstGeom>
          <a:noFill/>
          <a:ln/>
        </p:spPr>
        <p:txBody>
          <a:bodyPr wrap="square" lIns="0" tIns="0" rIns="0" bIns="0" rtlCol="0" anchor="ctr"/>
          <a:lstStyle/>
          <a:p>
            <a:pPr algn="ctr" indent="0" marL="0">
              <a:buNone/>
            </a:pPr>
            <a:r>
              <a:rPr lang="en-US" sz="6000" b="1" dirty="0">
                <a:solidFill>
                  <a:srgbClr val="FFFFFF"/>
                </a:solidFill>
                <a:latin typeface="Aptos Display" pitchFamily="34" charset="0"/>
                <a:ea typeface="Aptos Display" pitchFamily="34" charset="-122"/>
                <a:cs typeface="Aptos Display" pitchFamily="34" charset="-120"/>
              </a:rPr>
              <a:t>13</a:t>
            </a:r>
            <a:endParaRPr lang="en-US" sz="6000" dirty="0"/>
          </a:p>
        </p:txBody>
      </p:sp>
      <p:sp>
        <p:nvSpPr>
          <p:cNvPr id="37" name="Text 32"/>
          <p:cNvSpPr/>
          <p:nvPr/>
        </p:nvSpPr>
        <p:spPr>
          <a:xfrm>
            <a:off x="4581144" y="4663440"/>
            <a:ext cx="1783080" cy="228600"/>
          </a:xfrm>
          <a:prstGeom prst="rect">
            <a:avLst/>
          </a:prstGeom>
          <a:noFill/>
          <a:ln/>
        </p:spPr>
        <p:txBody>
          <a:bodyPr wrap="square" lIns="0" tIns="0" rIns="0" bIns="0" rtlCol="0" anchor="ctr"/>
          <a:lstStyle/>
          <a:p>
            <a:pPr algn="ctr" indent="0" marL="0">
              <a:buNone/>
            </a:pPr>
            <a:r>
              <a:rPr lang="en-US" sz="1100" i="1" dirty="0">
                <a:solidFill>
                  <a:srgbClr val="4C1D95"/>
                </a:solidFill>
                <a:latin typeface="Aptos" pitchFamily="34" charset="0"/>
                <a:ea typeface="Aptos" pitchFamily="34" charset="-122"/>
                <a:cs typeface="Aptos" pitchFamily="34" charset="-120"/>
              </a:rPr>
              <a:t>automations</a:t>
            </a:r>
            <a:endParaRPr lang="en-US" sz="1100" dirty="0"/>
          </a:p>
        </p:txBody>
      </p:sp>
      <p:sp>
        <p:nvSpPr>
          <p:cNvPr id="38" name="Shape 33"/>
          <p:cNvSpPr/>
          <p:nvPr/>
        </p:nvSpPr>
        <p:spPr>
          <a:xfrm>
            <a:off x="365760" y="4617720"/>
            <a:ext cx="5943600" cy="0"/>
          </a:xfrm>
          <a:prstGeom prst="line">
            <a:avLst/>
          </a:prstGeom>
          <a:noFill/>
          <a:ln w="9525">
            <a:solidFill>
              <a:srgbClr val="A78BFA"/>
            </a:solidFill>
            <a:prstDash val="solid"/>
          </a:ln>
        </p:spPr>
      </p:sp>
      <p:sp>
        <p:nvSpPr>
          <p:cNvPr id="39" name="Text 34"/>
          <p:cNvSpPr/>
          <p:nvPr/>
        </p:nvSpPr>
        <p:spPr>
          <a:xfrm>
            <a:off x="8412480" y="4846320"/>
            <a:ext cx="594360" cy="182880"/>
          </a:xfrm>
          <a:prstGeom prst="rect">
            <a:avLst/>
          </a:prstGeom>
          <a:noFill/>
          <a:ln/>
        </p:spPr>
        <p:txBody>
          <a:bodyPr wrap="square" lIns="0" tIns="0" rIns="0" bIns="0" rtlCol="0" anchor="ctr"/>
          <a:lstStyle/>
          <a:p>
            <a:pPr algn="r" indent="0" marL="0">
              <a:buNone/>
            </a:pPr>
            <a:r>
              <a:rPr lang="en-US" sz="800" spc="100" kern="0" dirty="0">
                <a:solidFill>
                  <a:srgbClr val="9CA3AF"/>
                </a:solidFill>
                <a:latin typeface="Aptos" pitchFamily="34" charset="0"/>
                <a:ea typeface="Aptos" pitchFamily="34" charset="-122"/>
                <a:cs typeface="Aptos" pitchFamily="34" charset="-120"/>
              </a:rPr>
              <a:t>4 / 7</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457200" y="292608"/>
            <a:ext cx="91440" cy="91440"/>
          </a:xfrm>
          <a:prstGeom prst="ellipse">
            <a:avLst/>
          </a:prstGeom>
          <a:solidFill>
            <a:srgbClr val="5B21B6"/>
          </a:solidFill>
          <a:ln/>
        </p:spPr>
      </p:sp>
      <p:sp>
        <p:nvSpPr>
          <p:cNvPr id="3" name="Text 1"/>
          <p:cNvSpPr/>
          <p:nvPr/>
        </p:nvSpPr>
        <p:spPr>
          <a:xfrm>
            <a:off x="603504" y="246888"/>
            <a:ext cx="4572000" cy="182880"/>
          </a:xfrm>
          <a:prstGeom prst="rect">
            <a:avLst/>
          </a:prstGeom>
          <a:noFill/>
          <a:ln/>
        </p:spPr>
        <p:txBody>
          <a:bodyPr wrap="square" lIns="0" tIns="0" rIns="0" bIns="0" rtlCol="0" anchor="ctr"/>
          <a:lstStyle/>
          <a:p>
            <a:pPr indent="0" marL="0">
              <a:buNone/>
            </a:pPr>
            <a:r>
              <a:rPr lang="en-US" sz="800" b="1" spc="500" kern="0" dirty="0">
                <a:solidFill>
                  <a:srgbClr val="6B7280"/>
                </a:solidFill>
                <a:latin typeface="Aptos" pitchFamily="34" charset="0"/>
                <a:ea typeface="Aptos" pitchFamily="34" charset="-122"/>
                <a:cs typeface="Aptos" pitchFamily="34" charset="-120"/>
              </a:rPr>
              <a:t>MQ &amp; ACE PLATFORM STORY</a:t>
            </a:r>
            <a:endParaRPr lang="en-US" sz="800" dirty="0"/>
          </a:p>
        </p:txBody>
      </p:sp>
      <p:sp>
        <p:nvSpPr>
          <p:cNvPr id="4" name="Text 2"/>
          <p:cNvSpPr/>
          <p:nvPr/>
        </p:nvSpPr>
        <p:spPr>
          <a:xfrm>
            <a:off x="457200" y="640080"/>
            <a:ext cx="8229600" cy="777240"/>
          </a:xfrm>
          <a:prstGeom prst="rect">
            <a:avLst/>
          </a:prstGeom>
          <a:noFill/>
          <a:ln/>
        </p:spPr>
        <p:txBody>
          <a:bodyPr wrap="square" lIns="0" tIns="0" rIns="0" bIns="0" rtlCol="0" anchor="t"/>
          <a:lstStyle/>
          <a:p>
            <a:pPr indent="0" marL="0">
              <a:buNone/>
            </a:pPr>
            <a:r>
              <a:rPr lang="en-US" sz="2200" b="1" dirty="0">
                <a:solidFill>
                  <a:srgbClr val="1F2937"/>
                </a:solidFill>
                <a:latin typeface="Aptos Display" pitchFamily="34" charset="0"/>
                <a:ea typeface="Aptos Display" pitchFamily="34" charset="-122"/>
                <a:cs typeface="Aptos Display" pitchFamily="34" charset="-120"/>
              </a:rPr>
              <a:t>Observability answers what we scripted, but Agentic AI answers what we didn't</a:t>
            </a:r>
            <a:endParaRPr lang="en-US" sz="2200" dirty="0"/>
          </a:p>
        </p:txBody>
      </p:sp>
      <p:pic>
        <p:nvPicPr>
          <p:cNvPr id="5" name="Image 0" descr="preencoded.png">    </p:cNvPr>
          <p:cNvPicPr>
            <a:picLocks noChangeAspect="1"/>
          </p:cNvPicPr>
          <p:nvPr/>
        </p:nvPicPr>
        <p:blipFill>
          <a:blip r:embed="rId1"/>
          <a:stretch>
            <a:fillRect/>
          </a:stretch>
        </p:blipFill>
        <p:spPr>
          <a:xfrm>
            <a:off x="731520" y="3602736"/>
            <a:ext cx="3913632" cy="923544"/>
          </a:xfrm>
          <a:prstGeom prst="rect">
            <a:avLst/>
          </a:prstGeom>
        </p:spPr>
      </p:pic>
      <p:sp>
        <p:nvSpPr>
          <p:cNvPr id="6" name="Text 3"/>
          <p:cNvSpPr/>
          <p:nvPr/>
        </p:nvSpPr>
        <p:spPr>
          <a:xfrm>
            <a:off x="731520" y="3749040"/>
            <a:ext cx="365760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 The Estate</a:t>
            </a:r>
            <a:endParaRPr lang="en-US" sz="1100" dirty="0"/>
          </a:p>
        </p:txBody>
      </p:sp>
      <p:pic>
        <p:nvPicPr>
          <p:cNvPr id="7" name="Image 1" descr="preencoded.png">    </p:cNvPr>
          <p:cNvPicPr>
            <a:picLocks noChangeAspect="1"/>
          </p:cNvPicPr>
          <p:nvPr/>
        </p:nvPicPr>
        <p:blipFill>
          <a:blip r:embed="rId2"/>
          <a:stretch>
            <a:fillRect/>
          </a:stretch>
        </p:blipFill>
        <p:spPr>
          <a:xfrm>
            <a:off x="1005840" y="2779776"/>
            <a:ext cx="3364992" cy="923544"/>
          </a:xfrm>
          <a:prstGeom prst="rect">
            <a:avLst/>
          </a:prstGeom>
        </p:spPr>
      </p:pic>
      <p:sp>
        <p:nvSpPr>
          <p:cNvPr id="8" name="Text 4"/>
          <p:cNvSpPr/>
          <p:nvPr/>
        </p:nvSpPr>
        <p:spPr>
          <a:xfrm>
            <a:off x="1005840" y="2926080"/>
            <a:ext cx="310896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 Observability</a:t>
            </a:r>
            <a:endParaRPr lang="en-US" sz="1100" dirty="0"/>
          </a:p>
        </p:txBody>
      </p:sp>
      <p:pic>
        <p:nvPicPr>
          <p:cNvPr id="9" name="Image 2" descr="preencoded.png">    </p:cNvPr>
          <p:cNvPicPr>
            <a:picLocks noChangeAspect="1"/>
          </p:cNvPicPr>
          <p:nvPr/>
        </p:nvPicPr>
        <p:blipFill>
          <a:blip r:embed="rId3"/>
          <a:stretch>
            <a:fillRect/>
          </a:stretch>
        </p:blipFill>
        <p:spPr>
          <a:xfrm>
            <a:off x="1280160" y="1956816"/>
            <a:ext cx="2816352" cy="923544"/>
          </a:xfrm>
          <a:prstGeom prst="rect">
            <a:avLst/>
          </a:prstGeom>
        </p:spPr>
      </p:pic>
      <p:sp>
        <p:nvSpPr>
          <p:cNvPr id="10" name="Text 5"/>
          <p:cNvSpPr/>
          <p:nvPr/>
        </p:nvSpPr>
        <p:spPr>
          <a:xfrm>
            <a:off x="1280160" y="2103120"/>
            <a:ext cx="256032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 Self-Healing</a:t>
            </a:r>
            <a:endParaRPr lang="en-US" sz="1100" dirty="0"/>
          </a:p>
        </p:txBody>
      </p:sp>
      <p:pic>
        <p:nvPicPr>
          <p:cNvPr id="11" name="Image 3" descr="preencoded.png">    </p:cNvPr>
          <p:cNvPicPr>
            <a:picLocks noChangeAspect="1"/>
          </p:cNvPicPr>
          <p:nvPr/>
        </p:nvPicPr>
        <p:blipFill>
          <a:blip r:embed="rId4"/>
          <a:stretch>
            <a:fillRect/>
          </a:stretch>
        </p:blipFill>
        <p:spPr>
          <a:xfrm>
            <a:off x="1600200" y="1133856"/>
            <a:ext cx="2176272" cy="923544"/>
          </a:xfrm>
          <a:prstGeom prst="rect">
            <a:avLst/>
          </a:prstGeom>
        </p:spPr>
      </p:pic>
      <p:sp>
        <p:nvSpPr>
          <p:cNvPr id="12" name="Text 6"/>
          <p:cNvSpPr/>
          <p:nvPr/>
        </p:nvSpPr>
        <p:spPr>
          <a:xfrm>
            <a:off x="1600200" y="1280160"/>
            <a:ext cx="192024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 Agentic AI Self-Service</a:t>
            </a:r>
            <a:endParaRPr lang="en-US" sz="1100" dirty="0"/>
          </a:p>
        </p:txBody>
      </p:sp>
      <p:sp>
        <p:nvSpPr>
          <p:cNvPr id="13" name="Shape 7"/>
          <p:cNvSpPr/>
          <p:nvPr/>
        </p:nvSpPr>
        <p:spPr>
          <a:xfrm>
            <a:off x="5577840" y="1600200"/>
            <a:ext cx="3108960" cy="1417320"/>
          </a:xfrm>
          <a:prstGeom prst="roundRect">
            <a:avLst>
              <a:gd name="adj" fmla="val 5161"/>
            </a:avLst>
          </a:prstGeom>
          <a:solidFill>
            <a:srgbClr val="FFFFFF"/>
          </a:solidFill>
          <a:ln w="12700">
            <a:solidFill>
              <a:srgbClr val="DDD6FE"/>
            </a:solidFill>
            <a:prstDash val="solid"/>
          </a:ln>
          <a:effectLst>
            <a:outerShdw sx="100000" sy="100000" kx="0" ky="0" algn="bl" rotWithShape="0" blurRad="152400" dist="25400" dir="5400000">
              <a:srgbClr val="5B21B6">
                <a:alpha val="10000"/>
              </a:srgbClr>
            </a:outerShdw>
          </a:effectLst>
        </p:spPr>
      </p:sp>
      <p:sp>
        <p:nvSpPr>
          <p:cNvPr id="14" name="Shape 8"/>
          <p:cNvSpPr/>
          <p:nvPr/>
        </p:nvSpPr>
        <p:spPr>
          <a:xfrm>
            <a:off x="6880860" y="1737360"/>
            <a:ext cx="502920" cy="502920"/>
          </a:xfrm>
          <a:prstGeom prst="ellipse">
            <a:avLst/>
          </a:prstGeom>
          <a:solidFill>
            <a:srgbClr val="EDE9FE"/>
          </a:solidFill>
          <a:ln w="9525">
            <a:solidFill>
              <a:srgbClr val="A78BFA"/>
            </a:solidFill>
            <a:prstDash val="solid"/>
          </a:ln>
        </p:spPr>
      </p:sp>
      <p:pic>
        <p:nvPicPr>
          <p:cNvPr id="15" name="Image 4" descr="preencoded.png">    </p:cNvPr>
          <p:cNvPicPr>
            <a:picLocks noChangeAspect="1"/>
          </p:cNvPicPr>
          <p:nvPr/>
        </p:nvPicPr>
        <p:blipFill>
          <a:blip r:embed="rId5"/>
          <a:stretch>
            <a:fillRect/>
          </a:stretch>
        </p:blipFill>
        <p:spPr>
          <a:xfrm>
            <a:off x="6967728" y="1819656"/>
            <a:ext cx="329184" cy="329184"/>
          </a:xfrm>
          <a:prstGeom prst="rect">
            <a:avLst/>
          </a:prstGeom>
        </p:spPr>
      </p:pic>
      <p:sp>
        <p:nvSpPr>
          <p:cNvPr id="16" name="Text 9"/>
          <p:cNvSpPr/>
          <p:nvPr/>
        </p:nvSpPr>
        <p:spPr>
          <a:xfrm>
            <a:off x="5577840" y="2286000"/>
            <a:ext cx="3108960" cy="256032"/>
          </a:xfrm>
          <a:prstGeom prst="rect">
            <a:avLst/>
          </a:prstGeom>
          <a:noFill/>
          <a:ln/>
        </p:spPr>
        <p:txBody>
          <a:bodyPr wrap="square" lIns="0" tIns="0" rIns="0" bIns="0" rtlCol="0" anchor="ctr"/>
          <a:lstStyle/>
          <a:p>
            <a:pPr algn="ctr" indent="0" marL="0">
              <a:buNone/>
            </a:pPr>
            <a:r>
              <a:rPr lang="en-US" sz="1200" b="1" dirty="0">
                <a:solidFill>
                  <a:srgbClr val="4C1D95"/>
                </a:solidFill>
                <a:latin typeface="Aptos" pitchFamily="34" charset="0"/>
                <a:ea typeface="Aptos" pitchFamily="34" charset="-122"/>
                <a:cs typeface="Aptos" pitchFamily="34" charset="-120"/>
              </a:rPr>
              <a:t>Scripted Automation</a:t>
            </a:r>
            <a:endParaRPr lang="en-US" sz="1200" dirty="0"/>
          </a:p>
        </p:txBody>
      </p:sp>
      <p:sp>
        <p:nvSpPr>
          <p:cNvPr id="17" name="Text 10"/>
          <p:cNvSpPr/>
          <p:nvPr/>
        </p:nvSpPr>
        <p:spPr>
          <a:xfrm>
            <a:off x="5760720" y="2532888"/>
            <a:ext cx="2743200" cy="457200"/>
          </a:xfrm>
          <a:prstGeom prst="rect">
            <a:avLst/>
          </a:prstGeom>
          <a:noFill/>
          <a:ln/>
        </p:spPr>
        <p:txBody>
          <a:bodyPr wrap="square" lIns="0" tIns="0" rIns="0" bIns="0" rtlCol="0" anchor="t"/>
          <a:lstStyle/>
          <a:p>
            <a:pPr algn="ctr" indent="0" marL="0">
              <a:buNone/>
            </a:pPr>
            <a:r>
              <a:rPr lang="en-US" sz="1000" dirty="0">
                <a:solidFill>
                  <a:srgbClr val="6B7280"/>
                </a:solidFill>
                <a:latin typeface="Aptos" pitchFamily="34" charset="0"/>
                <a:ea typeface="Aptos" pitchFamily="34" charset="-122"/>
                <a:cs typeface="Aptos" pitchFamily="34" charset="-120"/>
              </a:rPr>
              <a:t>Answers predefined questions.</a:t>
            </a:r>
            <a:endParaRPr lang="en-US" sz="1000" dirty="0"/>
          </a:p>
          <a:p>
            <a:pPr algn="ctr" indent="0" marL="0">
              <a:buNone/>
            </a:pPr>
            <a:r>
              <a:rPr lang="en-US" sz="1000" dirty="0">
                <a:solidFill>
                  <a:srgbClr val="6B7280"/>
                </a:solidFill>
                <a:latin typeface="Aptos" pitchFamily="34" charset="0"/>
                <a:ea typeface="Aptos" pitchFamily="34" charset="-122"/>
                <a:cs typeface="Aptos" pitchFamily="34" charset="-120"/>
              </a:rPr>
              <a:t>Runs on schedules or thresholds.</a:t>
            </a:r>
            <a:endParaRPr lang="en-US" sz="1000" dirty="0"/>
          </a:p>
        </p:txBody>
      </p:sp>
      <p:sp>
        <p:nvSpPr>
          <p:cNvPr id="18" name="Shape 11"/>
          <p:cNvSpPr/>
          <p:nvPr/>
        </p:nvSpPr>
        <p:spPr>
          <a:xfrm>
            <a:off x="5577840" y="3218688"/>
            <a:ext cx="3108960" cy="1417320"/>
          </a:xfrm>
          <a:prstGeom prst="roundRect">
            <a:avLst>
              <a:gd name="adj" fmla="val 5161"/>
            </a:avLst>
          </a:prstGeom>
          <a:solidFill>
            <a:srgbClr val="FFFFFF"/>
          </a:solidFill>
          <a:ln w="12700">
            <a:solidFill>
              <a:srgbClr val="DDD6FE"/>
            </a:solidFill>
            <a:prstDash val="solid"/>
          </a:ln>
          <a:effectLst>
            <a:outerShdw sx="100000" sy="100000" kx="0" ky="0" algn="bl" rotWithShape="0" blurRad="152400" dist="25400" dir="5400000">
              <a:srgbClr val="5B21B6">
                <a:alpha val="10000"/>
              </a:srgbClr>
            </a:outerShdw>
          </a:effectLst>
        </p:spPr>
      </p:sp>
      <p:sp>
        <p:nvSpPr>
          <p:cNvPr id="19" name="Shape 12"/>
          <p:cNvSpPr/>
          <p:nvPr/>
        </p:nvSpPr>
        <p:spPr>
          <a:xfrm>
            <a:off x="6880860" y="3355848"/>
            <a:ext cx="502920" cy="502920"/>
          </a:xfrm>
          <a:prstGeom prst="ellipse">
            <a:avLst/>
          </a:prstGeom>
          <a:solidFill>
            <a:srgbClr val="EDE9FE"/>
          </a:solidFill>
          <a:ln w="9525">
            <a:solidFill>
              <a:srgbClr val="A78BFA"/>
            </a:solidFill>
            <a:prstDash val="solid"/>
          </a:ln>
        </p:spPr>
      </p:sp>
      <p:pic>
        <p:nvPicPr>
          <p:cNvPr id="20" name="Image 5" descr="preencoded.png">    </p:cNvPr>
          <p:cNvPicPr>
            <a:picLocks noChangeAspect="1"/>
          </p:cNvPicPr>
          <p:nvPr/>
        </p:nvPicPr>
        <p:blipFill>
          <a:blip r:embed="rId6"/>
          <a:stretch>
            <a:fillRect/>
          </a:stretch>
        </p:blipFill>
        <p:spPr>
          <a:xfrm>
            <a:off x="6967728" y="3438144"/>
            <a:ext cx="329184" cy="329184"/>
          </a:xfrm>
          <a:prstGeom prst="rect">
            <a:avLst/>
          </a:prstGeom>
        </p:spPr>
      </p:pic>
      <p:sp>
        <p:nvSpPr>
          <p:cNvPr id="21" name="Text 13"/>
          <p:cNvSpPr/>
          <p:nvPr/>
        </p:nvSpPr>
        <p:spPr>
          <a:xfrm>
            <a:off x="5577840" y="3904488"/>
            <a:ext cx="3108960" cy="256032"/>
          </a:xfrm>
          <a:prstGeom prst="rect">
            <a:avLst/>
          </a:prstGeom>
          <a:noFill/>
          <a:ln/>
        </p:spPr>
        <p:txBody>
          <a:bodyPr wrap="square" lIns="0" tIns="0" rIns="0" bIns="0" rtlCol="0" anchor="ctr"/>
          <a:lstStyle/>
          <a:p>
            <a:pPr algn="ctr" indent="0" marL="0">
              <a:buNone/>
            </a:pPr>
            <a:r>
              <a:rPr lang="en-US" sz="1200" b="1" dirty="0">
                <a:solidFill>
                  <a:srgbClr val="4C1D95"/>
                </a:solidFill>
                <a:latin typeface="Aptos" pitchFamily="34" charset="0"/>
                <a:ea typeface="Aptos" pitchFamily="34" charset="-122"/>
                <a:cs typeface="Aptos" pitchFamily="34" charset="-120"/>
              </a:rPr>
              <a:t>Agentic AI</a:t>
            </a:r>
            <a:endParaRPr lang="en-US" sz="1200" dirty="0"/>
          </a:p>
        </p:txBody>
      </p:sp>
      <p:sp>
        <p:nvSpPr>
          <p:cNvPr id="22" name="Text 14"/>
          <p:cNvSpPr/>
          <p:nvPr/>
        </p:nvSpPr>
        <p:spPr>
          <a:xfrm>
            <a:off x="5760720" y="4151376"/>
            <a:ext cx="2743200" cy="457200"/>
          </a:xfrm>
          <a:prstGeom prst="rect">
            <a:avLst/>
          </a:prstGeom>
          <a:noFill/>
          <a:ln/>
        </p:spPr>
        <p:txBody>
          <a:bodyPr wrap="square" lIns="0" tIns="0" rIns="0" bIns="0" rtlCol="0" anchor="t"/>
          <a:lstStyle/>
          <a:p>
            <a:pPr algn="ctr" indent="0" marL="0">
              <a:buNone/>
            </a:pPr>
            <a:r>
              <a:rPr lang="en-US" sz="1000" dirty="0">
                <a:solidFill>
                  <a:srgbClr val="6B7280"/>
                </a:solidFill>
                <a:latin typeface="Aptos" pitchFamily="34" charset="0"/>
                <a:ea typeface="Aptos" pitchFamily="34" charset="-122"/>
                <a:cs typeface="Aptos" pitchFamily="34" charset="-120"/>
              </a:rPr>
              <a:t>Picks the right tool dynamically.</a:t>
            </a:r>
            <a:endParaRPr lang="en-US" sz="1000" dirty="0"/>
          </a:p>
          <a:p>
            <a:pPr algn="ctr" indent="0" marL="0">
              <a:buNone/>
            </a:pPr>
            <a:r>
              <a:rPr lang="en-US" sz="1000" dirty="0">
                <a:solidFill>
                  <a:srgbClr val="6B7280"/>
                </a:solidFill>
                <a:latin typeface="Aptos" pitchFamily="34" charset="0"/>
                <a:ea typeface="Aptos" pitchFamily="34" charset="-122"/>
                <a:cs typeface="Aptos" pitchFamily="34" charset="-120"/>
              </a:rPr>
              <a:t>Reasons across the estate.</a:t>
            </a:r>
            <a:endParaRPr lang="en-US" sz="1000" dirty="0"/>
          </a:p>
          <a:p>
            <a:pPr algn="ctr" indent="0" marL="0">
              <a:buNone/>
            </a:pPr>
            <a:r>
              <a:rPr lang="en-US" sz="1000" dirty="0">
                <a:solidFill>
                  <a:srgbClr val="6B7280"/>
                </a:solidFill>
                <a:latin typeface="Aptos" pitchFamily="34" charset="0"/>
                <a:ea typeface="Aptos" pitchFamily="34" charset="-122"/>
                <a:cs typeface="Aptos" pitchFamily="34" charset="-120"/>
              </a:rPr>
              <a:t>Plain English in, structured answer out.</a:t>
            </a:r>
            <a:endParaRPr lang="en-US" sz="1000" dirty="0"/>
          </a:p>
        </p:txBody>
      </p:sp>
      <p:sp>
        <p:nvSpPr>
          <p:cNvPr id="23" name="Text 15"/>
          <p:cNvSpPr/>
          <p:nvPr/>
        </p:nvSpPr>
        <p:spPr>
          <a:xfrm>
            <a:off x="8412480" y="4846320"/>
            <a:ext cx="594360" cy="182880"/>
          </a:xfrm>
          <a:prstGeom prst="rect">
            <a:avLst/>
          </a:prstGeom>
          <a:noFill/>
          <a:ln/>
        </p:spPr>
        <p:txBody>
          <a:bodyPr wrap="square" lIns="0" tIns="0" rIns="0" bIns="0" rtlCol="0" anchor="ctr"/>
          <a:lstStyle/>
          <a:p>
            <a:pPr algn="r" indent="0" marL="0">
              <a:buNone/>
            </a:pPr>
            <a:r>
              <a:rPr lang="en-US" sz="800" spc="100" kern="0" dirty="0">
                <a:solidFill>
                  <a:srgbClr val="9CA3AF"/>
                </a:solidFill>
                <a:latin typeface="Aptos" pitchFamily="34" charset="0"/>
                <a:ea typeface="Aptos" pitchFamily="34" charset="-122"/>
                <a:cs typeface="Aptos" pitchFamily="34" charset="-120"/>
              </a:rPr>
              <a:t>5 / 7</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457200" y="292608"/>
            <a:ext cx="91440" cy="91440"/>
          </a:xfrm>
          <a:prstGeom prst="ellipse">
            <a:avLst/>
          </a:prstGeom>
          <a:solidFill>
            <a:srgbClr val="5B21B6"/>
          </a:solidFill>
          <a:ln/>
        </p:spPr>
      </p:sp>
      <p:sp>
        <p:nvSpPr>
          <p:cNvPr id="3" name="Text 1"/>
          <p:cNvSpPr/>
          <p:nvPr/>
        </p:nvSpPr>
        <p:spPr>
          <a:xfrm>
            <a:off x="603504" y="246888"/>
            <a:ext cx="4572000" cy="182880"/>
          </a:xfrm>
          <a:prstGeom prst="rect">
            <a:avLst/>
          </a:prstGeom>
          <a:noFill/>
          <a:ln/>
        </p:spPr>
        <p:txBody>
          <a:bodyPr wrap="square" lIns="0" tIns="0" rIns="0" bIns="0" rtlCol="0" anchor="ctr"/>
          <a:lstStyle/>
          <a:p>
            <a:pPr indent="0" marL="0">
              <a:buNone/>
            </a:pPr>
            <a:r>
              <a:rPr lang="en-US" sz="800" b="1" spc="500" kern="0" dirty="0">
                <a:solidFill>
                  <a:srgbClr val="6B7280"/>
                </a:solidFill>
                <a:latin typeface="Aptos" pitchFamily="34" charset="0"/>
                <a:ea typeface="Aptos" pitchFamily="34" charset="-122"/>
                <a:cs typeface="Aptos" pitchFamily="34" charset="-120"/>
              </a:rPr>
              <a:t>MQ &amp; ACE PLATFORM STORY</a:t>
            </a:r>
            <a:endParaRPr lang="en-US" sz="800" dirty="0"/>
          </a:p>
        </p:txBody>
      </p:sp>
      <p:sp>
        <p:nvSpPr>
          <p:cNvPr id="4" name="Text 2"/>
          <p:cNvSpPr/>
          <p:nvPr/>
        </p:nvSpPr>
        <p:spPr>
          <a:xfrm>
            <a:off x="457200" y="640080"/>
            <a:ext cx="8229600" cy="777240"/>
          </a:xfrm>
          <a:prstGeom prst="rect">
            <a:avLst/>
          </a:prstGeom>
          <a:noFill/>
          <a:ln/>
        </p:spPr>
        <p:txBody>
          <a:bodyPr wrap="square" lIns="0" tIns="0" rIns="0" bIns="0" rtlCol="0" anchor="t"/>
          <a:lstStyle/>
          <a:p>
            <a:pPr indent="0" marL="0">
              <a:buNone/>
            </a:pPr>
            <a:r>
              <a:rPr lang="en-US" sz="2200" b="1" dirty="0">
                <a:solidFill>
                  <a:srgbClr val="1F2937"/>
                </a:solidFill>
                <a:latin typeface="Aptos Display" pitchFamily="34" charset="0"/>
                <a:ea typeface="Aptos Display" pitchFamily="34" charset="-122"/>
                <a:cs typeface="Aptos Display" pitchFamily="34" charset="-120"/>
              </a:rPr>
              <a:t>Autonomous reasoning streams through an open protocol and strict safety layers</a:t>
            </a:r>
            <a:endParaRPr lang="en-US" sz="2200" dirty="0"/>
          </a:p>
        </p:txBody>
      </p:sp>
      <p:sp>
        <p:nvSpPr>
          <p:cNvPr id="5" name="Shape 3"/>
          <p:cNvSpPr/>
          <p:nvPr/>
        </p:nvSpPr>
        <p:spPr>
          <a:xfrm>
            <a:off x="662940" y="1737360"/>
            <a:ext cx="1417320" cy="1508760"/>
          </a:xfrm>
          <a:prstGeom prst="roundRect">
            <a:avLst>
              <a:gd name="adj" fmla="val 5161"/>
            </a:avLst>
          </a:prstGeom>
          <a:solidFill>
            <a:srgbClr val="FFFFFF"/>
          </a:solidFill>
          <a:ln w="12700">
            <a:solidFill>
              <a:srgbClr val="5B21B6"/>
            </a:solidFill>
            <a:prstDash val="solid"/>
          </a:ln>
          <a:effectLst>
            <a:outerShdw sx="100000" sy="100000" kx="0" ky="0" algn="bl" rotWithShape="0" blurRad="152400" dist="25400" dir="5400000">
              <a:srgbClr val="5B21B6">
                <a:alpha val="10000"/>
              </a:srgbClr>
            </a:outerShdw>
          </a:effectLst>
        </p:spPr>
      </p:sp>
      <p:sp>
        <p:nvSpPr>
          <p:cNvPr id="6" name="Shape 4"/>
          <p:cNvSpPr/>
          <p:nvPr/>
        </p:nvSpPr>
        <p:spPr>
          <a:xfrm>
            <a:off x="1074420" y="1874520"/>
            <a:ext cx="594360" cy="594360"/>
          </a:xfrm>
          <a:prstGeom prst="ellipse">
            <a:avLst/>
          </a:prstGeom>
          <a:solidFill>
            <a:srgbClr val="EDE9FE"/>
          </a:solidFill>
          <a:ln w="9525">
            <a:solidFill>
              <a:srgbClr val="5B21B6"/>
            </a:solidFill>
            <a:prstDash val="solid"/>
          </a:ln>
        </p:spPr>
      </p:sp>
      <p:pic>
        <p:nvPicPr>
          <p:cNvPr id="7" name="Image 0" descr="preencoded.png">    </p:cNvPr>
          <p:cNvPicPr>
            <a:picLocks noChangeAspect="1"/>
          </p:cNvPicPr>
          <p:nvPr/>
        </p:nvPicPr>
        <p:blipFill>
          <a:blip r:embed="rId1"/>
          <a:stretch>
            <a:fillRect/>
          </a:stretch>
        </p:blipFill>
        <p:spPr>
          <a:xfrm>
            <a:off x="1179576" y="1984248"/>
            <a:ext cx="384048" cy="384048"/>
          </a:xfrm>
          <a:prstGeom prst="rect">
            <a:avLst/>
          </a:prstGeom>
        </p:spPr>
      </p:pic>
      <p:sp>
        <p:nvSpPr>
          <p:cNvPr id="8" name="Text 5"/>
          <p:cNvSpPr/>
          <p:nvPr/>
        </p:nvSpPr>
        <p:spPr>
          <a:xfrm>
            <a:off x="736092" y="2542032"/>
            <a:ext cx="1271016" cy="320040"/>
          </a:xfrm>
          <a:prstGeom prst="rect">
            <a:avLst/>
          </a:prstGeom>
          <a:noFill/>
          <a:ln/>
        </p:spPr>
        <p:txBody>
          <a:bodyPr wrap="square" lIns="0" tIns="0" rIns="0" bIns="0" rtlCol="0" anchor="ctr"/>
          <a:lstStyle/>
          <a:p>
            <a:pPr algn="ctr" indent="0" marL="0">
              <a:buNone/>
            </a:pPr>
            <a:r>
              <a:rPr lang="en-US" sz="1100" b="1" dirty="0">
                <a:solidFill>
                  <a:srgbClr val="4C1D95"/>
                </a:solidFill>
                <a:latin typeface="Aptos" pitchFamily="34" charset="0"/>
                <a:ea typeface="Aptos" pitchFamily="34" charset="-122"/>
                <a:cs typeface="Aptos" pitchFamily="34" charset="-120"/>
              </a:rPr>
              <a:t>Web Chat UI</a:t>
            </a:r>
            <a:endParaRPr lang="en-US" sz="1100" dirty="0"/>
          </a:p>
        </p:txBody>
      </p:sp>
      <p:sp>
        <p:nvSpPr>
          <p:cNvPr id="9" name="Text 6"/>
          <p:cNvSpPr/>
          <p:nvPr/>
        </p:nvSpPr>
        <p:spPr>
          <a:xfrm>
            <a:off x="736092" y="2862072"/>
            <a:ext cx="1271016" cy="365760"/>
          </a:xfrm>
          <a:prstGeom prst="rect">
            <a:avLst/>
          </a:prstGeom>
          <a:noFill/>
          <a:ln/>
        </p:spPr>
        <p:txBody>
          <a:bodyPr wrap="square" lIns="0" tIns="0" rIns="0" bIns="0" rtlCol="0" anchor="t"/>
          <a:lstStyle/>
          <a:p>
            <a:pPr algn="ctr" indent="0" marL="0">
              <a:buNone/>
            </a:pPr>
            <a:r>
              <a:rPr lang="en-US" sz="800" i="1" dirty="0">
                <a:solidFill>
                  <a:srgbClr val="6B7280"/>
                </a:solidFill>
                <a:latin typeface="Aptos" pitchFamily="34" charset="0"/>
                <a:ea typeface="Aptos" pitchFamily="34" charset="-122"/>
                <a:cs typeface="Aptos" pitchFamily="34" charset="-120"/>
              </a:rPr>
              <a:t>(Streamlit)</a:t>
            </a:r>
            <a:endParaRPr lang="en-US" sz="800" dirty="0"/>
          </a:p>
        </p:txBody>
      </p:sp>
      <p:sp>
        <p:nvSpPr>
          <p:cNvPr id="10" name="Shape 7"/>
          <p:cNvSpPr/>
          <p:nvPr/>
        </p:nvSpPr>
        <p:spPr>
          <a:xfrm>
            <a:off x="2098548" y="2400300"/>
            <a:ext cx="146304" cy="182880"/>
          </a:xfrm>
          <a:prstGeom prst="rightArrow">
            <a:avLst/>
          </a:prstGeom>
          <a:solidFill>
            <a:srgbClr val="5B21B6"/>
          </a:solidFill>
          <a:ln/>
        </p:spPr>
      </p:sp>
      <p:sp>
        <p:nvSpPr>
          <p:cNvPr id="11" name="Shape 8"/>
          <p:cNvSpPr/>
          <p:nvPr/>
        </p:nvSpPr>
        <p:spPr>
          <a:xfrm>
            <a:off x="2263140" y="1737360"/>
            <a:ext cx="1417320" cy="1508760"/>
          </a:xfrm>
          <a:prstGeom prst="roundRect">
            <a:avLst>
              <a:gd name="adj" fmla="val 5161"/>
            </a:avLst>
          </a:prstGeom>
          <a:solidFill>
            <a:srgbClr val="FFFFFF"/>
          </a:solidFill>
          <a:ln w="12700">
            <a:solidFill>
              <a:srgbClr val="5B21B6"/>
            </a:solidFill>
            <a:prstDash val="solid"/>
          </a:ln>
          <a:effectLst>
            <a:outerShdw sx="100000" sy="100000" kx="0" ky="0" algn="bl" rotWithShape="0" blurRad="152400" dist="25400" dir="5400000">
              <a:srgbClr val="5B21B6">
                <a:alpha val="10000"/>
              </a:srgbClr>
            </a:outerShdw>
          </a:effectLst>
        </p:spPr>
      </p:sp>
      <p:sp>
        <p:nvSpPr>
          <p:cNvPr id="12" name="Shape 9"/>
          <p:cNvSpPr/>
          <p:nvPr/>
        </p:nvSpPr>
        <p:spPr>
          <a:xfrm>
            <a:off x="2674620" y="1874520"/>
            <a:ext cx="594360" cy="594360"/>
          </a:xfrm>
          <a:prstGeom prst="ellipse">
            <a:avLst/>
          </a:prstGeom>
          <a:solidFill>
            <a:srgbClr val="C026D3"/>
          </a:solidFill>
          <a:ln w="9525">
            <a:solidFill>
              <a:srgbClr val="5B21B6"/>
            </a:solidFill>
            <a:prstDash val="solid"/>
          </a:ln>
        </p:spPr>
      </p:sp>
      <p:pic>
        <p:nvPicPr>
          <p:cNvPr id="13" name="Image 1" descr="preencoded.png">    </p:cNvPr>
          <p:cNvPicPr>
            <a:picLocks noChangeAspect="1"/>
          </p:cNvPicPr>
          <p:nvPr/>
        </p:nvPicPr>
        <p:blipFill>
          <a:blip r:embed="rId2"/>
          <a:stretch>
            <a:fillRect/>
          </a:stretch>
        </p:blipFill>
        <p:spPr>
          <a:xfrm>
            <a:off x="2779776" y="1984248"/>
            <a:ext cx="384048" cy="384048"/>
          </a:xfrm>
          <a:prstGeom prst="rect">
            <a:avLst/>
          </a:prstGeom>
        </p:spPr>
      </p:pic>
      <p:sp>
        <p:nvSpPr>
          <p:cNvPr id="14" name="Text 10"/>
          <p:cNvSpPr/>
          <p:nvPr/>
        </p:nvSpPr>
        <p:spPr>
          <a:xfrm>
            <a:off x="2336292" y="2542032"/>
            <a:ext cx="1271016" cy="320040"/>
          </a:xfrm>
          <a:prstGeom prst="rect">
            <a:avLst/>
          </a:prstGeom>
          <a:noFill/>
          <a:ln/>
        </p:spPr>
        <p:txBody>
          <a:bodyPr wrap="square" lIns="0" tIns="0" rIns="0" bIns="0" rtlCol="0" anchor="ctr"/>
          <a:lstStyle/>
          <a:p>
            <a:pPr algn="ctr" indent="0" marL="0">
              <a:buNone/>
            </a:pPr>
            <a:r>
              <a:rPr lang="en-US" sz="1100" b="1" dirty="0">
                <a:solidFill>
                  <a:srgbClr val="4C1D95"/>
                </a:solidFill>
                <a:latin typeface="Aptos" pitchFamily="34" charset="0"/>
                <a:ea typeface="Aptos" pitchFamily="34" charset="-122"/>
                <a:cs typeface="Aptos" pitchFamily="34" charset="-120"/>
              </a:rPr>
              <a:t>Agentic Backend</a:t>
            </a:r>
            <a:endParaRPr lang="en-US" sz="1100" dirty="0"/>
          </a:p>
        </p:txBody>
      </p:sp>
      <p:sp>
        <p:nvSpPr>
          <p:cNvPr id="15" name="Text 11"/>
          <p:cNvSpPr/>
          <p:nvPr/>
        </p:nvSpPr>
        <p:spPr>
          <a:xfrm>
            <a:off x="2336292" y="2862072"/>
            <a:ext cx="1271016" cy="365760"/>
          </a:xfrm>
          <a:prstGeom prst="rect">
            <a:avLst/>
          </a:prstGeom>
          <a:noFill/>
          <a:ln/>
        </p:spPr>
        <p:txBody>
          <a:bodyPr wrap="square" lIns="0" tIns="0" rIns="0" bIns="0" rtlCol="0" anchor="t"/>
          <a:lstStyle/>
          <a:p>
            <a:pPr algn="ctr" indent="0" marL="0">
              <a:buNone/>
            </a:pPr>
            <a:r>
              <a:rPr lang="en-US" sz="800" i="1" dirty="0">
                <a:solidFill>
                  <a:srgbClr val="6B7280"/>
                </a:solidFill>
                <a:latin typeface="Aptos" pitchFamily="34" charset="0"/>
                <a:ea typeface="Aptos" pitchFamily="34" charset="-122"/>
                <a:cs typeface="Aptos" pitchFamily="34" charset="-120"/>
              </a:rPr>
              <a:t>(FastAPI / LangGraph /</a:t>
            </a:r>
            <a:endParaRPr lang="en-US" sz="800" dirty="0"/>
          </a:p>
          <a:p>
            <a:pPr algn="ctr" indent="0" marL="0">
              <a:buNone/>
            </a:pPr>
            <a:r>
              <a:rPr lang="en-US" sz="800" i="1" dirty="0">
                <a:solidFill>
                  <a:srgbClr val="6B7280"/>
                </a:solidFill>
                <a:latin typeface="Aptos" pitchFamily="34" charset="0"/>
                <a:ea typeface="Aptos" pitchFamily="34" charset="-122"/>
                <a:cs typeface="Aptos" pitchFamily="34" charset="-120"/>
              </a:rPr>
              <a:t>GPT-4o)</a:t>
            </a:r>
            <a:endParaRPr lang="en-US" sz="800" dirty="0"/>
          </a:p>
        </p:txBody>
      </p:sp>
      <p:sp>
        <p:nvSpPr>
          <p:cNvPr id="16" name="Shape 12"/>
          <p:cNvSpPr/>
          <p:nvPr/>
        </p:nvSpPr>
        <p:spPr>
          <a:xfrm>
            <a:off x="3698748" y="2400300"/>
            <a:ext cx="146304" cy="182880"/>
          </a:xfrm>
          <a:prstGeom prst="rightArrow">
            <a:avLst/>
          </a:prstGeom>
          <a:solidFill>
            <a:srgbClr val="5B21B6"/>
          </a:solidFill>
          <a:ln/>
        </p:spPr>
      </p:sp>
      <p:sp>
        <p:nvSpPr>
          <p:cNvPr id="17" name="Shape 13"/>
          <p:cNvSpPr/>
          <p:nvPr/>
        </p:nvSpPr>
        <p:spPr>
          <a:xfrm>
            <a:off x="3863340" y="1737360"/>
            <a:ext cx="1417320" cy="1508760"/>
          </a:xfrm>
          <a:prstGeom prst="roundRect">
            <a:avLst>
              <a:gd name="adj" fmla="val 5161"/>
            </a:avLst>
          </a:prstGeom>
          <a:solidFill>
            <a:srgbClr val="FFFFFF"/>
          </a:solidFill>
          <a:ln w="12700">
            <a:solidFill>
              <a:srgbClr val="5B21B6"/>
            </a:solidFill>
            <a:prstDash val="solid"/>
          </a:ln>
          <a:effectLst>
            <a:outerShdw sx="100000" sy="100000" kx="0" ky="0" algn="bl" rotWithShape="0" blurRad="152400" dist="25400" dir="5400000">
              <a:srgbClr val="5B21B6">
                <a:alpha val="10000"/>
              </a:srgbClr>
            </a:outerShdw>
          </a:effectLst>
        </p:spPr>
      </p:sp>
      <p:sp>
        <p:nvSpPr>
          <p:cNvPr id="18" name="Shape 14"/>
          <p:cNvSpPr/>
          <p:nvPr/>
        </p:nvSpPr>
        <p:spPr>
          <a:xfrm>
            <a:off x="4274820" y="1874520"/>
            <a:ext cx="594360" cy="594360"/>
          </a:xfrm>
          <a:prstGeom prst="ellipse">
            <a:avLst/>
          </a:prstGeom>
          <a:solidFill>
            <a:srgbClr val="EDE9FE"/>
          </a:solidFill>
          <a:ln w="9525">
            <a:solidFill>
              <a:srgbClr val="5B21B6"/>
            </a:solidFill>
            <a:prstDash val="solid"/>
          </a:ln>
        </p:spPr>
      </p:sp>
      <p:pic>
        <p:nvPicPr>
          <p:cNvPr id="19" name="Image 2" descr="preencoded.png">    </p:cNvPr>
          <p:cNvPicPr>
            <a:picLocks noChangeAspect="1"/>
          </p:cNvPicPr>
          <p:nvPr/>
        </p:nvPicPr>
        <p:blipFill>
          <a:blip r:embed="rId3"/>
          <a:stretch>
            <a:fillRect/>
          </a:stretch>
        </p:blipFill>
        <p:spPr>
          <a:xfrm>
            <a:off x="4379976" y="1984248"/>
            <a:ext cx="384048" cy="384048"/>
          </a:xfrm>
          <a:prstGeom prst="rect">
            <a:avLst/>
          </a:prstGeom>
        </p:spPr>
      </p:pic>
      <p:sp>
        <p:nvSpPr>
          <p:cNvPr id="20" name="Text 15"/>
          <p:cNvSpPr/>
          <p:nvPr/>
        </p:nvSpPr>
        <p:spPr>
          <a:xfrm>
            <a:off x="3936492" y="2542032"/>
            <a:ext cx="1271016" cy="320040"/>
          </a:xfrm>
          <a:prstGeom prst="rect">
            <a:avLst/>
          </a:prstGeom>
          <a:noFill/>
          <a:ln/>
        </p:spPr>
        <p:txBody>
          <a:bodyPr wrap="square" lIns="0" tIns="0" rIns="0" bIns="0" rtlCol="0" anchor="ctr"/>
          <a:lstStyle/>
          <a:p>
            <a:pPr algn="ctr" indent="0" marL="0">
              <a:buNone/>
            </a:pPr>
            <a:r>
              <a:rPr lang="en-US" sz="1100" b="1" dirty="0">
                <a:solidFill>
                  <a:srgbClr val="4C1D95"/>
                </a:solidFill>
                <a:latin typeface="Aptos" pitchFamily="34" charset="0"/>
                <a:ea typeface="Aptos" pitchFamily="34" charset="-122"/>
                <a:cs typeface="Aptos" pitchFamily="34" charset="-120"/>
              </a:rPr>
              <a:t>MCP Server</a:t>
            </a:r>
            <a:endParaRPr lang="en-US" sz="1100" dirty="0"/>
          </a:p>
        </p:txBody>
      </p:sp>
      <p:sp>
        <p:nvSpPr>
          <p:cNvPr id="21" name="Text 16"/>
          <p:cNvSpPr/>
          <p:nvPr/>
        </p:nvSpPr>
        <p:spPr>
          <a:xfrm>
            <a:off x="3936492" y="2862072"/>
            <a:ext cx="1271016" cy="365760"/>
          </a:xfrm>
          <a:prstGeom prst="rect">
            <a:avLst/>
          </a:prstGeom>
          <a:noFill/>
          <a:ln/>
        </p:spPr>
        <p:txBody>
          <a:bodyPr wrap="square" lIns="0" tIns="0" rIns="0" bIns="0" rtlCol="0" anchor="t"/>
          <a:lstStyle/>
          <a:p>
            <a:pPr algn="ctr" indent="0" marL="0">
              <a:buNone/>
            </a:pPr>
            <a:r>
              <a:rPr lang="en-US" sz="800" i="1" dirty="0">
                <a:solidFill>
                  <a:srgbClr val="6B7280"/>
                </a:solidFill>
                <a:latin typeface="Aptos" pitchFamily="34" charset="0"/>
                <a:ea typeface="Aptos" pitchFamily="34" charset="-122"/>
                <a:cs typeface="Aptos" pitchFamily="34" charset="-120"/>
              </a:rPr>
              <a:t>(FastMCP)</a:t>
            </a:r>
            <a:endParaRPr lang="en-US" sz="800" dirty="0"/>
          </a:p>
        </p:txBody>
      </p:sp>
      <p:sp>
        <p:nvSpPr>
          <p:cNvPr id="22" name="Shape 17"/>
          <p:cNvSpPr/>
          <p:nvPr/>
        </p:nvSpPr>
        <p:spPr>
          <a:xfrm>
            <a:off x="5298948" y="2400300"/>
            <a:ext cx="146304" cy="182880"/>
          </a:xfrm>
          <a:prstGeom prst="rightArrow">
            <a:avLst/>
          </a:prstGeom>
          <a:solidFill>
            <a:srgbClr val="5B21B6"/>
          </a:solidFill>
          <a:ln/>
        </p:spPr>
      </p:sp>
      <p:sp>
        <p:nvSpPr>
          <p:cNvPr id="23" name="Shape 18"/>
          <p:cNvSpPr/>
          <p:nvPr/>
        </p:nvSpPr>
        <p:spPr>
          <a:xfrm>
            <a:off x="5463540" y="1737360"/>
            <a:ext cx="1417320" cy="1508760"/>
          </a:xfrm>
          <a:prstGeom prst="roundRect">
            <a:avLst>
              <a:gd name="adj" fmla="val 5161"/>
            </a:avLst>
          </a:prstGeom>
          <a:solidFill>
            <a:srgbClr val="FFFFFF"/>
          </a:solidFill>
          <a:ln w="12700">
            <a:solidFill>
              <a:srgbClr val="5B21B6"/>
            </a:solidFill>
            <a:prstDash val="solid"/>
          </a:ln>
          <a:effectLst>
            <a:outerShdw sx="100000" sy="100000" kx="0" ky="0" algn="bl" rotWithShape="0" blurRad="152400" dist="25400" dir="5400000">
              <a:srgbClr val="5B21B6">
                <a:alpha val="10000"/>
              </a:srgbClr>
            </a:outerShdw>
          </a:effectLst>
        </p:spPr>
      </p:sp>
      <p:sp>
        <p:nvSpPr>
          <p:cNvPr id="24" name="Shape 19"/>
          <p:cNvSpPr/>
          <p:nvPr/>
        </p:nvSpPr>
        <p:spPr>
          <a:xfrm>
            <a:off x="5875020" y="1874520"/>
            <a:ext cx="594360" cy="594360"/>
          </a:xfrm>
          <a:prstGeom prst="ellipse">
            <a:avLst/>
          </a:prstGeom>
          <a:solidFill>
            <a:srgbClr val="EDE9FE"/>
          </a:solidFill>
          <a:ln w="9525">
            <a:solidFill>
              <a:srgbClr val="5B21B6"/>
            </a:solidFill>
            <a:prstDash val="solid"/>
          </a:ln>
        </p:spPr>
      </p:sp>
      <p:pic>
        <p:nvPicPr>
          <p:cNvPr id="25" name="Image 3" descr="preencoded.png">    </p:cNvPr>
          <p:cNvPicPr>
            <a:picLocks noChangeAspect="1"/>
          </p:cNvPicPr>
          <p:nvPr/>
        </p:nvPicPr>
        <p:blipFill>
          <a:blip r:embed="rId4"/>
          <a:stretch>
            <a:fillRect/>
          </a:stretch>
        </p:blipFill>
        <p:spPr>
          <a:xfrm>
            <a:off x="5980176" y="1984248"/>
            <a:ext cx="384048" cy="384048"/>
          </a:xfrm>
          <a:prstGeom prst="rect">
            <a:avLst/>
          </a:prstGeom>
        </p:spPr>
      </p:pic>
      <p:sp>
        <p:nvSpPr>
          <p:cNvPr id="26" name="Text 20"/>
          <p:cNvSpPr/>
          <p:nvPr/>
        </p:nvSpPr>
        <p:spPr>
          <a:xfrm>
            <a:off x="5536692" y="2542032"/>
            <a:ext cx="1271016" cy="320040"/>
          </a:xfrm>
          <a:prstGeom prst="rect">
            <a:avLst/>
          </a:prstGeom>
          <a:noFill/>
          <a:ln/>
        </p:spPr>
        <p:txBody>
          <a:bodyPr wrap="square" lIns="0" tIns="0" rIns="0" bIns="0" rtlCol="0" anchor="ctr"/>
          <a:lstStyle/>
          <a:p>
            <a:pPr algn="ctr" indent="0" marL="0">
              <a:buNone/>
            </a:pPr>
            <a:r>
              <a:rPr lang="en-US" sz="1100" b="1" dirty="0">
                <a:solidFill>
                  <a:srgbClr val="4C1D95"/>
                </a:solidFill>
                <a:latin typeface="Aptos" pitchFamily="34" charset="0"/>
                <a:ea typeface="Aptos" pitchFamily="34" charset="-122"/>
                <a:cs typeface="Aptos" pitchFamily="34" charset="-120"/>
              </a:rPr>
              <a:t>Safety</a:t>
            </a:r>
            <a:endParaRPr lang="en-US" sz="1100" dirty="0"/>
          </a:p>
          <a:p>
            <a:pPr algn="ctr" indent="0" marL="0">
              <a:buNone/>
            </a:pPr>
            <a:r>
              <a:rPr lang="en-US" sz="1100" b="1" dirty="0">
                <a:solidFill>
                  <a:srgbClr val="4C1D95"/>
                </a:solidFill>
                <a:latin typeface="Aptos" pitchFamily="34" charset="0"/>
                <a:ea typeface="Aptos" pitchFamily="34" charset="-122"/>
                <a:cs typeface="Aptos" pitchFamily="34" charset="-120"/>
              </a:rPr>
              <a:t>Layer</a:t>
            </a:r>
            <a:endParaRPr lang="en-US" sz="1100" dirty="0"/>
          </a:p>
        </p:txBody>
      </p:sp>
      <p:sp>
        <p:nvSpPr>
          <p:cNvPr id="27" name="Text 21"/>
          <p:cNvSpPr/>
          <p:nvPr/>
        </p:nvSpPr>
        <p:spPr>
          <a:xfrm>
            <a:off x="5536692" y="2862072"/>
            <a:ext cx="1271016" cy="365760"/>
          </a:xfrm>
          <a:prstGeom prst="rect">
            <a:avLst/>
          </a:prstGeom>
          <a:noFill/>
          <a:ln/>
        </p:spPr>
        <p:txBody>
          <a:bodyPr wrap="square" lIns="0" tIns="0" rIns="0" bIns="0" rtlCol="0" anchor="t"/>
          <a:lstStyle/>
          <a:p>
            <a:pPr algn="ctr" indent="0" marL="0">
              <a:buNone/>
            </a:pPr>
            <a:endParaRPr lang="en-US" sz="800" dirty="0"/>
          </a:p>
        </p:txBody>
      </p:sp>
      <p:sp>
        <p:nvSpPr>
          <p:cNvPr id="28" name="Shape 22"/>
          <p:cNvSpPr/>
          <p:nvPr/>
        </p:nvSpPr>
        <p:spPr>
          <a:xfrm>
            <a:off x="6899148" y="2400300"/>
            <a:ext cx="146304" cy="182880"/>
          </a:xfrm>
          <a:prstGeom prst="rightArrow">
            <a:avLst/>
          </a:prstGeom>
          <a:solidFill>
            <a:srgbClr val="5B21B6"/>
          </a:solidFill>
          <a:ln/>
        </p:spPr>
      </p:sp>
      <p:sp>
        <p:nvSpPr>
          <p:cNvPr id="29" name="Shape 23"/>
          <p:cNvSpPr/>
          <p:nvPr/>
        </p:nvSpPr>
        <p:spPr>
          <a:xfrm>
            <a:off x="7063740" y="1737360"/>
            <a:ext cx="1417320" cy="1508760"/>
          </a:xfrm>
          <a:prstGeom prst="roundRect">
            <a:avLst>
              <a:gd name="adj" fmla="val 5161"/>
            </a:avLst>
          </a:prstGeom>
          <a:solidFill>
            <a:srgbClr val="FFFFFF"/>
          </a:solidFill>
          <a:ln w="12700">
            <a:solidFill>
              <a:srgbClr val="5B21B6"/>
            </a:solidFill>
            <a:prstDash val="solid"/>
          </a:ln>
          <a:effectLst>
            <a:outerShdw sx="100000" sy="100000" kx="0" ky="0" algn="bl" rotWithShape="0" blurRad="152400" dist="25400" dir="5400000">
              <a:srgbClr val="5B21B6">
                <a:alpha val="10000"/>
              </a:srgbClr>
            </a:outerShdw>
          </a:effectLst>
        </p:spPr>
      </p:sp>
      <p:sp>
        <p:nvSpPr>
          <p:cNvPr id="30" name="Shape 24"/>
          <p:cNvSpPr/>
          <p:nvPr/>
        </p:nvSpPr>
        <p:spPr>
          <a:xfrm>
            <a:off x="7475220" y="1874520"/>
            <a:ext cx="594360" cy="594360"/>
          </a:xfrm>
          <a:prstGeom prst="ellipse">
            <a:avLst/>
          </a:prstGeom>
          <a:solidFill>
            <a:srgbClr val="EDE9FE"/>
          </a:solidFill>
          <a:ln w="9525">
            <a:solidFill>
              <a:srgbClr val="5B21B6"/>
            </a:solidFill>
            <a:prstDash val="solid"/>
          </a:ln>
        </p:spPr>
      </p:sp>
      <p:pic>
        <p:nvPicPr>
          <p:cNvPr id="31" name="Image 4" descr="preencoded.png">    </p:cNvPr>
          <p:cNvPicPr>
            <a:picLocks noChangeAspect="1"/>
          </p:cNvPicPr>
          <p:nvPr/>
        </p:nvPicPr>
        <p:blipFill>
          <a:blip r:embed="rId5"/>
          <a:stretch>
            <a:fillRect/>
          </a:stretch>
        </p:blipFill>
        <p:spPr>
          <a:xfrm>
            <a:off x="7580376" y="1984248"/>
            <a:ext cx="384048" cy="384048"/>
          </a:xfrm>
          <a:prstGeom prst="rect">
            <a:avLst/>
          </a:prstGeom>
        </p:spPr>
      </p:pic>
      <p:sp>
        <p:nvSpPr>
          <p:cNvPr id="32" name="Text 25"/>
          <p:cNvSpPr/>
          <p:nvPr/>
        </p:nvSpPr>
        <p:spPr>
          <a:xfrm>
            <a:off x="7136892" y="2542032"/>
            <a:ext cx="1271016" cy="320040"/>
          </a:xfrm>
          <a:prstGeom prst="rect">
            <a:avLst/>
          </a:prstGeom>
          <a:noFill/>
          <a:ln/>
        </p:spPr>
        <p:txBody>
          <a:bodyPr wrap="square" lIns="0" tIns="0" rIns="0" bIns="0" rtlCol="0" anchor="ctr"/>
          <a:lstStyle/>
          <a:p>
            <a:pPr algn="ctr" indent="0" marL="0">
              <a:buNone/>
            </a:pPr>
            <a:r>
              <a:rPr lang="en-US" sz="1100" b="1" dirty="0">
                <a:solidFill>
                  <a:srgbClr val="4C1D95"/>
                </a:solidFill>
                <a:latin typeface="Aptos" pitchFamily="34" charset="0"/>
                <a:ea typeface="Aptos" pitchFamily="34" charset="-122"/>
                <a:cs typeface="Aptos" pitchFamily="34" charset="-120"/>
              </a:rPr>
              <a:t>Target Systems</a:t>
            </a:r>
            <a:endParaRPr lang="en-US" sz="1100" dirty="0"/>
          </a:p>
        </p:txBody>
      </p:sp>
      <p:sp>
        <p:nvSpPr>
          <p:cNvPr id="33" name="Text 26"/>
          <p:cNvSpPr/>
          <p:nvPr/>
        </p:nvSpPr>
        <p:spPr>
          <a:xfrm>
            <a:off x="7136892" y="2862072"/>
            <a:ext cx="1271016" cy="365760"/>
          </a:xfrm>
          <a:prstGeom prst="rect">
            <a:avLst/>
          </a:prstGeom>
          <a:noFill/>
          <a:ln/>
        </p:spPr>
        <p:txBody>
          <a:bodyPr wrap="square" lIns="0" tIns="0" rIns="0" bIns="0" rtlCol="0" anchor="t"/>
          <a:lstStyle/>
          <a:p>
            <a:pPr algn="ctr" indent="0" marL="0">
              <a:buNone/>
            </a:pPr>
            <a:r>
              <a:rPr lang="en-US" sz="800" i="1" dirty="0">
                <a:solidFill>
                  <a:srgbClr val="6B7280"/>
                </a:solidFill>
                <a:latin typeface="Aptos" pitchFamily="34" charset="0"/>
                <a:ea typeface="Aptos" pitchFamily="34" charset="-122"/>
                <a:cs typeface="Aptos" pitchFamily="34" charset="-120"/>
              </a:rPr>
              <a:t>Live</a:t>
            </a:r>
            <a:endParaRPr lang="en-US" sz="800" dirty="0"/>
          </a:p>
          <a:p>
            <a:pPr algn="ctr" indent="0" marL="0">
              <a:buNone/>
            </a:pPr>
            <a:r>
              <a:rPr lang="en-US" sz="800" i="1" dirty="0">
                <a:solidFill>
                  <a:srgbClr val="6B7280"/>
                </a:solidFill>
                <a:latin typeface="Aptos" pitchFamily="34" charset="0"/>
                <a:ea typeface="Aptos" pitchFamily="34" charset="-122"/>
                <a:cs typeface="Aptos" pitchFamily="34" charset="-120"/>
              </a:rPr>
              <a:t>IBM MQ, IBM ACE,</a:t>
            </a:r>
            <a:endParaRPr lang="en-US" sz="800" dirty="0"/>
          </a:p>
          <a:p>
            <a:pPr algn="ctr" indent="0" marL="0">
              <a:buNone/>
            </a:pPr>
            <a:r>
              <a:rPr lang="en-US" sz="800" i="1" dirty="0">
                <a:solidFill>
                  <a:srgbClr val="6B7280"/>
                </a:solidFill>
                <a:latin typeface="Aptos" pitchFamily="34" charset="0"/>
                <a:ea typeface="Aptos" pitchFamily="34" charset="-122"/>
                <a:cs typeface="Aptos" pitchFamily="34" charset="-120"/>
              </a:rPr>
              <a:t>Offline Inventory CSVs</a:t>
            </a:r>
            <a:endParaRPr lang="en-US" sz="800" dirty="0"/>
          </a:p>
        </p:txBody>
      </p:sp>
      <p:sp>
        <p:nvSpPr>
          <p:cNvPr id="34" name="Shape 27"/>
          <p:cNvSpPr/>
          <p:nvPr/>
        </p:nvSpPr>
        <p:spPr>
          <a:xfrm>
            <a:off x="4572000" y="3246120"/>
            <a:ext cx="0" cy="347472"/>
          </a:xfrm>
          <a:prstGeom prst="line">
            <a:avLst/>
          </a:prstGeom>
          <a:noFill/>
          <a:ln w="12700">
            <a:solidFill>
              <a:srgbClr val="5B21B6"/>
            </a:solidFill>
            <a:prstDash val="dash"/>
            <a:tailEnd type="triangle"/>
          </a:ln>
        </p:spPr>
      </p:sp>
      <p:sp>
        <p:nvSpPr>
          <p:cNvPr id="35" name="Shape 28"/>
          <p:cNvSpPr/>
          <p:nvPr/>
        </p:nvSpPr>
        <p:spPr>
          <a:xfrm>
            <a:off x="3474720" y="3630168"/>
            <a:ext cx="2194560" cy="713232"/>
          </a:xfrm>
          <a:prstGeom prst="roundRect">
            <a:avLst>
              <a:gd name="adj" fmla="val 7692"/>
            </a:avLst>
          </a:prstGeom>
          <a:solidFill>
            <a:srgbClr val="EDE9FE"/>
          </a:solidFill>
          <a:ln w="9525">
            <a:solidFill>
              <a:srgbClr val="5B21B6"/>
            </a:solidFill>
            <a:prstDash val="solid"/>
          </a:ln>
          <a:effectLst>
            <a:outerShdw sx="100000" sy="100000" kx="0" ky="0" algn="bl" rotWithShape="0" blurRad="76200" dist="12700" dir="5400000">
              <a:srgbClr val="000000">
                <a:alpha val="8000"/>
              </a:srgbClr>
            </a:outerShdw>
          </a:effectLst>
        </p:spPr>
      </p:sp>
      <p:pic>
        <p:nvPicPr>
          <p:cNvPr id="36" name="Image 5" descr="preencoded.png">    </p:cNvPr>
          <p:cNvPicPr>
            <a:picLocks noChangeAspect="1"/>
          </p:cNvPicPr>
          <p:nvPr/>
        </p:nvPicPr>
        <p:blipFill>
          <a:blip r:embed="rId6"/>
          <a:stretch>
            <a:fillRect/>
          </a:stretch>
        </p:blipFill>
        <p:spPr>
          <a:xfrm>
            <a:off x="3639312" y="3776472"/>
            <a:ext cx="420624" cy="420624"/>
          </a:xfrm>
          <a:prstGeom prst="rect">
            <a:avLst/>
          </a:prstGeom>
        </p:spPr>
      </p:pic>
      <p:sp>
        <p:nvSpPr>
          <p:cNvPr id="37" name="Text 29"/>
          <p:cNvSpPr/>
          <p:nvPr/>
        </p:nvSpPr>
        <p:spPr>
          <a:xfrm>
            <a:off x="4169664" y="3703320"/>
            <a:ext cx="1408176" cy="256032"/>
          </a:xfrm>
          <a:prstGeom prst="rect">
            <a:avLst/>
          </a:prstGeom>
          <a:noFill/>
          <a:ln/>
        </p:spPr>
        <p:txBody>
          <a:bodyPr wrap="square" lIns="0" tIns="0" rIns="0" bIns="0" rtlCol="0" anchor="ctr"/>
          <a:lstStyle/>
          <a:p>
            <a:pPr indent="0" marL="0">
              <a:buNone/>
            </a:pPr>
            <a:r>
              <a:rPr lang="en-US" sz="1200" b="1" dirty="0">
                <a:solidFill>
                  <a:srgbClr val="4C1D95"/>
                </a:solidFill>
                <a:latin typeface="Aptos" pitchFamily="34" charset="0"/>
                <a:ea typeface="Aptos" pitchFamily="34" charset="-122"/>
                <a:cs typeface="Aptos" pitchFamily="34" charset="-120"/>
              </a:rPr>
              <a:t>Audit Log</a:t>
            </a:r>
            <a:endParaRPr lang="en-US" sz="1200" dirty="0"/>
          </a:p>
        </p:txBody>
      </p:sp>
      <p:sp>
        <p:nvSpPr>
          <p:cNvPr id="38" name="Text 30"/>
          <p:cNvSpPr/>
          <p:nvPr/>
        </p:nvSpPr>
        <p:spPr>
          <a:xfrm>
            <a:off x="4169664" y="3977640"/>
            <a:ext cx="1408176" cy="274320"/>
          </a:xfrm>
          <a:prstGeom prst="rect">
            <a:avLst/>
          </a:prstGeom>
          <a:noFill/>
          <a:ln/>
        </p:spPr>
        <p:txBody>
          <a:bodyPr wrap="square" lIns="0" tIns="0" rIns="0" bIns="0" rtlCol="0" anchor="t"/>
          <a:lstStyle/>
          <a:p>
            <a:pPr indent="0" marL="0">
              <a:buNone/>
            </a:pPr>
            <a:r>
              <a:rPr lang="en-US" sz="900" i="1" dirty="0">
                <a:solidFill>
                  <a:srgbClr val="6B7280"/>
                </a:solidFill>
                <a:latin typeface="Aptos" pitchFamily="34" charset="0"/>
                <a:ea typeface="Aptos" pitchFamily="34" charset="-122"/>
                <a:cs typeface="Aptos" pitchFamily="34" charset="-120"/>
              </a:rPr>
              <a:t>(JSONL · Power BI)</a:t>
            </a:r>
            <a:endParaRPr lang="en-US" sz="900" dirty="0"/>
          </a:p>
        </p:txBody>
      </p:sp>
      <p:sp>
        <p:nvSpPr>
          <p:cNvPr id="39" name="Text 31"/>
          <p:cNvSpPr/>
          <p:nvPr/>
        </p:nvSpPr>
        <p:spPr>
          <a:xfrm>
            <a:off x="8412480" y="4846320"/>
            <a:ext cx="594360" cy="182880"/>
          </a:xfrm>
          <a:prstGeom prst="rect">
            <a:avLst/>
          </a:prstGeom>
          <a:noFill/>
          <a:ln/>
        </p:spPr>
        <p:txBody>
          <a:bodyPr wrap="square" lIns="0" tIns="0" rIns="0" bIns="0" rtlCol="0" anchor="ctr"/>
          <a:lstStyle/>
          <a:p>
            <a:pPr algn="r" indent="0" marL="0">
              <a:buNone/>
            </a:pPr>
            <a:r>
              <a:rPr lang="en-US" sz="800" spc="100" kern="0" dirty="0">
                <a:solidFill>
                  <a:srgbClr val="9CA3AF"/>
                </a:solidFill>
                <a:latin typeface="Aptos" pitchFamily="34" charset="0"/>
                <a:ea typeface="Aptos" pitchFamily="34" charset="-122"/>
                <a:cs typeface="Aptos" pitchFamily="34" charset="-120"/>
              </a:rPr>
              <a:t>6 / 7</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457200" y="292608"/>
            <a:ext cx="91440" cy="91440"/>
          </a:xfrm>
          <a:prstGeom prst="ellipse">
            <a:avLst/>
          </a:prstGeom>
          <a:solidFill>
            <a:srgbClr val="5B21B6"/>
          </a:solidFill>
          <a:ln/>
        </p:spPr>
      </p:sp>
      <p:sp>
        <p:nvSpPr>
          <p:cNvPr id="3" name="Text 1"/>
          <p:cNvSpPr/>
          <p:nvPr/>
        </p:nvSpPr>
        <p:spPr>
          <a:xfrm>
            <a:off x="603504" y="246888"/>
            <a:ext cx="4572000" cy="182880"/>
          </a:xfrm>
          <a:prstGeom prst="rect">
            <a:avLst/>
          </a:prstGeom>
          <a:noFill/>
          <a:ln/>
        </p:spPr>
        <p:txBody>
          <a:bodyPr wrap="square" lIns="0" tIns="0" rIns="0" bIns="0" rtlCol="0" anchor="ctr"/>
          <a:lstStyle/>
          <a:p>
            <a:pPr indent="0" marL="0">
              <a:buNone/>
            </a:pPr>
            <a:r>
              <a:rPr lang="en-US" sz="800" b="1" spc="500" kern="0" dirty="0">
                <a:solidFill>
                  <a:srgbClr val="6B7280"/>
                </a:solidFill>
                <a:latin typeface="Aptos" pitchFamily="34" charset="0"/>
                <a:ea typeface="Aptos" pitchFamily="34" charset="-122"/>
                <a:cs typeface="Aptos" pitchFamily="34" charset="-120"/>
              </a:rPr>
              <a:t>MQ &amp; ACE PLATFORM STORY</a:t>
            </a:r>
            <a:endParaRPr lang="en-US" sz="800" dirty="0"/>
          </a:p>
        </p:txBody>
      </p:sp>
      <p:sp>
        <p:nvSpPr>
          <p:cNvPr id="4" name="Text 2"/>
          <p:cNvSpPr/>
          <p:nvPr/>
        </p:nvSpPr>
        <p:spPr>
          <a:xfrm>
            <a:off x="457200" y="640080"/>
            <a:ext cx="8229600" cy="777240"/>
          </a:xfrm>
          <a:prstGeom prst="rect">
            <a:avLst/>
          </a:prstGeom>
          <a:noFill/>
          <a:ln/>
        </p:spPr>
        <p:txBody>
          <a:bodyPr wrap="square" lIns="0" tIns="0" rIns="0" bIns="0" rtlCol="0" anchor="t"/>
          <a:lstStyle/>
          <a:p>
            <a:pPr indent="0" marL="0">
              <a:buNone/>
            </a:pPr>
            <a:r>
              <a:rPr lang="en-US" sz="2100" b="1" dirty="0">
                <a:solidFill>
                  <a:srgbClr val="1F2937"/>
                </a:solidFill>
                <a:latin typeface="Aptos Display" pitchFamily="34" charset="0"/>
                <a:ea typeface="Aptos Display" pitchFamily="34" charset="-122"/>
                <a:cs typeface="Aptos Display" pitchFamily="34" charset="-120"/>
              </a:rPr>
              <a:t>Production-ready AI demands capabilities you can trust and controls you can prove</a:t>
            </a:r>
            <a:endParaRPr lang="en-US" sz="2100" dirty="0"/>
          </a:p>
        </p:txBody>
      </p:sp>
      <p:sp>
        <p:nvSpPr>
          <p:cNvPr id="5" name="Shape 3"/>
          <p:cNvSpPr/>
          <p:nvPr/>
        </p:nvSpPr>
        <p:spPr>
          <a:xfrm>
            <a:off x="6583680" y="1325880"/>
            <a:ext cx="2194560" cy="2194560"/>
          </a:xfrm>
          <a:prstGeom prst="ellipse">
            <a:avLst/>
          </a:prstGeom>
          <a:solidFill>
            <a:srgbClr val="EDE9FE"/>
          </a:solidFill>
          <a:ln/>
        </p:spPr>
      </p:sp>
      <p:sp>
        <p:nvSpPr>
          <p:cNvPr id="6" name="Shape 4"/>
          <p:cNvSpPr/>
          <p:nvPr/>
        </p:nvSpPr>
        <p:spPr>
          <a:xfrm>
            <a:off x="6766560" y="1508760"/>
            <a:ext cx="1828800" cy="1828800"/>
          </a:xfrm>
          <a:prstGeom prst="ellipse">
            <a:avLst/>
          </a:prstGeom>
          <a:solidFill>
            <a:srgbClr val="5B21B6"/>
          </a:solidFill>
          <a:ln w="19050">
            <a:solidFill>
              <a:srgbClr val="4C1D95"/>
            </a:solidFill>
            <a:prstDash val="solid"/>
          </a:ln>
          <a:effectLst>
            <a:outerShdw sx="100000" sy="100000" kx="0" ky="0" algn="bl" rotWithShape="0" blurRad="152400" dist="25400" dir="5400000">
              <a:srgbClr val="5B21B6">
                <a:alpha val="10000"/>
              </a:srgbClr>
            </a:outerShdw>
          </a:effectLst>
        </p:spPr>
      </p:sp>
      <p:sp>
        <p:nvSpPr>
          <p:cNvPr id="7" name="Shape 5"/>
          <p:cNvSpPr/>
          <p:nvPr/>
        </p:nvSpPr>
        <p:spPr>
          <a:xfrm>
            <a:off x="6931152" y="1673352"/>
            <a:ext cx="1499616" cy="1499616"/>
          </a:xfrm>
          <a:prstGeom prst="ellipse">
            <a:avLst/>
          </a:prstGeom>
          <a:solidFill>
            <a:srgbClr val="4C1D95"/>
          </a:solidFill>
          <a:ln w="12700">
            <a:solidFill>
              <a:srgbClr val="A78BFA"/>
            </a:solidFill>
            <a:prstDash val="solid"/>
          </a:ln>
        </p:spPr>
      </p:sp>
      <p:pic>
        <p:nvPicPr>
          <p:cNvPr id="8" name="Image 0" descr="preencoded.png">    </p:cNvPr>
          <p:cNvPicPr>
            <a:picLocks noChangeAspect="1"/>
          </p:cNvPicPr>
          <p:nvPr/>
        </p:nvPicPr>
        <p:blipFill>
          <a:blip r:embed="rId1"/>
          <a:stretch>
            <a:fillRect/>
          </a:stretch>
        </p:blipFill>
        <p:spPr>
          <a:xfrm>
            <a:off x="7296912" y="1965960"/>
            <a:ext cx="768096" cy="768096"/>
          </a:xfrm>
          <a:prstGeom prst="rect">
            <a:avLst/>
          </a:prstGeom>
        </p:spPr>
      </p:pic>
      <p:sp>
        <p:nvSpPr>
          <p:cNvPr id="9" name="Text 6"/>
          <p:cNvSpPr/>
          <p:nvPr/>
        </p:nvSpPr>
        <p:spPr>
          <a:xfrm>
            <a:off x="6766560" y="2752344"/>
            <a:ext cx="1828800" cy="411480"/>
          </a:xfrm>
          <a:prstGeom prst="rect">
            <a:avLst/>
          </a:prstGeom>
          <a:noFill/>
          <a:ln/>
        </p:spPr>
        <p:txBody>
          <a:bodyPr wrap="square" lIns="0" tIns="0" rIns="0" bIns="0" rtlCol="0" anchor="t"/>
          <a:lstStyle/>
          <a:p>
            <a:pPr algn="ctr" indent="0" marL="0">
              <a:buNone/>
            </a:pPr>
            <a:r>
              <a:rPr lang="en-US" sz="1000" b="1" dirty="0">
                <a:solidFill>
                  <a:srgbClr val="FFFFFF"/>
                </a:solidFill>
                <a:latin typeface="Aptos" pitchFamily="34" charset="0"/>
                <a:ea typeface="Aptos" pitchFamily="34" charset="-122"/>
                <a:cs typeface="Aptos" pitchFamily="34" charset="-120"/>
              </a:rPr>
              <a:t>Defense-</a:t>
            </a:r>
            <a:endParaRPr lang="en-US" sz="1000" dirty="0"/>
          </a:p>
          <a:p>
            <a:pPr algn="ctr" indent="0" marL="0">
              <a:buNone/>
            </a:pPr>
            <a:r>
              <a:rPr lang="en-US" sz="1000" b="1" dirty="0">
                <a:solidFill>
                  <a:srgbClr val="FFFFFF"/>
                </a:solidFill>
                <a:latin typeface="Aptos" pitchFamily="34" charset="0"/>
                <a:ea typeface="Aptos" pitchFamily="34" charset="-122"/>
                <a:cs typeface="Aptos" pitchFamily="34" charset="-120"/>
              </a:rPr>
              <a:t>in-Depth</a:t>
            </a:r>
            <a:endParaRPr lang="en-US" sz="1000" dirty="0"/>
          </a:p>
        </p:txBody>
      </p:sp>
      <p:sp>
        <p:nvSpPr>
          <p:cNvPr id="10" name="Shape 7"/>
          <p:cNvSpPr/>
          <p:nvPr/>
        </p:nvSpPr>
        <p:spPr>
          <a:xfrm>
            <a:off x="457200" y="1508760"/>
            <a:ext cx="2011680" cy="1874520"/>
          </a:xfrm>
          <a:prstGeom prst="roundRect">
            <a:avLst>
              <a:gd name="adj" fmla="val 3902"/>
            </a:avLst>
          </a:prstGeom>
          <a:solidFill>
            <a:srgbClr val="FFFFFF"/>
          </a:solidFill>
          <a:ln w="12700">
            <a:solidFill>
              <a:srgbClr val="DDD6FE"/>
            </a:solidFill>
            <a:prstDash val="solid"/>
          </a:ln>
          <a:effectLst>
            <a:outerShdw sx="100000" sy="100000" kx="0" ky="0" algn="bl" rotWithShape="0" blurRad="152400" dist="25400" dir="5400000">
              <a:srgbClr val="5B21B6">
                <a:alpha val="10000"/>
              </a:srgbClr>
            </a:outerShdw>
          </a:effectLst>
        </p:spPr>
      </p:sp>
      <p:sp>
        <p:nvSpPr>
          <p:cNvPr id="11" name="Shape 8"/>
          <p:cNvSpPr/>
          <p:nvPr/>
        </p:nvSpPr>
        <p:spPr>
          <a:xfrm>
            <a:off x="457200" y="1508760"/>
            <a:ext cx="2011680" cy="54864"/>
          </a:xfrm>
          <a:prstGeom prst="rect">
            <a:avLst/>
          </a:prstGeom>
          <a:solidFill>
            <a:srgbClr val="5B21B6"/>
          </a:solidFill>
          <a:ln/>
        </p:spPr>
      </p:sp>
      <p:sp>
        <p:nvSpPr>
          <p:cNvPr id="12" name="Shape 9"/>
          <p:cNvSpPr/>
          <p:nvPr/>
        </p:nvSpPr>
        <p:spPr>
          <a:xfrm>
            <a:off x="1165860" y="1691640"/>
            <a:ext cx="594360" cy="594360"/>
          </a:xfrm>
          <a:prstGeom prst="ellipse">
            <a:avLst/>
          </a:prstGeom>
          <a:solidFill>
            <a:srgbClr val="5B21B6"/>
          </a:solidFill>
          <a:ln/>
        </p:spPr>
      </p:sp>
      <p:pic>
        <p:nvPicPr>
          <p:cNvPr id="13" name="Image 1" descr="preencoded.png">    </p:cNvPr>
          <p:cNvPicPr>
            <a:picLocks noChangeAspect="1"/>
          </p:cNvPicPr>
          <p:nvPr/>
        </p:nvPicPr>
        <p:blipFill>
          <a:blip r:embed="rId2"/>
          <a:stretch>
            <a:fillRect/>
          </a:stretch>
        </p:blipFill>
        <p:spPr>
          <a:xfrm>
            <a:off x="1271016" y="1783080"/>
            <a:ext cx="384048" cy="384048"/>
          </a:xfrm>
          <a:prstGeom prst="rect">
            <a:avLst/>
          </a:prstGeom>
        </p:spPr>
      </p:pic>
      <p:sp>
        <p:nvSpPr>
          <p:cNvPr id="14" name="Text 10"/>
          <p:cNvSpPr/>
          <p:nvPr/>
        </p:nvSpPr>
        <p:spPr>
          <a:xfrm>
            <a:off x="457200" y="2331720"/>
            <a:ext cx="2011680" cy="292608"/>
          </a:xfrm>
          <a:prstGeom prst="rect">
            <a:avLst/>
          </a:prstGeom>
          <a:noFill/>
          <a:ln/>
        </p:spPr>
        <p:txBody>
          <a:bodyPr wrap="square" lIns="0" tIns="0" rIns="0" bIns="0" rtlCol="0" anchor="ctr"/>
          <a:lstStyle/>
          <a:p>
            <a:pPr algn="ctr" indent="0" marL="0">
              <a:buNone/>
            </a:pPr>
            <a:r>
              <a:rPr lang="en-US" sz="1400" b="1" dirty="0">
                <a:solidFill>
                  <a:srgbClr val="4C1D95"/>
                </a:solidFill>
                <a:latin typeface="Aptos Display" pitchFamily="34" charset="0"/>
                <a:ea typeface="Aptos Display" pitchFamily="34" charset="-122"/>
                <a:cs typeface="Aptos Display" pitchFamily="34" charset="-120"/>
              </a:rPr>
              <a:t>Capabilities</a:t>
            </a:r>
            <a:endParaRPr lang="en-US" sz="1400" dirty="0"/>
          </a:p>
        </p:txBody>
      </p:sp>
      <p:sp>
        <p:nvSpPr>
          <p:cNvPr id="15" name="Text 11"/>
          <p:cNvSpPr/>
          <p:nvPr/>
        </p:nvSpPr>
        <p:spPr>
          <a:xfrm>
            <a:off x="594360" y="2651760"/>
            <a:ext cx="1737360" cy="685800"/>
          </a:xfrm>
          <a:prstGeom prst="rect">
            <a:avLst/>
          </a:prstGeom>
          <a:noFill/>
          <a:ln/>
        </p:spPr>
        <p:txBody>
          <a:bodyPr wrap="square" lIns="0" tIns="0" rIns="0" bIns="0" rtlCol="0" anchor="t"/>
          <a:lstStyle/>
          <a:p>
            <a:pPr algn="ctr" indent="0" marL="0">
              <a:buNone/>
            </a:pPr>
            <a:r>
              <a:rPr lang="en-US" sz="950" dirty="0">
                <a:solidFill>
                  <a:srgbClr val="6B7280"/>
                </a:solidFill>
                <a:latin typeface="Aptos" pitchFamily="34" charset="0"/>
                <a:ea typeface="Aptos" pitchFamily="34" charset="-122"/>
                <a:cs typeface="Aptos" pitchFamily="34" charset="-120"/>
              </a:rPr>
              <a:t>Autonomous reasoning · 13 read-only tools · open MCP protocol</a:t>
            </a:r>
            <a:endParaRPr lang="en-US" sz="950" dirty="0"/>
          </a:p>
        </p:txBody>
      </p:sp>
      <p:sp>
        <p:nvSpPr>
          <p:cNvPr id="16" name="Shape 12"/>
          <p:cNvSpPr/>
          <p:nvPr/>
        </p:nvSpPr>
        <p:spPr>
          <a:xfrm>
            <a:off x="2615184" y="1508760"/>
            <a:ext cx="2011680" cy="1874520"/>
          </a:xfrm>
          <a:prstGeom prst="roundRect">
            <a:avLst>
              <a:gd name="adj" fmla="val 3902"/>
            </a:avLst>
          </a:prstGeom>
          <a:solidFill>
            <a:srgbClr val="FFFFFF"/>
          </a:solidFill>
          <a:ln w="12700">
            <a:solidFill>
              <a:srgbClr val="DDD6FE"/>
            </a:solidFill>
            <a:prstDash val="solid"/>
          </a:ln>
          <a:effectLst>
            <a:outerShdw sx="100000" sy="100000" kx="0" ky="0" algn="bl" rotWithShape="0" blurRad="152400" dist="25400" dir="5400000">
              <a:srgbClr val="5B21B6">
                <a:alpha val="10000"/>
              </a:srgbClr>
            </a:outerShdw>
          </a:effectLst>
        </p:spPr>
      </p:sp>
      <p:sp>
        <p:nvSpPr>
          <p:cNvPr id="17" name="Shape 13"/>
          <p:cNvSpPr/>
          <p:nvPr/>
        </p:nvSpPr>
        <p:spPr>
          <a:xfrm>
            <a:off x="2615184" y="1508760"/>
            <a:ext cx="2011680" cy="54864"/>
          </a:xfrm>
          <a:prstGeom prst="rect">
            <a:avLst/>
          </a:prstGeom>
          <a:solidFill>
            <a:srgbClr val="5B21B6"/>
          </a:solidFill>
          <a:ln/>
        </p:spPr>
      </p:sp>
      <p:sp>
        <p:nvSpPr>
          <p:cNvPr id="18" name="Shape 14"/>
          <p:cNvSpPr/>
          <p:nvPr/>
        </p:nvSpPr>
        <p:spPr>
          <a:xfrm>
            <a:off x="3323844" y="1691640"/>
            <a:ext cx="594360" cy="594360"/>
          </a:xfrm>
          <a:prstGeom prst="ellipse">
            <a:avLst/>
          </a:prstGeom>
          <a:solidFill>
            <a:srgbClr val="5B21B6"/>
          </a:solidFill>
          <a:ln/>
        </p:spPr>
      </p:sp>
      <p:pic>
        <p:nvPicPr>
          <p:cNvPr id="19" name="Image 2" descr="preencoded.png">    </p:cNvPr>
          <p:cNvPicPr>
            <a:picLocks noChangeAspect="1"/>
          </p:cNvPicPr>
          <p:nvPr/>
        </p:nvPicPr>
        <p:blipFill>
          <a:blip r:embed="rId3"/>
          <a:stretch>
            <a:fillRect/>
          </a:stretch>
        </p:blipFill>
        <p:spPr>
          <a:xfrm>
            <a:off x="3429000" y="1783080"/>
            <a:ext cx="384048" cy="384048"/>
          </a:xfrm>
          <a:prstGeom prst="rect">
            <a:avLst/>
          </a:prstGeom>
        </p:spPr>
      </p:pic>
      <p:sp>
        <p:nvSpPr>
          <p:cNvPr id="20" name="Text 15"/>
          <p:cNvSpPr/>
          <p:nvPr/>
        </p:nvSpPr>
        <p:spPr>
          <a:xfrm>
            <a:off x="2615184" y="2331720"/>
            <a:ext cx="2011680" cy="292608"/>
          </a:xfrm>
          <a:prstGeom prst="rect">
            <a:avLst/>
          </a:prstGeom>
          <a:noFill/>
          <a:ln/>
        </p:spPr>
        <p:txBody>
          <a:bodyPr wrap="square" lIns="0" tIns="0" rIns="0" bIns="0" rtlCol="0" anchor="ctr"/>
          <a:lstStyle/>
          <a:p>
            <a:pPr algn="ctr" indent="0" marL="0">
              <a:buNone/>
            </a:pPr>
            <a:r>
              <a:rPr lang="en-US" sz="1400" b="1" dirty="0">
                <a:solidFill>
                  <a:srgbClr val="4C1D95"/>
                </a:solidFill>
                <a:latin typeface="Aptos Display" pitchFamily="34" charset="0"/>
                <a:ea typeface="Aptos Display" pitchFamily="34" charset="-122"/>
                <a:cs typeface="Aptos Display" pitchFamily="34" charset="-120"/>
              </a:rPr>
              <a:t>Controls</a:t>
            </a:r>
            <a:endParaRPr lang="en-US" sz="1400" dirty="0"/>
          </a:p>
        </p:txBody>
      </p:sp>
      <p:sp>
        <p:nvSpPr>
          <p:cNvPr id="21" name="Text 16"/>
          <p:cNvSpPr/>
          <p:nvPr/>
        </p:nvSpPr>
        <p:spPr>
          <a:xfrm>
            <a:off x="2752344" y="2651760"/>
            <a:ext cx="1737360" cy="685800"/>
          </a:xfrm>
          <a:prstGeom prst="rect">
            <a:avLst/>
          </a:prstGeom>
          <a:noFill/>
          <a:ln/>
        </p:spPr>
        <p:txBody>
          <a:bodyPr wrap="square" lIns="0" tIns="0" rIns="0" bIns="0" rtlCol="0" anchor="t"/>
          <a:lstStyle/>
          <a:p>
            <a:pPr algn="ctr" indent="0" marL="0">
              <a:buNone/>
            </a:pPr>
            <a:r>
              <a:rPr lang="en-US" sz="950" dirty="0">
                <a:solidFill>
                  <a:srgbClr val="6B7280"/>
                </a:solidFill>
                <a:latin typeface="Aptos" pitchFamily="34" charset="0"/>
                <a:ea typeface="Aptos" pitchFamily="34" charset="-122"/>
                <a:cs typeface="Aptos" pitchFamily="34" charset="-120"/>
              </a:rPr>
              <a:t>Read-only by construction · 6-layer defence-in-depth</a:t>
            </a:r>
            <a:endParaRPr lang="en-US" sz="950" dirty="0"/>
          </a:p>
        </p:txBody>
      </p:sp>
      <p:sp>
        <p:nvSpPr>
          <p:cNvPr id="22" name="Shape 17"/>
          <p:cNvSpPr/>
          <p:nvPr/>
        </p:nvSpPr>
        <p:spPr>
          <a:xfrm>
            <a:off x="4773168" y="1508760"/>
            <a:ext cx="2011680" cy="1874520"/>
          </a:xfrm>
          <a:prstGeom prst="roundRect">
            <a:avLst>
              <a:gd name="adj" fmla="val 3902"/>
            </a:avLst>
          </a:prstGeom>
          <a:solidFill>
            <a:srgbClr val="FFFFFF"/>
          </a:solidFill>
          <a:ln w="12700">
            <a:solidFill>
              <a:srgbClr val="DDD6FE"/>
            </a:solidFill>
            <a:prstDash val="solid"/>
          </a:ln>
          <a:effectLst>
            <a:outerShdw sx="100000" sy="100000" kx="0" ky="0" algn="bl" rotWithShape="0" blurRad="152400" dist="25400" dir="5400000">
              <a:srgbClr val="5B21B6">
                <a:alpha val="10000"/>
              </a:srgbClr>
            </a:outerShdw>
          </a:effectLst>
        </p:spPr>
      </p:sp>
      <p:sp>
        <p:nvSpPr>
          <p:cNvPr id="23" name="Shape 18"/>
          <p:cNvSpPr/>
          <p:nvPr/>
        </p:nvSpPr>
        <p:spPr>
          <a:xfrm>
            <a:off x="4773168" y="1508760"/>
            <a:ext cx="2011680" cy="54864"/>
          </a:xfrm>
          <a:prstGeom prst="rect">
            <a:avLst/>
          </a:prstGeom>
          <a:solidFill>
            <a:srgbClr val="5B21B6"/>
          </a:solidFill>
          <a:ln/>
        </p:spPr>
      </p:sp>
      <p:sp>
        <p:nvSpPr>
          <p:cNvPr id="24" name="Shape 19"/>
          <p:cNvSpPr/>
          <p:nvPr/>
        </p:nvSpPr>
        <p:spPr>
          <a:xfrm>
            <a:off x="5481828" y="1691640"/>
            <a:ext cx="594360" cy="594360"/>
          </a:xfrm>
          <a:prstGeom prst="ellipse">
            <a:avLst/>
          </a:prstGeom>
          <a:solidFill>
            <a:srgbClr val="5B21B6"/>
          </a:solidFill>
          <a:ln/>
        </p:spPr>
      </p:sp>
      <p:pic>
        <p:nvPicPr>
          <p:cNvPr id="25" name="Image 3" descr="preencoded.png">    </p:cNvPr>
          <p:cNvPicPr>
            <a:picLocks noChangeAspect="1"/>
          </p:cNvPicPr>
          <p:nvPr/>
        </p:nvPicPr>
        <p:blipFill>
          <a:blip r:embed="rId4"/>
          <a:stretch>
            <a:fillRect/>
          </a:stretch>
        </p:blipFill>
        <p:spPr>
          <a:xfrm>
            <a:off x="5586984" y="1783080"/>
            <a:ext cx="384048" cy="384048"/>
          </a:xfrm>
          <a:prstGeom prst="rect">
            <a:avLst/>
          </a:prstGeom>
        </p:spPr>
      </p:pic>
      <p:sp>
        <p:nvSpPr>
          <p:cNvPr id="26" name="Text 20"/>
          <p:cNvSpPr/>
          <p:nvPr/>
        </p:nvSpPr>
        <p:spPr>
          <a:xfrm>
            <a:off x="4773168" y="2331720"/>
            <a:ext cx="2011680" cy="292608"/>
          </a:xfrm>
          <a:prstGeom prst="rect">
            <a:avLst/>
          </a:prstGeom>
          <a:noFill/>
          <a:ln/>
        </p:spPr>
        <p:txBody>
          <a:bodyPr wrap="square" lIns="0" tIns="0" rIns="0" bIns="0" rtlCol="0" anchor="ctr"/>
          <a:lstStyle/>
          <a:p>
            <a:pPr algn="ctr" indent="0" marL="0">
              <a:buNone/>
            </a:pPr>
            <a:r>
              <a:rPr lang="en-US" sz="1400" b="1" dirty="0">
                <a:solidFill>
                  <a:srgbClr val="4C1D95"/>
                </a:solidFill>
                <a:latin typeface="Aptos Display" pitchFamily="34" charset="0"/>
                <a:ea typeface="Aptos Display" pitchFamily="34" charset="-122"/>
                <a:cs typeface="Aptos Display" pitchFamily="34" charset="-120"/>
              </a:rPr>
              <a:t>Craft</a:t>
            </a:r>
            <a:endParaRPr lang="en-US" sz="1400" dirty="0"/>
          </a:p>
        </p:txBody>
      </p:sp>
      <p:sp>
        <p:nvSpPr>
          <p:cNvPr id="27" name="Text 21"/>
          <p:cNvSpPr/>
          <p:nvPr/>
        </p:nvSpPr>
        <p:spPr>
          <a:xfrm>
            <a:off x="4910328" y="2651760"/>
            <a:ext cx="1737360" cy="685800"/>
          </a:xfrm>
          <a:prstGeom prst="rect">
            <a:avLst/>
          </a:prstGeom>
          <a:noFill/>
          <a:ln/>
        </p:spPr>
        <p:txBody>
          <a:bodyPr wrap="square" lIns="0" tIns="0" rIns="0" bIns="0" rtlCol="0" anchor="t"/>
          <a:lstStyle/>
          <a:p>
            <a:pPr algn="ctr" indent="0" marL="0">
              <a:buNone/>
            </a:pPr>
            <a:r>
              <a:rPr lang="en-US" sz="950" dirty="0">
                <a:solidFill>
                  <a:srgbClr val="6B7280"/>
                </a:solidFill>
                <a:latin typeface="Aptos" pitchFamily="34" charset="0"/>
                <a:ea typeface="Aptos" pitchFamily="34" charset="-122"/>
                <a:cs typeface="Aptos" pitchFamily="34" charset="-120"/>
              </a:rPr>
              <a:t>Single-route enforcement · per-call audit · ContextVars</a:t>
            </a:r>
            <a:endParaRPr lang="en-US" sz="950" dirty="0"/>
          </a:p>
        </p:txBody>
      </p:sp>
      <p:sp>
        <p:nvSpPr>
          <p:cNvPr id="28" name="Shape 22"/>
          <p:cNvSpPr/>
          <p:nvPr/>
        </p:nvSpPr>
        <p:spPr>
          <a:xfrm>
            <a:off x="457200" y="3566160"/>
            <a:ext cx="8229600" cy="347472"/>
          </a:xfrm>
          <a:prstGeom prst="rect">
            <a:avLst/>
          </a:prstGeom>
          <a:solidFill>
            <a:srgbClr val="4C1D95"/>
          </a:solidFill>
          <a:ln/>
        </p:spPr>
      </p:sp>
      <p:sp>
        <p:nvSpPr>
          <p:cNvPr id="29" name="Text 23"/>
          <p:cNvSpPr/>
          <p:nvPr/>
        </p:nvSpPr>
        <p:spPr>
          <a:xfrm>
            <a:off x="457200" y="3566160"/>
            <a:ext cx="8229600" cy="347472"/>
          </a:xfrm>
          <a:prstGeom prst="rect">
            <a:avLst/>
          </a:prstGeom>
          <a:noFill/>
          <a:ln/>
        </p:spPr>
        <p:txBody>
          <a:bodyPr wrap="square" lIns="0" tIns="0" rIns="0" bIns="0" rtlCol="0" anchor="ctr"/>
          <a:lstStyle/>
          <a:p>
            <a:pPr algn="ctr" indent="0" marL="0">
              <a:buNone/>
            </a:pPr>
            <a:r>
              <a:rPr lang="en-US" sz="1000" b="1" spc="400" kern="0" dirty="0">
                <a:solidFill>
                  <a:srgbClr val="FFFFFF"/>
                </a:solidFill>
                <a:latin typeface="Aptos" pitchFamily="34" charset="0"/>
                <a:ea typeface="Aptos" pitchFamily="34" charset="-122"/>
                <a:cs typeface="Aptos" pitchFamily="34" charset="-120"/>
              </a:rPr>
              <a:t>GET-ONLY  ·  NO MODIFY VERBS  ·  HOSTNAME ALLOW-LIST  ·  10/12 AGENTIC COMPONENTS</a:t>
            </a:r>
            <a:endParaRPr lang="en-US" sz="1000" dirty="0"/>
          </a:p>
        </p:txBody>
      </p:sp>
      <p:sp>
        <p:nvSpPr>
          <p:cNvPr id="30" name="Shape 24"/>
          <p:cNvSpPr/>
          <p:nvPr/>
        </p:nvSpPr>
        <p:spPr>
          <a:xfrm>
            <a:off x="457200" y="4069080"/>
            <a:ext cx="4023360" cy="822960"/>
          </a:xfrm>
          <a:prstGeom prst="roundRect">
            <a:avLst>
              <a:gd name="adj" fmla="val 8889"/>
            </a:avLst>
          </a:prstGeom>
          <a:solidFill>
            <a:srgbClr val="4C1D95"/>
          </a:solidFill>
          <a:ln/>
          <a:effectLst>
            <a:outerShdw sx="100000" sy="100000" kx="0" ky="0" algn="bl" rotWithShape="0" blurRad="127000" dist="25400" dir="5400000">
              <a:srgbClr val="000000">
                <a:alpha val="14000"/>
              </a:srgbClr>
            </a:outerShdw>
          </a:effectLst>
        </p:spPr>
      </p:sp>
      <p:pic>
        <p:nvPicPr>
          <p:cNvPr id="31" name="Image 4" descr="preencoded.png">    </p:cNvPr>
          <p:cNvPicPr>
            <a:picLocks noChangeAspect="1"/>
          </p:cNvPicPr>
          <p:nvPr/>
        </p:nvPicPr>
        <p:blipFill>
          <a:blip r:embed="rId5"/>
          <a:stretch>
            <a:fillRect/>
          </a:stretch>
        </p:blipFill>
        <p:spPr>
          <a:xfrm>
            <a:off x="594360" y="4233672"/>
            <a:ext cx="457200" cy="457200"/>
          </a:xfrm>
          <a:prstGeom prst="rect">
            <a:avLst/>
          </a:prstGeom>
        </p:spPr>
      </p:pic>
      <p:sp>
        <p:nvSpPr>
          <p:cNvPr id="32" name="Text 25"/>
          <p:cNvSpPr/>
          <p:nvPr/>
        </p:nvSpPr>
        <p:spPr>
          <a:xfrm>
            <a:off x="1188720" y="4160520"/>
            <a:ext cx="2743200" cy="292608"/>
          </a:xfrm>
          <a:prstGeom prst="rect">
            <a:avLst/>
          </a:prstGeom>
          <a:noFill/>
          <a:ln/>
        </p:spPr>
        <p:txBody>
          <a:bodyPr wrap="square" lIns="0" tIns="0" rIns="0" bIns="0" rtlCol="0" anchor="ctr"/>
          <a:lstStyle/>
          <a:p>
            <a:pPr indent="0" marL="0">
              <a:buNone/>
            </a:pPr>
            <a:r>
              <a:rPr lang="en-US" sz="1600" b="1" dirty="0">
                <a:solidFill>
                  <a:srgbClr val="FFFFFF"/>
                </a:solidFill>
                <a:latin typeface="Aptos Display" pitchFamily="34" charset="0"/>
                <a:ea typeface="Aptos Display" pitchFamily="34" charset="-122"/>
                <a:cs typeface="Aptos Display" pitchFamily="34" charset="-120"/>
              </a:rPr>
              <a:t>7 IBM MQ Tools</a:t>
            </a:r>
            <a:endParaRPr lang="en-US" sz="1600" dirty="0"/>
          </a:p>
        </p:txBody>
      </p:sp>
      <p:sp>
        <p:nvSpPr>
          <p:cNvPr id="33" name="Text 26"/>
          <p:cNvSpPr/>
          <p:nvPr/>
        </p:nvSpPr>
        <p:spPr>
          <a:xfrm>
            <a:off x="1188720" y="4453128"/>
            <a:ext cx="2743200" cy="384048"/>
          </a:xfrm>
          <a:prstGeom prst="rect">
            <a:avLst/>
          </a:prstGeom>
          <a:noFill/>
          <a:ln/>
        </p:spPr>
        <p:txBody>
          <a:bodyPr wrap="square" lIns="0" tIns="0" rIns="0" bIns="0" rtlCol="0" anchor="t"/>
          <a:lstStyle/>
          <a:p>
            <a:pPr indent="0" marL="0">
              <a:buNone/>
            </a:pPr>
            <a:r>
              <a:rPr lang="en-US" sz="800" dirty="0">
                <a:solidFill>
                  <a:srgbClr val="DDD6FE"/>
                </a:solidFill>
                <a:latin typeface="Consolas" pitchFamily="34" charset="0"/>
                <a:ea typeface="Consolas" pitchFamily="34" charset="-122"/>
                <a:cs typeface="Consolas" pitchFamily="34" charset="-120"/>
              </a:rPr>
              <a:t>find_mq_object · dspmq · dspmqver · runmqsc · run_mqsc_for_object · get_queue_depth · get_channel_status</a:t>
            </a:r>
            <a:endParaRPr lang="en-US" sz="800" dirty="0"/>
          </a:p>
        </p:txBody>
      </p:sp>
      <p:sp>
        <p:nvSpPr>
          <p:cNvPr id="34" name="Shape 27"/>
          <p:cNvSpPr/>
          <p:nvPr/>
        </p:nvSpPr>
        <p:spPr>
          <a:xfrm>
            <a:off x="4663440" y="4069080"/>
            <a:ext cx="4023360" cy="822960"/>
          </a:xfrm>
          <a:prstGeom prst="roundRect">
            <a:avLst>
              <a:gd name="adj" fmla="val 8889"/>
            </a:avLst>
          </a:prstGeom>
          <a:solidFill>
            <a:srgbClr val="4C1D95"/>
          </a:solidFill>
          <a:ln/>
          <a:effectLst>
            <a:outerShdw sx="100000" sy="100000" kx="0" ky="0" algn="bl" rotWithShape="0" blurRad="127000" dist="25400" dir="5400000">
              <a:srgbClr val="000000">
                <a:alpha val="14000"/>
              </a:srgbClr>
            </a:outerShdw>
          </a:effectLst>
        </p:spPr>
      </p:sp>
      <p:pic>
        <p:nvPicPr>
          <p:cNvPr id="35" name="Image 5" descr="preencoded.png">    </p:cNvPr>
          <p:cNvPicPr>
            <a:picLocks noChangeAspect="1"/>
          </p:cNvPicPr>
          <p:nvPr/>
        </p:nvPicPr>
        <p:blipFill>
          <a:blip r:embed="rId6"/>
          <a:stretch>
            <a:fillRect/>
          </a:stretch>
        </p:blipFill>
        <p:spPr>
          <a:xfrm>
            <a:off x="4800600" y="4233672"/>
            <a:ext cx="457200" cy="457200"/>
          </a:xfrm>
          <a:prstGeom prst="rect">
            <a:avLst/>
          </a:prstGeom>
        </p:spPr>
      </p:pic>
      <p:sp>
        <p:nvSpPr>
          <p:cNvPr id="36" name="Text 28"/>
          <p:cNvSpPr/>
          <p:nvPr/>
        </p:nvSpPr>
        <p:spPr>
          <a:xfrm>
            <a:off x="5394960" y="4160520"/>
            <a:ext cx="3200400" cy="292608"/>
          </a:xfrm>
          <a:prstGeom prst="rect">
            <a:avLst/>
          </a:prstGeom>
          <a:noFill/>
          <a:ln/>
        </p:spPr>
        <p:txBody>
          <a:bodyPr wrap="square" lIns="0" tIns="0" rIns="0" bIns="0" rtlCol="0" anchor="ctr"/>
          <a:lstStyle/>
          <a:p>
            <a:pPr indent="0" marL="0">
              <a:buNone/>
            </a:pPr>
            <a:r>
              <a:rPr lang="en-US" sz="1600" b="1" dirty="0">
                <a:solidFill>
                  <a:srgbClr val="FFFFFF"/>
                </a:solidFill>
                <a:latin typeface="Aptos Display" pitchFamily="34" charset="0"/>
                <a:ea typeface="Aptos Display" pitchFamily="34" charset="-122"/>
                <a:cs typeface="Aptos Display" pitchFamily="34" charset="-120"/>
              </a:rPr>
              <a:t>6 IBM ACE Tools</a:t>
            </a:r>
            <a:endParaRPr lang="en-US" sz="1600" dirty="0"/>
          </a:p>
        </p:txBody>
      </p:sp>
      <p:sp>
        <p:nvSpPr>
          <p:cNvPr id="37" name="Text 29"/>
          <p:cNvSpPr/>
          <p:nvPr/>
        </p:nvSpPr>
        <p:spPr>
          <a:xfrm>
            <a:off x="5394960" y="4453128"/>
            <a:ext cx="3200400" cy="384048"/>
          </a:xfrm>
          <a:prstGeom prst="rect">
            <a:avLst/>
          </a:prstGeom>
          <a:noFill/>
          <a:ln/>
        </p:spPr>
        <p:txBody>
          <a:bodyPr wrap="square" lIns="0" tIns="0" rIns="0" bIns="0" rtlCol="0" anchor="t"/>
          <a:lstStyle/>
          <a:p>
            <a:pPr indent="0" marL="0">
              <a:buNone/>
            </a:pPr>
            <a:r>
              <a:rPr lang="en-US" sz="800" dirty="0">
                <a:solidFill>
                  <a:srgbClr val="DDD6FE"/>
                </a:solidFill>
                <a:latin typeface="Consolas" pitchFamily="34" charset="0"/>
                <a:ea typeface="Consolas" pitchFamily="34" charset="-122"/>
                <a:cs typeface="Consolas" pitchFamily="34" charset="-120"/>
              </a:rPr>
              <a:t>list_ace_nodes · get_ace_node_status · list_ace_servers · list_ace_applications · list_ace_message_flows · search_ace_local_dump</a:t>
            </a:r>
            <a:endParaRPr lang="en-US" sz="800" dirty="0"/>
          </a:p>
        </p:txBody>
      </p:sp>
      <p:sp>
        <p:nvSpPr>
          <p:cNvPr id="38" name="Text 30"/>
          <p:cNvSpPr/>
          <p:nvPr/>
        </p:nvSpPr>
        <p:spPr>
          <a:xfrm>
            <a:off x="8412480" y="4846320"/>
            <a:ext cx="594360" cy="182880"/>
          </a:xfrm>
          <a:prstGeom prst="rect">
            <a:avLst/>
          </a:prstGeom>
          <a:noFill/>
          <a:ln/>
        </p:spPr>
        <p:txBody>
          <a:bodyPr wrap="square" lIns="0" tIns="0" rIns="0" bIns="0" rtlCol="0" anchor="ctr"/>
          <a:lstStyle/>
          <a:p>
            <a:pPr algn="r" indent="0" marL="0">
              <a:buNone/>
            </a:pPr>
            <a:r>
              <a:rPr lang="en-US" sz="800" spc="100" kern="0" dirty="0">
                <a:solidFill>
                  <a:srgbClr val="9CA3AF"/>
                </a:solidFill>
                <a:latin typeface="Aptos" pitchFamily="34" charset="0"/>
                <a:ea typeface="Aptos" pitchFamily="34" charset="-122"/>
                <a:cs typeface="Aptos" pitchFamily="34" charset="-120"/>
              </a:rPr>
              <a:t>7 / 7</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MQ &amp; ACE Platform Story</dc:title>
  <dc:subject>Console chaos to conversational intelligence</dc:subject>
  <dc:creator>MQ/ACE Platform Support</dc:creator>
  <cp:lastModifiedBy>MQ/ACE Platform Support</cp:lastModifiedBy>
  <cp:revision>1</cp:revision>
  <dcterms:created xsi:type="dcterms:W3CDTF">2026-05-25T21:28:16Z</dcterms:created>
  <dcterms:modified xsi:type="dcterms:W3CDTF">2026-05-25T21:28:16Z</dcterms:modified>
</cp:coreProperties>
</file>