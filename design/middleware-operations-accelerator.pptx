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76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2475" y="41910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4101A"/>
                </a:solidFill>
                <a:latin typeface="Graphik"/>
              </a:rPr>
              <a:t>Middleware Operations Accelerator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05900" y="428625"/>
            <a:ext cx="2552700" cy="238125"/>
          </a:xfrm>
          <a:prstGeom prst="roundRect">
            <a:avLst>
              <a:gd name="adj" fmla="val 48000"/>
            </a:avLst>
          </a:prstGeom>
          <a:noFill/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48775" y="5143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82125" y="428625"/>
            <a:ext cx="2209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60">
                <a:solidFill>
                  <a:srgbClr val="6B6472"/>
                </a:solidFill>
                <a:latin typeface="Graphik"/>
              </a:rPr>
              <a:t>RUNS INSIDE YOUR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914400"/>
            <a:ext cx="5905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9000"/>
              </a:lnSpc>
            </a:pPr>
            <a:r>
              <a:rPr sz="2550" b="1" spc="-80">
                <a:solidFill>
                  <a:srgbClr val="14101A"/>
                </a:solidFill>
                <a:latin typeface="Graphik"/>
              </a:rPr>
              <a:t>An MCP-native AI agent for</a:t>
            </a:r>
          </a:p>
          <a:p>
            <a:pPr algn="l">
              <a:lnSpc>
                <a:spcPct val="109000"/>
              </a:lnSpc>
            </a:pPr>
            <a:r>
              <a:rPr sz="2550" b="1" spc="-80">
                <a:solidFill>
                  <a:srgbClr val="A100FF"/>
                </a:solidFill>
                <a:latin typeface="Graphik"/>
              </a:rPr>
              <a:t>IBM MQ &amp; ACE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91440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C5566"/>
                </a:solidFill>
                <a:latin typeface="Graphik"/>
              </a:rPr>
              <a:t>A conversational assistant over a purpose-built MCP server — governed, fully observable, and deployed inside your environment. Your teams ask; the agent discovers, executes and interprets.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905000"/>
            <a:ext cx="11125200" cy="857250"/>
          </a:xfrm>
          <a:prstGeom prst="roundRect">
            <a:avLst>
              <a:gd name="adj" fmla="val 13333"/>
            </a:avLst>
          </a:prstGeom>
          <a:solidFill>
            <a:srgbClr val="FAF8FD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038350"/>
            <a:ext cx="154919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people_60_a100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58" y="2105025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2276475"/>
            <a:ext cx="154919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41E2C"/>
                </a:solidFill>
                <a:latin typeface="Graphik"/>
              </a:rPr>
              <a:t>Support ·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19350"/>
            <a:ext cx="1549190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7E7688"/>
                </a:solidFill>
                <a:latin typeface="Graphik"/>
              </a:rPr>
              <a:t>SRE ·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0240" y="2038350"/>
            <a:ext cx="1714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C9BDD8"/>
                </a:solidFill>
                <a:latin typeface="Graphik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6940" y="2038350"/>
            <a:ext cx="154919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hat_60_a100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098" y="2105025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96940" y="2276475"/>
            <a:ext cx="154919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41E2C"/>
                </a:solidFill>
                <a:latin typeface="Graphik"/>
              </a:rPr>
              <a:t>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940" y="2419350"/>
            <a:ext cx="1549190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7E7688"/>
                </a:solidFill>
                <a:latin typeface="Graphik"/>
              </a:rPr>
              <a:t>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1380" y="2038350"/>
            <a:ext cx="1714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C9BDD8"/>
                </a:solidFill>
                <a:latin typeface="Graphik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8080" y="2038350"/>
            <a:ext cx="154919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agent_60_a100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238" y="2105025"/>
            <a:ext cx="1428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08080" y="2276475"/>
            <a:ext cx="154919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41E2C"/>
                </a:solidFill>
                <a:latin typeface="Graphik"/>
              </a:rPr>
              <a:t>AI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080" y="2419350"/>
            <a:ext cx="1549190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7E7688"/>
                </a:solidFill>
                <a:latin typeface="Graphik"/>
              </a:rPr>
              <a:t>tool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2520" y="2038350"/>
            <a:ext cx="1714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C9BDD8"/>
                </a:solidFill>
                <a:latin typeface="Graphik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220" y="2038350"/>
            <a:ext cx="2943461" cy="590550"/>
          </a:xfrm>
          <a:prstGeom prst="roundRect">
            <a:avLst>
              <a:gd name="adj" fmla="val 12903"/>
            </a:avLst>
          </a:prstGeom>
          <a:solidFill>
            <a:srgbClr val="F1E9FB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_server_56_6b21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901" y="2124075"/>
            <a:ext cx="133350" cy="1333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62351" y="2114550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4101A"/>
                </a:solidFill>
                <a:latin typeface="Graphik"/>
              </a:rPr>
              <a:t>MCP server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95576" y="2343150"/>
            <a:ext cx="571500" cy="152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5576" y="23431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4A4352"/>
                </a:solidFill>
                <a:latin typeface="Graphik"/>
              </a:rPr>
              <a:t>Read-only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14701" y="2343150"/>
            <a:ext cx="742950" cy="152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4701" y="2343150"/>
            <a:ext cx="742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4A4352"/>
                </a:solidFill>
                <a:latin typeface="Graphik"/>
              </a:rPr>
              <a:t>Host allow-list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5276" y="2343150"/>
            <a:ext cx="781050" cy="152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5276" y="2343150"/>
            <a:ext cx="7810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4A4352"/>
                </a:solidFill>
                <a:latin typeface="Graphik"/>
              </a:rPr>
              <a:t>Sanitised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7931" y="2038350"/>
            <a:ext cx="1714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C9BDD8"/>
                </a:solidFill>
                <a:latin typeface="Graphik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4631" y="2038350"/>
            <a:ext cx="1781569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stack_52_a100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81" y="2114550"/>
            <a:ext cx="123825" cy="1238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29431" y="2038350"/>
            <a:ext cx="1400569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41E2C"/>
                </a:solidFill>
                <a:latin typeface="Graphik"/>
              </a:rPr>
              <a:t>IBM MQ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24631" y="2352675"/>
            <a:ext cx="1781569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_stack_52_a100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81" y="2428875"/>
            <a:ext cx="123825" cy="1238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029431" y="2352675"/>
            <a:ext cx="1400569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41E2C"/>
                </a:solidFill>
                <a:latin typeface="Graphik"/>
              </a:rPr>
              <a:t>IBM 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3400" y="3000375"/>
            <a:ext cx="209550" cy="190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200" y="293370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6B21A8"/>
                </a:solidFill>
                <a:latin typeface="Graphik"/>
              </a:rPr>
              <a:t>PLATFORM — HOW IT WORKS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3400" y="3171825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6750" y="32956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F1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_server_60_6b21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38" y="3348038"/>
            <a:ext cx="142875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00125" y="3295650"/>
            <a:ext cx="2052638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90">
                <a:solidFill>
                  <a:srgbClr val="6B21A8"/>
                </a:solidFill>
                <a:latin typeface="Graphik"/>
              </a:rPr>
              <a:t>MCP SERVER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750" y="3629025"/>
            <a:ext cx="238601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50" b="0">
                <a:solidFill>
                  <a:srgbClr val="6B6472"/>
                </a:solidFill>
                <a:latin typeface="Graphik"/>
              </a:rPr>
              <a:t>A standards-based tool layer over MQ and ACE. Any MCP-capable client connects to the same governed endpoint.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57562" y="3171825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90912" y="32956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F1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con_agent_60_6b21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3348038"/>
            <a:ext cx="142875" cy="14287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824288" y="3295650"/>
            <a:ext cx="2052638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90">
                <a:solidFill>
                  <a:srgbClr val="6B21A8"/>
                </a:solidFill>
                <a:latin typeface="Graphik"/>
              </a:rPr>
              <a:t>AI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0912" y="3629025"/>
            <a:ext cx="238601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50" b="0">
                <a:solidFill>
                  <a:srgbClr val="6B6472"/>
                </a:solidFill>
                <a:latin typeface="Graphik"/>
              </a:rPr>
              <a:t>Resolves where an object lives, picks the right lookup and interprets the result. No chaining, no guesswork.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1725" y="3171825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15075" y="32956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F1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_chat_60_6b21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7462" y="3348038"/>
            <a:ext cx="142875" cy="1428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48450" y="3295650"/>
            <a:ext cx="2052638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90">
                <a:solidFill>
                  <a:srgbClr val="6B21A8"/>
                </a:solidFill>
                <a:latin typeface="Graphik"/>
              </a:rPr>
              <a:t>CHATBOT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5075" y="3629025"/>
            <a:ext cx="238601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50" b="0">
                <a:solidFill>
                  <a:srgbClr val="6B6472"/>
                </a:solidFill>
                <a:latin typeface="Graphik"/>
              </a:rPr>
              <a:t>One conversational interface for support, delivery, SRE and QA. Follow-ups keep the thread in context.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05888" y="3171825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39238" y="32956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F1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con_pulse_60_6b21a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1625" y="3348038"/>
            <a:ext cx="142875" cy="14287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472612" y="3295650"/>
            <a:ext cx="2052638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90">
                <a:solidFill>
                  <a:srgbClr val="6B21A8"/>
                </a:solidFill>
                <a:latin typeface="Graphik"/>
              </a:rPr>
              <a:t>OBSERVABILITY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9238" y="3629025"/>
            <a:ext cx="238601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50" b="0">
                <a:solidFill>
                  <a:srgbClr val="6B6472"/>
                </a:solidFill>
                <a:latin typeface="Graphik"/>
              </a:rPr>
              <a:t>Request id, endpoint and caller on every call, into structured logs and usage dashboards.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3400" y="4533900"/>
            <a:ext cx="209550" cy="190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200" y="44672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6B21A8"/>
                </a:solidFill>
                <a:latin typeface="Graphik"/>
              </a:rPr>
              <a:t>BUSINESS OUTCOMES — WHY ADOPT IT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3400" y="4705350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1E9FB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6750" y="4829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con_clock_68_6b21a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662" y="4891088"/>
            <a:ext cx="161925" cy="1619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57275" y="4829175"/>
            <a:ext cx="199548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spc="-40">
                <a:solidFill>
                  <a:srgbClr val="14101A"/>
                </a:solidFill>
                <a:latin typeface="Graphik"/>
              </a:rPr>
              <a:t>Answers in seconds, not tickets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7275" y="5210175"/>
            <a:ext cx="199548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00" b="0">
                <a:solidFill>
                  <a:srgbClr val="6B6472"/>
                </a:solidFill>
                <a:latin typeface="Graphik"/>
              </a:rPr>
              <a:t>Diagnostics that meant a login, an access request and a console session now resolve in one exchange.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57562" y="4705350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1E9FB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490912" y="4829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con_people_68_6b21a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2825" y="4891088"/>
            <a:ext cx="161925" cy="16192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881438" y="4829175"/>
            <a:ext cx="199548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spc="-40">
                <a:solidFill>
                  <a:srgbClr val="14101A"/>
                </a:solidFill>
                <a:latin typeface="Graphik"/>
              </a:rPr>
              <a:t>Specialists back on engineering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1438" y="5210175"/>
            <a:ext cx="199548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00" b="0">
                <a:solidFill>
                  <a:srgbClr val="6B6472"/>
                </a:solidFill>
                <a:latin typeface="Graphik"/>
              </a:rPr>
              <a:t>Routine lookups self-serve across teams. Your MQ and ACE experts stop being a lookup desk.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81725" y="4705350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1E9FB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315075" y="4829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con_shield_68_6b21a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6988" y="4891088"/>
            <a:ext cx="161925" cy="16192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705600" y="4829175"/>
            <a:ext cx="199548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spc="-40">
                <a:solidFill>
                  <a:srgbClr val="14101A"/>
                </a:solidFill>
                <a:latin typeface="Graphik"/>
              </a:rPr>
              <a:t>Broad answers, narrow access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05600" y="5210175"/>
            <a:ext cx="199548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00" b="0">
                <a:solidFill>
                  <a:srgbClr val="6B6472"/>
                </a:solidFill>
                <a:latin typeface="Graphik"/>
              </a:rPr>
              <a:t>Visibility without standing privileges — fewer accounts to grant, review and revoke.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05888" y="4705350"/>
            <a:ext cx="2652712" cy="1123950"/>
          </a:xfrm>
          <a:prstGeom prst="roundRect">
            <a:avLst>
              <a:gd name="adj" fmla="val 8474"/>
            </a:avLst>
          </a:prstGeom>
          <a:solidFill>
            <a:srgbClr val="F1E9FB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139238" y="4829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con_link_68_6b21a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1150" y="4891088"/>
            <a:ext cx="161925" cy="161925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529762" y="4829175"/>
            <a:ext cx="199548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spc="-40">
                <a:solidFill>
                  <a:srgbClr val="14101A"/>
                </a:solidFill>
                <a:latin typeface="Graphik"/>
              </a:rPr>
              <a:t>Open protocol, no lock-in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29762" y="5210175"/>
            <a:ext cx="199548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00" b="0">
                <a:solidFill>
                  <a:srgbClr val="6B6472"/>
                </a:solidFill>
                <a:latin typeface="Graphik"/>
              </a:rPr>
              <a:t>MCP is a standard. The same governed layer serves whatever agent your AI roadmap lands on.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3400" y="6000750"/>
            <a:ext cx="11125200" cy="476250"/>
          </a:xfrm>
          <a:prstGeom prst="roundRect">
            <a:avLst>
              <a:gd name="adj" fmla="val 20000"/>
            </a:avLst>
          </a:prstGeom>
          <a:solidFill>
            <a:srgbClr val="F1E9FB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con_shield_68_6b21a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6153150"/>
            <a:ext cx="161925" cy="16192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14400" y="6000750"/>
            <a:ext cx="1047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6B21A8"/>
                </a:solidFill>
                <a:latin typeface="Graphik"/>
              </a:rPr>
              <a:t>SAFEGUARDS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905000" y="6115050"/>
            <a:ext cx="18669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con_check_48_6b21a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09775" y="6181725"/>
            <a:ext cx="114300" cy="1143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2162175" y="6115050"/>
            <a:ext cx="151447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41E2C"/>
                </a:solidFill>
                <a:latin typeface="Graphik"/>
              </a:rPr>
              <a:t>Read-only, enforced in-process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0525" y="611505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con_check_48_6b21a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5300" y="6181725"/>
            <a:ext cx="114300" cy="1143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457700" y="6115050"/>
            <a:ext cx="117157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41E2C"/>
                </a:solidFill>
                <a:latin typeface="Graphik"/>
              </a:rPr>
              <a:t>Production out of scope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53150" y="61150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con_check_48_6b21a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7925" y="6181725"/>
            <a:ext cx="114300" cy="1143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410325" y="6115050"/>
            <a:ext cx="809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41E2C"/>
                </a:solidFill>
                <a:latin typeface="Graphik"/>
              </a:rPr>
              <a:t>Sanitised errors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743825" y="6115050"/>
            <a:ext cx="1600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icon_check_48_6b21a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48600" y="6181725"/>
            <a:ext cx="114300" cy="1143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001000" y="6115050"/>
            <a:ext cx="124777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41E2C"/>
                </a:solidFill>
                <a:latin typeface="Graphik"/>
              </a:rPr>
              <a:t>Secrets redacted in logs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772650" y="6115050"/>
            <a:ext cx="17335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con_check_48_6b21a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7425" y="6181725"/>
            <a:ext cx="114300" cy="1143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029825" y="6115050"/>
            <a:ext cx="13811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41E2C"/>
                </a:solidFill>
                <a:latin typeface="Graphik"/>
              </a:rPr>
              <a:t>Nothing leaves your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