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94360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594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Diagnostics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Diagnostics Assistant for IBM MQ &amp; IBM ACE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conversational interface </a:t>
            </a:r>
            <a:pPr indent="0" marL="0">
              <a:buNone/>
            </a:pPr>
            <a:r>
              <a:rPr lang="en-US" sz="17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console-hopping, ticket queues, and tribal knowledge — </a:t>
            </a:r>
            <a:pPr indent="0" marL="0">
              <a:buNone/>
            </a:pPr>
            <a:r>
              <a:rPr lang="en-US" sz="17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Model Context Protocol (MCP).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5394960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394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5394960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5394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Design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5394960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5394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60920" y="5394960"/>
            <a:ext cx="20574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5394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MCP-native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Ajit K · May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slides · 5 min read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·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diagnostics today is manual, console-heavy, and SME-gated.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0233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admin's daily reality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313432"/>
            <a:ext cx="118872" cy="11887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1945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into </a:t>
            </a:r>
            <a:pPr indent="0" marL="0">
              <a:buNone/>
            </a:pPr>
            <a:r>
              <a:rPr lang="en-US" sz="11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servers individually </a:t>
            </a:r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QM and node state — no single pane of glass.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788920"/>
            <a:ext cx="118872" cy="11887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67004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</a:t>
            </a:r>
            <a:pPr indent="0" marL="0">
              <a:buNone/>
            </a:pPr>
            <a:r>
              <a:rPr lang="en-US" sz="11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mqweb consoles</a:t>
            </a:r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(one per QM host) for depths, channel status, MQSC.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264408"/>
            <a:ext cx="118872" cy="11887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14553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</a:t>
            </a:r>
            <a:pPr indent="0" marL="0">
              <a:buNone/>
            </a:pPr>
            <a:r>
              <a:rPr lang="en-US" sz="11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ACE Web UI / Toolkit sessions</a:t>
            </a:r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servers, applications, message flows.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739896"/>
            <a:ext cx="118872" cy="11887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62102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between consoles, CSV inventory dumps, and ServiceNow for simple questions like "which QM hosts queue X?"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4215384"/>
            <a:ext cx="118872" cy="11887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09651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</a:t>
            </a:r>
            <a:pPr indent="0" marL="0">
              <a:buNone/>
            </a:pPr>
            <a:r>
              <a:rPr lang="en-US" sz="11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queues by hand</a:t>
            </a:r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chase the alias, then re-check depth on the right QM.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690872"/>
            <a:ext cx="118872" cy="11887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5720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Greps offline node dumps for BIP error codes when a node is unreachable.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5166360"/>
            <a:ext cx="118872" cy="11887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504748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same triage steps for the same recurring questions — no leverage, no scale.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43800" y="1691640"/>
            <a:ext cx="4069080" cy="4023360"/>
          </a:xfrm>
          <a:prstGeom prst="rect">
            <a:avLst/>
          </a:prstGeom>
          <a:solidFill>
            <a:srgbClr val="F1F3F4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26680" y="1783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admin sees right now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2148840"/>
            <a:ext cx="3703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2148840"/>
            <a:ext cx="73152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2148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mqweb · QM-host-01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26680" y="2542032"/>
            <a:ext cx="3703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26680" y="2542032"/>
            <a:ext cx="73152" cy="329184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25420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mqweb · QM-host-02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26680" y="2935224"/>
            <a:ext cx="3703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2935224"/>
            <a:ext cx="73152" cy="32918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29352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WebUI · NODE-A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26680" y="3328416"/>
            <a:ext cx="3703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6680" y="3328416"/>
            <a:ext cx="73152" cy="329184"/>
          </a:xfrm>
          <a:prstGeom prst="rect">
            <a:avLst/>
          </a:prstGeom>
          <a:solidFill>
            <a:srgbClr val="188038"/>
          </a:solidFill>
          <a:ln w="12700">
            <a:solidFill>
              <a:srgbClr val="1880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33284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WebUI · NODE-B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26680" y="3721608"/>
            <a:ext cx="3703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26680" y="3721608"/>
            <a:ext cx="73152" cy="32918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37216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26680" y="4114800"/>
            <a:ext cx="3703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26680" y="4114800"/>
            <a:ext cx="73152" cy="329184"/>
          </a:xfrm>
          <a:prstGeom prst="rect">
            <a:avLst/>
          </a:prstGeom>
          <a:solidFill>
            <a:srgbClr val="5F6368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41148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· grep BIP*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26680" y="4507992"/>
            <a:ext cx="3703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6680" y="4507992"/>
            <a:ext cx="73152" cy="329184"/>
          </a:xfrm>
          <a:prstGeom prst="rect">
            <a:avLst/>
          </a:prstGeom>
          <a:solidFill>
            <a:srgbClr val="188038"/>
          </a:solidFill>
          <a:ln w="12700">
            <a:solidFill>
              <a:srgbClr val="1880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45079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qmgr_dump.csv (Excel)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26680" y="52578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still no consolidated answer.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5852160"/>
            <a:ext cx="2743200" cy="658368"/>
          </a:xfrm>
          <a:prstGeom prst="rect">
            <a:avLst/>
          </a:prstGeom>
          <a:solidFill>
            <a:srgbClr val="F4F8FE"/>
          </a:solidFill>
          <a:ln w="9525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85800" y="5888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→ hours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5800" y="61813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routine question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10712" y="5852160"/>
            <a:ext cx="2743200" cy="658368"/>
          </a:xfrm>
          <a:prstGeom prst="rect">
            <a:avLst/>
          </a:prstGeom>
          <a:solidFill>
            <a:srgbClr val="F4F8FE"/>
          </a:solidFill>
          <a:ln w="9525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547872" y="5888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are the bottleneck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547872" y="61813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team escalates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72784" y="5852160"/>
            <a:ext cx="2743200" cy="658368"/>
          </a:xfrm>
          <a:prstGeom prst="rect">
            <a:avLst/>
          </a:prstGeom>
          <a:solidFill>
            <a:srgbClr val="F4F8FE"/>
          </a:solidFill>
          <a:ln w="9525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409944" y="5888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queryable estate view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9944" y="61813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lives in heads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134856" y="5852160"/>
            <a:ext cx="2743200" cy="658368"/>
          </a:xfrm>
          <a:prstGeom prst="rect">
            <a:avLst/>
          </a:prstGeom>
          <a:solidFill>
            <a:srgbClr val="F4F8FE"/>
          </a:solidFill>
          <a:ln w="9525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272016" y="5888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answers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272016" y="61813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SME-to-SME drift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133856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IBM MQ + ACE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· THE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chain of consoles, scripts and SMEs — to a single conversation.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2377440"/>
          </a:xfrm>
          <a:prstGeom prst="rect">
            <a:avLst/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Multi-console, multi-team, expert-dependent.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1F3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432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18488" y="274320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37360" y="274320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1F3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7432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78608" y="274320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97480" y="274320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1F3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7432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SME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38728" y="274320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0" y="274320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1F3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7432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SME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98848" y="274320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17720" y="274320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1F3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7432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(hours)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429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routine question travels through a queue of people before it gets an answer.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691640"/>
            <a:ext cx="5303520" cy="2377440"/>
          </a:xfrm>
          <a:prstGeom prst="rect">
            <a:avLst/>
          </a:prstGeom>
          <a:solidFill>
            <a:srgbClr val="F4F8F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691640"/>
            <a:ext cx="73152" cy="2377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AI 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conversation. The estate reasons on the user's behalf.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37960" y="274320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depth of PAYMENTS.IN, and which QM hosts it?"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329184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291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alias → depth 142 on QM-EU-02 · Answer (seconds)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34340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343400"/>
            <a:ext cx="73152" cy="210312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434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77240" y="4846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many screens → one conversation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5532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chat replaces mqweb, ACE Web UI, inventory dumps and ticket queues.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25112" y="434340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25112" y="4343400"/>
            <a:ext cx="73152" cy="210312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4434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553712" y="4846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expert-gated → self-service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53712" y="5532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teams, L1, L2 get instant, consistent answers. Admins reclaim engineering time.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01584" y="434340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01584" y="4343400"/>
            <a:ext cx="73152" cy="210312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30184" y="4434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8330184" y="4846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tribal knowledge → institutional capability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330184" y="5532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auditable, always-on. Logged, repeatable, equally available to everyone.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33856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IBM MQ + ACE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· 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one button. Three things start, one unified experience.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411480"/>
          </a:xfrm>
          <a:prstGeom prst="roundRect">
            <a:avLst>
              <a:gd name="adj" fmla="val 11111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scripts\start-all.ps1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the entire stack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611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40280"/>
            <a:ext cx="73152" cy="1828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MCP Server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read-only tools (7 MQ + 6 ACE) behind one endpoint.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5112" y="2240280"/>
            <a:ext cx="3611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5112" y="2240280"/>
            <a:ext cx="73152" cy="1828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53712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Backend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53712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 + GPT-4o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337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loop. ReAct over your estate, with memory.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01584" y="2240280"/>
            <a:ext cx="3611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2240280"/>
            <a:ext cx="73152" cy="1828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0184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30184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UI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30184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30184" y="3337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tool steps, tables, Mermaid diagrams, session memory.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" y="443484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" y="4434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31820" y="44348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51860" y="443484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1860" y="4434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Backend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20740" y="44348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40780" y="443484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0780" y="4434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09660" y="44348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29700" y="443484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29700" y="4434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REST · ACE Admin REST · CSV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349240"/>
            <a:ext cx="11064240" cy="1051560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5349240"/>
            <a:ext cx="73152" cy="105156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4406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 MATTERS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" y="5715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Anthropic's open protocol — the </a:t>
            </a:r>
            <a:pPr indent="0" marL="0">
              <a:buNone/>
            </a:pPr>
            <a:r>
              <a:rPr lang="en-US" sz="13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"USB-C of AI tools."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compliant LLM client (Claude Desktop, VS Code Copilot, Cursor, our chat UI) plugs into the same server without rewrite.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33856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IBM MQ + ACE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· AGENTIC, NOT A CHATBOT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decides — no hand-coded if/then routing, anywhere.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canonical agentic-AI checklist · 10 of 12 components implemented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560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73152" cy="1508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12848"/>
            <a:ext cx="384048" cy="38404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61872" y="2212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picks the next step every turn.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2560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011680"/>
            <a:ext cx="73152" cy="1508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2212848"/>
            <a:ext cx="384048" cy="38404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96512" y="2212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MQ + ACE tools auto-loaded over MCP.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2560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011680"/>
            <a:ext cx="73152" cy="1508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212848"/>
            <a:ext cx="384048" cy="38404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31152" y="2212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itself — guided by docstrings. Zero dispatcher code.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2011680"/>
            <a:ext cx="2560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52560" y="2011680"/>
            <a:ext cx="73152" cy="1508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2212848"/>
            <a:ext cx="384048" cy="38404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65792" y="2212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Action Loop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8116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call tool → observe → repeat, until done.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2560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794760"/>
            <a:ext cx="73152" cy="1508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3995928"/>
            <a:ext cx="384048" cy="38404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61872" y="3995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show its channels" works — MemorySaver keyed by thread_id.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83280" y="3794760"/>
            <a:ext cx="2560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83280" y="3794760"/>
            <a:ext cx="73152" cy="1508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11880" y="3995928"/>
            <a:ext cx="384048" cy="38404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096512" y="3995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1188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Auto-renders tables, Mermaid diagrams, code blocks.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3794760"/>
            <a:ext cx="2560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3794760"/>
            <a:ext cx="73152" cy="1508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3995928"/>
            <a:ext cx="384048" cy="38404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31152" y="3995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I/O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4652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every tool step as it happens.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052560" y="3794760"/>
            <a:ext cx="2560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052560" y="3794760"/>
            <a:ext cx="73152" cy="1508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81160" y="3995928"/>
            <a:ext cx="384048" cy="38404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8116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765792" y="3995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28116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JSONL log — feeds Power BI dashboards.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77240" y="56875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 ONE LINE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77240" y="5925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ReAct, single agent, conversational </a:t>
            </a:r>
            <a:pPr indent="0" marL="0">
              <a:buNone/>
            </a:pPr>
            <a:r>
              <a:rPr lang="en-US" sz="13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Anthropic's "Agent" category, not "Workflow."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133856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IBM MQ + ACE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· SECURITY GUARDRAILS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autonomy — six independent layers of defense.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05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892808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Construction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is GET-only or runmqsc with ALTER / DEFINE / DELETE / PURGE / STOP blocked at the tool layer. No destructive tool exists in the registry.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8160" y="1691640"/>
            <a:ext cx="3505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6760" y="1892808"/>
            <a:ext cx="457200" cy="4572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05400" y="1892808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Allow-list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6760" y="2441448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calls resolve the target and reject anything not matching MQ_/ACE_ALLOWED_HOSTNAME_PREFIXES. Production hosts excluded by default.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7680" y="1691640"/>
            <a:ext cx="3505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6280" y="1892808"/>
            <a:ext cx="457200" cy="4572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62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84920" y="1892808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Refusal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6280" y="2441448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BOT_DOMAIN makes the agent refuse off-topic questions (weather, code review, etc.) without invoking any tool.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3505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041648"/>
            <a:ext cx="457200" cy="4572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041648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Allow / Deny List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590288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Env-driven; lets ops disable a specific tool without code changes.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28160" y="3840480"/>
            <a:ext cx="3505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6760" y="4041648"/>
            <a:ext cx="457200" cy="4572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67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5400" y="4041648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Endpoints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56760" y="4590288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endpoint gated by HTTP Basic Auth. Unauthenticated /healthz carved out for probes. TLS / reverse-proxy / API-gateway ready.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07680" y="3840480"/>
            <a:ext cx="35052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6280" y="4041648"/>
            <a:ext cx="457200" cy="4572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628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84920" y="4041648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Sanitised Errors + Redacted Logs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6280" y="4590288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short ref-tagged messages. Full tracebacks and secret-looking kwargs (password, token, key) are kept out of the user path and redacted in logs.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852160"/>
            <a:ext cx="11064240" cy="594360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58521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AUDIT-READY: </a:t>
            </a:r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logged with request_id, caller, tool, args (redacted), endpoints hit, latency, outcome — directly ingestible into Power BI.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33856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IBM MQ + ACE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· ROI &amp; BUSINESS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savings + soft wins — all measurable.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0233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411480" cy="41148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ROI levers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542032"/>
            <a:ext cx="164592" cy="16459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4688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deflection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and app teams answer their own diagnostic questions. MQ/ACE Infra reclaims time for engineering work.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319272"/>
            <a:ext cx="164592" cy="16459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2461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Ticket-volume drop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520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absorbs the "what's the depth?" / "is the flow deployed?" class of tickets that dominate infra queues.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096512"/>
            <a:ext cx="164592" cy="16459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02336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speed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297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learn MQ/ACE by asking — instead of shadowing.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4873752"/>
            <a:ext cx="164592" cy="16459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80060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multiplier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5074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 absorbs the recurring, low-complexity queries that today consume the majority of admin attention.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1691640"/>
            <a:ext cx="5120640" cy="4023360"/>
          </a:xfrm>
          <a:prstGeom prst="rect">
            <a:avLst/>
          </a:prstGeom>
          <a:solidFill>
            <a:srgbClr val="F4F8F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1691640"/>
            <a:ext cx="73152" cy="402336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1828800"/>
            <a:ext cx="411480" cy="411480"/>
          </a:xfrm>
          <a:prstGeom prst="ellipse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1828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ROI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20840" y="2542032"/>
            <a:ext cx="164592" cy="164592"/>
          </a:xfrm>
          <a:prstGeom prst="ellipse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4688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auditable answers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7432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SME variability — same question, same governed response, every time.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20840" y="3502152"/>
            <a:ext cx="164592" cy="164592"/>
          </a:xfrm>
          <a:prstGeom prst="ellipse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4290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insights from the query log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95160" y="37033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queues queried, error hotspots, latency outliers — trends Infra never had before.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20840" y="4462272"/>
            <a:ext cx="164592" cy="164592"/>
          </a:xfrm>
          <a:prstGeom prst="ellipse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43891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Defensible, governed AI footprint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46634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construction, allow-listed, logged — satisfies risk &amp; audit before broader rollout.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852160"/>
            <a:ext cx="11064240" cy="594360"/>
          </a:xfrm>
          <a:prstGeom prst="rect">
            <a:avLst/>
          </a:prstGeom>
          <a:solidFill>
            <a:srgbClr val="FFF8E1"/>
          </a:solidFill>
          <a:ln w="9525">
            <a:solidFill>
              <a:srgbClr val="F9D67A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7240" y="58521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PLACEHOLDER · </a:t>
            </a:r>
            <a:pPr indent="0" marL="0"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your client's actual ticket volumes, % SME-escalated, and admin hours-per-week here to anchor the savings narrative.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33856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IBM MQ + ACE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· REUSABILITY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deployable everywhere — ~75% of the solution is reusable framework.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49040" cy="4297680"/>
          </a:xfrm>
          <a:prstGeom prst="rect">
            <a:avLst/>
          </a:prstGeom>
          <a:solidFill>
            <a:srgbClr val="1967D2"/>
          </a:solidFill>
          <a:ln w="9525">
            <a:solidFill>
              <a:srgbClr val="1967D2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202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code ships on day 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3840480"/>
            <a:ext cx="22860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77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client engagement is a tool-build, not a platform-build.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983480"/>
            <a:ext cx="3291840" cy="320040"/>
          </a:xfrm>
          <a:prstGeom prst="roundRect">
            <a:avLst>
              <a:gd name="adj" fmla="val 42857"/>
            </a:avLst>
          </a:prstGeom>
          <a:solidFill>
            <a:srgbClr val="174EA6"/>
          </a:solidFill>
          <a:ln w="12700">
            <a:solidFill>
              <a:srgbClr val="174E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983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feasible · one codebase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5349240"/>
            <a:ext cx="3291840" cy="320040"/>
          </a:xfrm>
          <a:prstGeom prst="roundRect">
            <a:avLst>
              <a:gd name="adj" fmla="val 42857"/>
            </a:avLst>
          </a:prstGeom>
          <a:solidFill>
            <a:srgbClr val="174EA6"/>
          </a:solidFill>
          <a:ln w="12700">
            <a:solidFill>
              <a:srgbClr val="174E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349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client can consume the server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691640"/>
            <a:ext cx="3657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691640"/>
            <a:ext cx="73152" cy="42976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CLIENTS · ~70–80%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313432"/>
            <a:ext cx="164592" cy="16459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488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UI (Next.js + Tailwind)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164592" cy="16459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8072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Backend (FastAPI + LangGraph)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630168"/>
            <a:ext cx="164592" cy="16459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4655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scaffold + safety primitives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288536"/>
            <a:ext cx="164592" cy="16459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12394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framework (scope, allow/deny, redaction)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4946904"/>
            <a:ext cx="164592" cy="16459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478231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 (JSONL → Power BI)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5605272"/>
            <a:ext cx="164592" cy="16459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5440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scaffold (safety, logs, sanitiser)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1691640"/>
            <a:ext cx="3291840" cy="4297680"/>
          </a:xfrm>
          <a:prstGeom prst="rect">
            <a:avLst/>
          </a:prstGeom>
          <a:solidFill>
            <a:srgbClr val="F4F8F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F1F44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1691640"/>
            <a:ext cx="73152" cy="429768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PER CLIENT · ~20–30%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03920" y="2313432"/>
            <a:ext cx="164592" cy="164592"/>
          </a:xfrm>
          <a:prstGeom prst="ellipse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2520" y="21488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tools (MQ/ACE → ServiceNow, Kafka, K8s, Splunk…)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03920" y="2971800"/>
            <a:ext cx="164592" cy="164592"/>
          </a:xfrm>
          <a:prstGeom prst="ellipse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28072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(terminology, scope, escalation)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03920" y="3630168"/>
            <a:ext cx="164592" cy="164592"/>
          </a:xfrm>
          <a:prstGeom prst="ellipse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32520" y="346557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BOT_DOMAIN scope · one env line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503920" y="4288536"/>
            <a:ext cx="164592" cy="164592"/>
          </a:xfrm>
          <a:prstGeom prst="ellipse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32520" y="41239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Allow-lists (hosts, tools) per client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03920" y="4946904"/>
            <a:ext cx="164592" cy="164592"/>
          </a:xfrm>
          <a:prstGeom prst="ellipse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32520" y="478231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manifests (CSV extracts)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503920" y="5605272"/>
            <a:ext cx="164592" cy="164592"/>
          </a:xfrm>
          <a:prstGeom prst="ellipse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5440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MCP_SSE_URL · single repoint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chassis · swap the domain layer · ship.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33856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IBM MQ + ACE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Diagnostics Assistant for IBM MQ &amp; IBM ACE</dc:title>
  <dc:subject>PptxGenJS Presentation</dc:subject>
  <dc:creator>Ajit K</dc:creator>
  <cp:lastModifiedBy>Ajit K</cp:lastModifiedBy>
  <cp:revision>1</cp:revision>
  <dcterms:created xsi:type="dcterms:W3CDTF">2026-05-16T12:55:04Z</dcterms:created>
  <dcterms:modified xsi:type="dcterms:W3CDTF">2026-05-16T12:55:04Z</dcterms:modified>
</cp:coreProperties>
</file>