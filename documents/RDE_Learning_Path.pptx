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1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First RDE Cohort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06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5 delivery teams, we hand-picked one high-potential engineer each — the right foundations, the right mindset for an AI career.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4447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1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delivery teams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212848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386584"/>
            <a:ext cx="24688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9264" y="2212848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395728" y="2318004"/>
            <a:ext cx="338328" cy="338328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452" y="2409444"/>
            <a:ext cx="192024" cy="15544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2907792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081528"/>
            <a:ext cx="24688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9264" y="290779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2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395728" y="3012948"/>
            <a:ext cx="338328" cy="338328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452" y="3104388"/>
            <a:ext cx="192024" cy="15544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57200" y="3602736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76472"/>
            <a:ext cx="246888" cy="20116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9264" y="3602736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3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2395728" y="3707892"/>
            <a:ext cx="338328" cy="338328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3452" y="3799332"/>
            <a:ext cx="192024" cy="15544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457200" y="4297680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4471416"/>
            <a:ext cx="24688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69264" y="4297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</a:t>
            </a:r>
            <a:endParaRPr lang="en-US" sz="1200" dirty="0"/>
          </a:p>
        </p:txBody>
      </p:sp>
      <p:sp>
        <p:nvSpPr>
          <p:cNvPr id="24" name="Shape 15"/>
          <p:cNvSpPr/>
          <p:nvPr/>
        </p:nvSpPr>
        <p:spPr>
          <a:xfrm>
            <a:off x="2395728" y="4402836"/>
            <a:ext cx="338328" cy="338328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3452" y="4494276"/>
            <a:ext cx="192024" cy="155448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457200" y="4992624"/>
            <a:ext cx="242316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792" y="5166360"/>
            <a:ext cx="24688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969264" y="499262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</a:t>
            </a: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2395728" y="5097780"/>
            <a:ext cx="338328" cy="338328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73452" y="5189220"/>
            <a:ext cx="192024" cy="155448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457200" y="57424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champion picked from every team</a:t>
            </a:r>
            <a:endParaRPr lang="en-US" sz="900" dirty="0"/>
          </a:p>
        </p:txBody>
      </p:sp>
      <p:sp>
        <p:nvSpPr>
          <p:cNvPr id="32" name="Shape 20"/>
          <p:cNvSpPr/>
          <p:nvPr/>
        </p:nvSpPr>
        <p:spPr>
          <a:xfrm>
            <a:off x="2999232" y="3712464"/>
            <a:ext cx="384048" cy="310896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33" name="Text 21"/>
          <p:cNvSpPr/>
          <p:nvPr/>
        </p:nvSpPr>
        <p:spPr>
          <a:xfrm>
            <a:off x="3520440" y="144475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LOOKED FOR</a:t>
            </a:r>
            <a:endParaRPr lang="en-US" sz="900" dirty="0"/>
          </a:p>
        </p:txBody>
      </p:sp>
      <p:sp>
        <p:nvSpPr>
          <p:cNvPr id="34" name="Text 22"/>
          <p:cNvSpPr/>
          <p:nvPr/>
        </p:nvSpPr>
        <p:spPr>
          <a:xfrm>
            <a:off x="3520440" y="166420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1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criteria</a:t>
            </a:r>
            <a:endParaRPr lang="en-US" sz="1600" dirty="0"/>
          </a:p>
        </p:txBody>
      </p:sp>
      <p:sp>
        <p:nvSpPr>
          <p:cNvPr id="35" name="Shape 23"/>
          <p:cNvSpPr/>
          <p:nvPr/>
        </p:nvSpPr>
        <p:spPr>
          <a:xfrm>
            <a:off x="3520440" y="2212848"/>
            <a:ext cx="4434840" cy="1115568"/>
          </a:xfrm>
          <a:prstGeom prst="roundRect">
            <a:avLst>
              <a:gd name="adj" fmla="val 6557"/>
            </a:avLst>
          </a:prstGeom>
          <a:solidFill>
            <a:srgbClr val="EFEAFB"/>
          </a:solidFill>
          <a:ln/>
        </p:spPr>
      </p:sp>
      <p:sp>
        <p:nvSpPr>
          <p:cNvPr id="36" name="Shape 24"/>
          <p:cNvSpPr/>
          <p:nvPr/>
        </p:nvSpPr>
        <p:spPr>
          <a:xfrm>
            <a:off x="3703320" y="2519172"/>
            <a:ext cx="502920" cy="502920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1336" y="2647188"/>
            <a:ext cx="246888" cy="246888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4370832" y="2359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foundation</a:t>
            </a:r>
            <a:endParaRPr lang="en-US" sz="1250" dirty="0"/>
          </a:p>
        </p:txBody>
      </p:sp>
      <p:sp>
        <p:nvSpPr>
          <p:cNvPr id="39" name="Text 26"/>
          <p:cNvSpPr/>
          <p:nvPr/>
        </p:nvSpPr>
        <p:spPr>
          <a:xfrm>
            <a:off x="4370832" y="2642616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knowledge of at least one programming language — ready to build, not just operate.</a:t>
            </a:r>
            <a:endParaRPr lang="en-US" sz="950" dirty="0"/>
          </a:p>
        </p:txBody>
      </p:sp>
      <p:sp>
        <p:nvSpPr>
          <p:cNvPr id="40" name="Shape 27"/>
          <p:cNvSpPr/>
          <p:nvPr/>
        </p:nvSpPr>
        <p:spPr>
          <a:xfrm>
            <a:off x="3520440" y="3520440"/>
            <a:ext cx="4434840" cy="1115568"/>
          </a:xfrm>
          <a:prstGeom prst="roundRect">
            <a:avLst>
              <a:gd name="adj" fmla="val 6557"/>
            </a:avLst>
          </a:prstGeom>
          <a:solidFill>
            <a:srgbClr val="EFEAFB"/>
          </a:solidFill>
          <a:ln/>
        </p:spPr>
      </p:sp>
      <p:sp>
        <p:nvSpPr>
          <p:cNvPr id="41" name="Shape 28"/>
          <p:cNvSpPr/>
          <p:nvPr/>
        </p:nvSpPr>
        <p:spPr>
          <a:xfrm>
            <a:off x="3703320" y="3826764"/>
            <a:ext cx="502920" cy="502920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1336" y="3954780"/>
            <a:ext cx="246888" cy="246888"/>
          </a:xfrm>
          <a:prstGeom prst="rect">
            <a:avLst/>
          </a:prstGeom>
        </p:spPr>
      </p:pic>
      <p:sp>
        <p:nvSpPr>
          <p:cNvPr id="43" name="Text 29"/>
          <p:cNvSpPr/>
          <p:nvPr/>
        </p:nvSpPr>
        <p:spPr>
          <a:xfrm>
            <a:off x="4370832" y="366674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in action</a:t>
            </a:r>
            <a:endParaRPr lang="en-US" sz="1250" dirty="0"/>
          </a:p>
        </p:txBody>
      </p:sp>
      <p:sp>
        <p:nvSpPr>
          <p:cNvPr id="44" name="Text 30"/>
          <p:cNvSpPr/>
          <p:nvPr/>
        </p:nvSpPr>
        <p:spPr>
          <a:xfrm>
            <a:off x="4370832" y="3950208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automating day-to-day delivery work — scripts, workflows and tooling on live projects.</a:t>
            </a:r>
            <a:endParaRPr lang="en-US" sz="950" dirty="0"/>
          </a:p>
        </p:txBody>
      </p:sp>
      <p:sp>
        <p:nvSpPr>
          <p:cNvPr id="45" name="Shape 31"/>
          <p:cNvSpPr/>
          <p:nvPr/>
        </p:nvSpPr>
        <p:spPr>
          <a:xfrm>
            <a:off x="3520440" y="4828032"/>
            <a:ext cx="4434840" cy="1115568"/>
          </a:xfrm>
          <a:prstGeom prst="roundRect">
            <a:avLst>
              <a:gd name="adj" fmla="val 6557"/>
            </a:avLst>
          </a:prstGeom>
          <a:solidFill>
            <a:srgbClr val="EFEAFB"/>
          </a:solidFill>
          <a:ln/>
        </p:spPr>
      </p:sp>
      <p:sp>
        <p:nvSpPr>
          <p:cNvPr id="46" name="Shape 32"/>
          <p:cNvSpPr/>
          <p:nvPr/>
        </p:nvSpPr>
        <p:spPr>
          <a:xfrm>
            <a:off x="3703320" y="5134356"/>
            <a:ext cx="502920" cy="502920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31336" y="5262372"/>
            <a:ext cx="246888" cy="24688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4370832" y="49743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Hunger to grow in AI</a:t>
            </a:r>
            <a:endParaRPr lang="en-US" sz="1250" dirty="0"/>
          </a:p>
        </p:txBody>
      </p:sp>
      <p:sp>
        <p:nvSpPr>
          <p:cNvPr id="49" name="Text 34"/>
          <p:cNvSpPr/>
          <p:nvPr/>
        </p:nvSpPr>
        <p:spPr>
          <a:xfrm>
            <a:off x="4370832" y="5257800"/>
            <a:ext cx="3474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Self-driven enthusiasm to learn, experiment and build a long-term career in AI.</a:t>
            </a:r>
            <a:endParaRPr lang="en-US" sz="950" dirty="0"/>
          </a:p>
        </p:txBody>
      </p:sp>
      <p:sp>
        <p:nvSpPr>
          <p:cNvPr id="50" name="Shape 35"/>
          <p:cNvSpPr/>
          <p:nvPr/>
        </p:nvSpPr>
        <p:spPr>
          <a:xfrm>
            <a:off x="8074152" y="3712464"/>
            <a:ext cx="384048" cy="310896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51" name="Text 36"/>
          <p:cNvSpPr/>
          <p:nvPr/>
        </p:nvSpPr>
        <p:spPr>
          <a:xfrm>
            <a:off x="8595360" y="144475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PICKED</a:t>
            </a:r>
            <a:endParaRPr lang="en-US" sz="900" dirty="0"/>
          </a:p>
        </p:txBody>
      </p:sp>
      <p:sp>
        <p:nvSpPr>
          <p:cNvPr id="52" name="Text 37"/>
          <p:cNvSpPr/>
          <p:nvPr/>
        </p:nvSpPr>
        <p:spPr>
          <a:xfrm>
            <a:off x="859536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31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cohort</a:t>
            </a:r>
            <a:endParaRPr lang="en-US" sz="1600" dirty="0"/>
          </a:p>
        </p:txBody>
      </p:sp>
      <p:sp>
        <p:nvSpPr>
          <p:cNvPr id="53" name="Shape 38"/>
          <p:cNvSpPr/>
          <p:nvPr/>
        </p:nvSpPr>
        <p:spPr>
          <a:xfrm>
            <a:off x="8595360" y="2212848"/>
            <a:ext cx="3108960" cy="3730752"/>
          </a:xfrm>
          <a:prstGeom prst="roundRect">
            <a:avLst>
              <a:gd name="adj" fmla="val 2941"/>
            </a:avLst>
          </a:prstGeom>
          <a:solidFill>
            <a:srgbClr val="36198A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5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47504" y="2542032"/>
            <a:ext cx="804672" cy="658368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8595360" y="3218688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000" dirty="0"/>
          </a:p>
        </p:txBody>
      </p:sp>
      <p:sp>
        <p:nvSpPr>
          <p:cNvPr id="56" name="Text 40"/>
          <p:cNvSpPr/>
          <p:nvPr/>
        </p:nvSpPr>
        <p:spPr>
          <a:xfrm>
            <a:off x="8595360" y="40965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C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champions</a:t>
            </a:r>
            <a:endParaRPr lang="en-US" sz="1400" dirty="0"/>
          </a:p>
        </p:txBody>
      </p:sp>
      <p:sp>
        <p:nvSpPr>
          <p:cNvPr id="57" name="Text 41"/>
          <p:cNvSpPr/>
          <p:nvPr/>
        </p:nvSpPr>
        <p:spPr>
          <a:xfrm>
            <a:off x="8833104" y="4498848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from each team — now on the 7-level RDE journey from learning labs to production-grade GenAI delivery.</a:t>
            </a:r>
            <a:endParaRPr lang="en-US" sz="950" dirty="0"/>
          </a:p>
        </p:txBody>
      </p:sp>
      <p:sp>
        <p:nvSpPr>
          <p:cNvPr id="58" name="Shape 42"/>
          <p:cNvSpPr/>
          <p:nvPr/>
        </p:nvSpPr>
        <p:spPr>
          <a:xfrm>
            <a:off x="9015984" y="5340096"/>
            <a:ext cx="22677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59" name="Text 43"/>
          <p:cNvSpPr/>
          <p:nvPr/>
        </p:nvSpPr>
        <p:spPr>
          <a:xfrm>
            <a:off x="9015984" y="5340096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61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3 at L4  ·  2 at L5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1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RDE — Reinvention Developer Engineer Learning Path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06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internal skilling framework  ·  7 levels  ·  hands-on complexity scales from learning labs to production-grade products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27523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0040112" y="119786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i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3264408"/>
            <a:ext cx="1481328" cy="30632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ACEF4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326440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A284E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66744"/>
            <a:ext cx="1481328" cy="402336"/>
          </a:xfrm>
          <a:prstGeom prst="rect">
            <a:avLst/>
          </a:prstGeom>
          <a:solidFill>
            <a:srgbClr val="A284E3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302666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A284E3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30266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28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0352" y="350215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GenAI Basics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41422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66928" y="431596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foundations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· Copilot · Git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39496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4F0FC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4905756"/>
            <a:ext cx="137160" cy="137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04672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630936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design workshop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+ temperature lab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A284E3"/>
          </a:solidFill>
          <a:ln/>
        </p:spPr>
      </p:sp>
      <p:sp>
        <p:nvSpPr>
          <p:cNvPr id="19" name="Shape 16"/>
          <p:cNvSpPr/>
          <p:nvPr/>
        </p:nvSpPr>
        <p:spPr>
          <a:xfrm>
            <a:off x="457200" y="5943600"/>
            <a:ext cx="1481328" cy="192024"/>
          </a:xfrm>
          <a:prstGeom prst="rect">
            <a:avLst/>
          </a:prstGeom>
          <a:solidFill>
            <a:srgbClr val="A284E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97" y="6057900"/>
            <a:ext cx="192024" cy="15544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021385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people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084832" y="3005328"/>
            <a:ext cx="1481328" cy="33223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D2C4F1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2084832" y="300532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8F6CDB"/>
          </a:solidFill>
          <a:ln/>
        </p:spPr>
      </p:sp>
      <p:sp>
        <p:nvSpPr>
          <p:cNvPr id="24" name="Shape 20"/>
          <p:cNvSpPr/>
          <p:nvPr/>
        </p:nvSpPr>
        <p:spPr>
          <a:xfrm>
            <a:off x="2084832" y="3407664"/>
            <a:ext cx="1481328" cy="402336"/>
          </a:xfrm>
          <a:prstGeom prst="rect">
            <a:avLst/>
          </a:prstGeom>
          <a:solidFill>
            <a:srgbClr val="8F6CDB"/>
          </a:solidFill>
          <a:ln/>
        </p:spPr>
      </p:sp>
      <p:sp>
        <p:nvSpPr>
          <p:cNvPr id="25" name="Shape 21"/>
          <p:cNvSpPr/>
          <p:nvPr/>
        </p:nvSpPr>
        <p:spPr>
          <a:xfrm>
            <a:off x="2587752" y="276758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8F6CDB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26" name="Text 22"/>
          <p:cNvSpPr/>
          <p:nvPr/>
        </p:nvSpPr>
        <p:spPr>
          <a:xfrm>
            <a:off x="2587752" y="2767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6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2157984" y="324307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Low-code AI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2194560" y="38831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29" name="Text 25"/>
          <p:cNvSpPr/>
          <p:nvPr/>
        </p:nvSpPr>
        <p:spPr>
          <a:xfrm>
            <a:off x="2194560" y="4056888"/>
            <a:ext cx="1280160" cy="697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/ Zapier / Make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&amp; AutoGen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&amp; function calls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&amp; ReAct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2167128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2EDFB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4905756"/>
            <a:ext cx="137160" cy="13716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2432304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33" name="Text 28"/>
          <p:cNvSpPr/>
          <p:nvPr/>
        </p:nvSpPr>
        <p:spPr>
          <a:xfrm>
            <a:off x="2258568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agent in n8n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Tool-calling Python agent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2084832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8F6CDB"/>
          </a:solidFill>
          <a:ln/>
        </p:spPr>
      </p:sp>
      <p:sp>
        <p:nvSpPr>
          <p:cNvPr id="35" name="Shape 30"/>
          <p:cNvSpPr/>
          <p:nvPr/>
        </p:nvSpPr>
        <p:spPr>
          <a:xfrm>
            <a:off x="2084832" y="5943600"/>
            <a:ext cx="1481328" cy="192024"/>
          </a:xfrm>
          <a:prstGeom prst="rect">
            <a:avLst/>
          </a:prstGeom>
          <a:solidFill>
            <a:srgbClr val="8F6CDB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129" y="6057900"/>
            <a:ext cx="192024" cy="15544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2649017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people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712464" y="2746248"/>
            <a:ext cx="1481328" cy="358140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CBBCED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712464" y="274624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7E58D2"/>
          </a:solidFill>
          <a:ln/>
        </p:spPr>
      </p:sp>
      <p:sp>
        <p:nvSpPr>
          <p:cNvPr id="40" name="Shape 34"/>
          <p:cNvSpPr/>
          <p:nvPr/>
        </p:nvSpPr>
        <p:spPr>
          <a:xfrm>
            <a:off x="3712464" y="3148584"/>
            <a:ext cx="1481328" cy="402336"/>
          </a:xfrm>
          <a:prstGeom prst="rect">
            <a:avLst/>
          </a:prstGeom>
          <a:solidFill>
            <a:srgbClr val="7E58D2"/>
          </a:solidFill>
          <a:ln/>
        </p:spPr>
      </p:sp>
      <p:sp>
        <p:nvSpPr>
          <p:cNvPr id="41" name="Shape 35"/>
          <p:cNvSpPr/>
          <p:nvPr/>
        </p:nvSpPr>
        <p:spPr>
          <a:xfrm>
            <a:off x="4215384" y="250850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7E58D2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42" name="Text 36"/>
          <p:cNvSpPr/>
          <p:nvPr/>
        </p:nvSpPr>
        <p:spPr>
          <a:xfrm>
            <a:off x="4215384" y="25085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5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43" name="Text 37"/>
          <p:cNvSpPr/>
          <p:nvPr/>
        </p:nvSpPr>
        <p:spPr>
          <a:xfrm>
            <a:off x="3785616" y="298399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RAG, MCP &amp; Orchestration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3822192" y="362407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45" name="Text 39"/>
          <p:cNvSpPr/>
          <p:nvPr/>
        </p:nvSpPr>
        <p:spPr>
          <a:xfrm>
            <a:off x="3822192" y="3797808"/>
            <a:ext cx="128016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fundamentals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vector DBs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agents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TDLC L3A</a:t>
            </a:r>
            <a:endParaRPr lang="en-US" sz="800" dirty="0"/>
          </a:p>
        </p:txBody>
      </p:sp>
      <p:sp>
        <p:nvSpPr>
          <p:cNvPr id="46" name="Shape 40"/>
          <p:cNvSpPr/>
          <p:nvPr/>
        </p:nvSpPr>
        <p:spPr>
          <a:xfrm>
            <a:off x="3794760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F0EBFA"/>
          </a:solidFill>
          <a:ln/>
        </p:spPr>
      </p:sp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4905756"/>
            <a:ext cx="137160" cy="137160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4059936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49" name="Text 42"/>
          <p:cNvSpPr/>
          <p:nvPr/>
        </p:nvSpPr>
        <p:spPr>
          <a:xfrm>
            <a:off x="3886200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MCP server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+ RAGAS evals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3712464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7E58D2"/>
          </a:solidFill>
          <a:ln/>
        </p:spPr>
      </p:sp>
      <p:sp>
        <p:nvSpPr>
          <p:cNvPr id="51" name="Shape 44"/>
          <p:cNvSpPr/>
          <p:nvPr/>
        </p:nvSpPr>
        <p:spPr>
          <a:xfrm>
            <a:off x="3712464" y="5943600"/>
            <a:ext cx="1481328" cy="192024"/>
          </a:xfrm>
          <a:prstGeom prst="rect">
            <a:avLst/>
          </a:prstGeom>
          <a:solidFill>
            <a:srgbClr val="7E58D2"/>
          </a:solidFill>
          <a:ln/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761" y="6057900"/>
            <a:ext cx="192024" cy="155448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4276649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people</a:t>
            </a:r>
            <a:endParaRPr lang="en-US" sz="1000" dirty="0"/>
          </a:p>
        </p:txBody>
      </p:sp>
      <p:sp>
        <p:nvSpPr>
          <p:cNvPr id="54" name="Shape 46"/>
          <p:cNvSpPr/>
          <p:nvPr/>
        </p:nvSpPr>
        <p:spPr>
          <a:xfrm>
            <a:off x="5340096" y="2487168"/>
            <a:ext cx="1481328" cy="384048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C4B5E9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55" name="Shape 47"/>
          <p:cNvSpPr/>
          <p:nvPr/>
        </p:nvSpPr>
        <p:spPr>
          <a:xfrm>
            <a:off x="5340096" y="248716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6C46C7"/>
          </a:solidFill>
          <a:ln/>
        </p:spPr>
      </p:sp>
      <p:sp>
        <p:nvSpPr>
          <p:cNvPr id="56" name="Shape 48"/>
          <p:cNvSpPr/>
          <p:nvPr/>
        </p:nvSpPr>
        <p:spPr>
          <a:xfrm>
            <a:off x="5340096" y="2889504"/>
            <a:ext cx="1481328" cy="402336"/>
          </a:xfrm>
          <a:prstGeom prst="rect">
            <a:avLst/>
          </a:prstGeom>
          <a:solidFill>
            <a:srgbClr val="6C46C7"/>
          </a:solidFill>
          <a:ln/>
        </p:spPr>
      </p:sp>
      <p:sp>
        <p:nvSpPr>
          <p:cNvPr id="57" name="Shape 49"/>
          <p:cNvSpPr/>
          <p:nvPr/>
        </p:nvSpPr>
        <p:spPr>
          <a:xfrm>
            <a:off x="5843016" y="224942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6C46C7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58" name="Text 50"/>
          <p:cNvSpPr/>
          <p:nvPr/>
        </p:nvSpPr>
        <p:spPr>
          <a:xfrm>
            <a:off x="5843016" y="2249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C4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59" name="Text 51"/>
          <p:cNvSpPr/>
          <p:nvPr/>
        </p:nvSpPr>
        <p:spPr>
          <a:xfrm>
            <a:off x="5413248" y="272491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Enterprise AI Platforms</a:t>
            </a:r>
            <a:endParaRPr lang="en-US" sz="1000" dirty="0"/>
          </a:p>
        </p:txBody>
      </p:sp>
      <p:sp>
        <p:nvSpPr>
          <p:cNvPr id="60" name="Text 52"/>
          <p:cNvSpPr/>
          <p:nvPr/>
        </p:nvSpPr>
        <p:spPr>
          <a:xfrm>
            <a:off x="5449824" y="336499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61" name="Text 53"/>
          <p:cNvSpPr/>
          <p:nvPr/>
        </p:nvSpPr>
        <p:spPr>
          <a:xfrm>
            <a:off x="5449824" y="3538728"/>
            <a:ext cx="128016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Vertex AI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&amp; Kubernetes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 &amp; security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5422392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EDE9F8"/>
          </a:solidFill>
          <a:ln/>
        </p:spPr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3832" y="4905756"/>
            <a:ext cx="137160" cy="137160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5687568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65" name="Text 56"/>
          <p:cNvSpPr/>
          <p:nvPr/>
        </p:nvSpPr>
        <p:spPr>
          <a:xfrm>
            <a:off x="5513832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on AWS Bedrock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+ AI Search</a:t>
            </a:r>
            <a:endParaRPr lang="en-US" sz="850" dirty="0"/>
          </a:p>
        </p:txBody>
      </p:sp>
      <p:sp>
        <p:nvSpPr>
          <p:cNvPr id="66" name="Shape 57"/>
          <p:cNvSpPr/>
          <p:nvPr/>
        </p:nvSpPr>
        <p:spPr>
          <a:xfrm>
            <a:off x="5340096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6C46C7"/>
          </a:solidFill>
          <a:ln/>
        </p:spPr>
      </p:sp>
      <p:sp>
        <p:nvSpPr>
          <p:cNvPr id="67" name="Shape 58"/>
          <p:cNvSpPr/>
          <p:nvPr/>
        </p:nvSpPr>
        <p:spPr>
          <a:xfrm>
            <a:off x="5340096" y="5943600"/>
            <a:ext cx="1481328" cy="192024"/>
          </a:xfrm>
          <a:prstGeom prst="rect">
            <a:avLst/>
          </a:prstGeom>
          <a:solidFill>
            <a:srgbClr val="6C46C7"/>
          </a:solidFill>
          <a:ln/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7393" y="6057900"/>
            <a:ext cx="192024" cy="155448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5904281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people</a:t>
            </a:r>
            <a:endParaRPr lang="en-US" sz="1000" dirty="0"/>
          </a:p>
        </p:txBody>
      </p:sp>
      <p:sp>
        <p:nvSpPr>
          <p:cNvPr id="70" name="Shape 60"/>
          <p:cNvSpPr/>
          <p:nvPr/>
        </p:nvSpPr>
        <p:spPr>
          <a:xfrm>
            <a:off x="6967728" y="2228088"/>
            <a:ext cx="1481328" cy="409956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BDAEE3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71" name="Shape 61"/>
          <p:cNvSpPr/>
          <p:nvPr/>
        </p:nvSpPr>
        <p:spPr>
          <a:xfrm>
            <a:off x="6967728" y="222808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5A35B8"/>
          </a:solidFill>
          <a:ln/>
        </p:spPr>
      </p:sp>
      <p:sp>
        <p:nvSpPr>
          <p:cNvPr id="72" name="Shape 62"/>
          <p:cNvSpPr/>
          <p:nvPr/>
        </p:nvSpPr>
        <p:spPr>
          <a:xfrm>
            <a:off x="6967728" y="2630424"/>
            <a:ext cx="1481328" cy="402336"/>
          </a:xfrm>
          <a:prstGeom prst="rect">
            <a:avLst/>
          </a:prstGeom>
          <a:solidFill>
            <a:srgbClr val="5A35B8"/>
          </a:solidFill>
          <a:ln/>
        </p:spPr>
      </p:sp>
      <p:sp>
        <p:nvSpPr>
          <p:cNvPr id="73" name="Shape 63"/>
          <p:cNvSpPr/>
          <p:nvPr/>
        </p:nvSpPr>
        <p:spPr>
          <a:xfrm>
            <a:off x="7470648" y="199034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5A35B8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74" name="Text 64"/>
          <p:cNvSpPr/>
          <p:nvPr/>
        </p:nvSpPr>
        <p:spPr>
          <a:xfrm>
            <a:off x="7470648" y="1990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A3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75" name="Text 65"/>
          <p:cNvSpPr/>
          <p:nvPr/>
        </p:nvSpPr>
        <p:spPr>
          <a:xfrm>
            <a:off x="7040880" y="246583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Solutions</a:t>
            </a:r>
            <a:endParaRPr lang="en-US" sz="1000" dirty="0"/>
          </a:p>
        </p:txBody>
      </p:sp>
      <p:sp>
        <p:nvSpPr>
          <p:cNvPr id="76" name="Text 66"/>
          <p:cNvSpPr/>
          <p:nvPr/>
        </p:nvSpPr>
        <p:spPr>
          <a:xfrm>
            <a:off x="7077456" y="310591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77" name="Text 67"/>
          <p:cNvSpPr/>
          <p:nvPr/>
        </p:nvSpPr>
        <p:spPr>
          <a:xfrm>
            <a:off x="7077456" y="3279648"/>
            <a:ext cx="1280160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MLOps / LLMOps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(OWASP LLM)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&amp; SLOs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design &amp; caching</a:t>
            </a:r>
            <a:endParaRPr lang="en-US" sz="800" dirty="0"/>
          </a:p>
        </p:txBody>
      </p:sp>
      <p:sp>
        <p:nvSpPr>
          <p:cNvPr id="78" name="Shape 68"/>
          <p:cNvSpPr/>
          <p:nvPr/>
        </p:nvSpPr>
        <p:spPr>
          <a:xfrm>
            <a:off x="7050024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EBE7F6"/>
          </a:solidFill>
          <a:ln/>
        </p:spPr>
      </p:sp>
      <p:pic>
        <p:nvPicPr>
          <p:cNvPr id="7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1464" y="4905756"/>
            <a:ext cx="137160" cy="137160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7315200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81" name="Text 70"/>
          <p:cNvSpPr/>
          <p:nvPr/>
        </p:nvSpPr>
        <p:spPr>
          <a:xfrm>
            <a:off x="7141464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LLM eval gates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Red-teaming &amp; defences</a:t>
            </a:r>
            <a:endParaRPr lang="en-US" sz="850" dirty="0"/>
          </a:p>
        </p:txBody>
      </p:sp>
      <p:sp>
        <p:nvSpPr>
          <p:cNvPr id="82" name="Shape 71"/>
          <p:cNvSpPr/>
          <p:nvPr/>
        </p:nvSpPr>
        <p:spPr>
          <a:xfrm>
            <a:off x="6967728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5A35B8"/>
          </a:solidFill>
          <a:ln/>
        </p:spPr>
      </p:sp>
      <p:sp>
        <p:nvSpPr>
          <p:cNvPr id="83" name="Shape 72"/>
          <p:cNvSpPr/>
          <p:nvPr/>
        </p:nvSpPr>
        <p:spPr>
          <a:xfrm>
            <a:off x="6967728" y="5943600"/>
            <a:ext cx="1481328" cy="192024"/>
          </a:xfrm>
          <a:prstGeom prst="rect">
            <a:avLst/>
          </a:prstGeom>
          <a:solidFill>
            <a:srgbClr val="5A35B8"/>
          </a:solidFill>
          <a:ln/>
        </p:spPr>
      </p:sp>
      <p:pic>
        <p:nvPicPr>
          <p:cNvPr id="8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5025" y="6057900"/>
            <a:ext cx="192024" cy="155448"/>
          </a:xfrm>
          <a:prstGeom prst="rect">
            <a:avLst/>
          </a:prstGeom>
        </p:spPr>
      </p:pic>
      <p:sp>
        <p:nvSpPr>
          <p:cNvPr id="85" name="Text 73"/>
          <p:cNvSpPr/>
          <p:nvPr/>
        </p:nvSpPr>
        <p:spPr>
          <a:xfrm>
            <a:off x="7531913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people</a:t>
            </a:r>
            <a:endParaRPr lang="en-US" sz="1000" dirty="0"/>
          </a:p>
        </p:txBody>
      </p:sp>
      <p:sp>
        <p:nvSpPr>
          <p:cNvPr id="86" name="Shape 74"/>
          <p:cNvSpPr/>
          <p:nvPr/>
        </p:nvSpPr>
        <p:spPr>
          <a:xfrm>
            <a:off x="8595360" y="1969008"/>
            <a:ext cx="1481328" cy="435864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B6A9D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87" name="Shape 75"/>
          <p:cNvSpPr/>
          <p:nvPr/>
        </p:nvSpPr>
        <p:spPr>
          <a:xfrm>
            <a:off x="8595360" y="196900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4827A4"/>
          </a:solidFill>
          <a:ln/>
        </p:spPr>
      </p:sp>
      <p:sp>
        <p:nvSpPr>
          <p:cNvPr id="88" name="Shape 76"/>
          <p:cNvSpPr/>
          <p:nvPr/>
        </p:nvSpPr>
        <p:spPr>
          <a:xfrm>
            <a:off x="8595360" y="2371344"/>
            <a:ext cx="1481328" cy="402336"/>
          </a:xfrm>
          <a:prstGeom prst="rect">
            <a:avLst/>
          </a:prstGeom>
          <a:solidFill>
            <a:srgbClr val="4827A4"/>
          </a:solidFill>
          <a:ln/>
        </p:spPr>
      </p:sp>
      <p:sp>
        <p:nvSpPr>
          <p:cNvPr id="89" name="Shape 77"/>
          <p:cNvSpPr/>
          <p:nvPr/>
        </p:nvSpPr>
        <p:spPr>
          <a:xfrm>
            <a:off x="9098280" y="173126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4827A4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90" name="Text 78"/>
          <p:cNvSpPr/>
          <p:nvPr/>
        </p:nvSpPr>
        <p:spPr>
          <a:xfrm>
            <a:off x="9098280" y="1731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827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91" name="Text 79"/>
          <p:cNvSpPr/>
          <p:nvPr/>
        </p:nvSpPr>
        <p:spPr>
          <a:xfrm>
            <a:off x="8668512" y="220675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Solution Architecture</a:t>
            </a:r>
            <a:endParaRPr lang="en-US" sz="1000" dirty="0"/>
          </a:p>
        </p:txBody>
      </p:sp>
      <p:sp>
        <p:nvSpPr>
          <p:cNvPr id="92" name="Text 80"/>
          <p:cNvSpPr/>
          <p:nvPr/>
        </p:nvSpPr>
        <p:spPr>
          <a:xfrm>
            <a:off x="8705088" y="284683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93" name="Text 81"/>
          <p:cNvSpPr/>
          <p:nvPr/>
        </p:nvSpPr>
        <p:spPr>
          <a:xfrm>
            <a:off x="8705088" y="3020568"/>
            <a:ext cx="1280160" cy="1734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patterns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· Health · Retail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/ Salesforce AI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(LoRA)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architecture</a:t>
            </a:r>
            <a:endParaRPr lang="en-US" sz="800" dirty="0"/>
          </a:p>
        </p:txBody>
      </p:sp>
      <p:sp>
        <p:nvSpPr>
          <p:cNvPr id="94" name="Shape 82"/>
          <p:cNvSpPr/>
          <p:nvPr/>
        </p:nvSpPr>
        <p:spPr>
          <a:xfrm>
            <a:off x="8677656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E9E5F4"/>
          </a:solidFill>
          <a:ln/>
        </p:spPr>
      </p:sp>
      <p:pic>
        <p:nvPicPr>
          <p:cNvPr id="9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69096" y="4905756"/>
            <a:ext cx="137160" cy="137160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8942832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97" name="Text 84"/>
          <p:cNvSpPr/>
          <p:nvPr/>
        </p:nvSpPr>
        <p:spPr>
          <a:xfrm>
            <a:off x="8769096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design sprint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/ ERP agent integration</a:t>
            </a:r>
            <a:endParaRPr lang="en-US" sz="850" dirty="0"/>
          </a:p>
        </p:txBody>
      </p:sp>
      <p:sp>
        <p:nvSpPr>
          <p:cNvPr id="98" name="Shape 85"/>
          <p:cNvSpPr/>
          <p:nvPr/>
        </p:nvSpPr>
        <p:spPr>
          <a:xfrm>
            <a:off x="8595360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4827A4"/>
          </a:solidFill>
          <a:ln/>
        </p:spPr>
      </p:sp>
      <p:sp>
        <p:nvSpPr>
          <p:cNvPr id="99" name="Shape 86"/>
          <p:cNvSpPr/>
          <p:nvPr/>
        </p:nvSpPr>
        <p:spPr>
          <a:xfrm>
            <a:off x="8595360" y="5943600"/>
            <a:ext cx="1481328" cy="192024"/>
          </a:xfrm>
          <a:prstGeom prst="rect">
            <a:avLst/>
          </a:prstGeom>
          <a:solidFill>
            <a:srgbClr val="4827A4"/>
          </a:solidFill>
          <a:ln/>
        </p:spPr>
      </p:sp>
      <p:pic>
        <p:nvPicPr>
          <p:cNvPr id="10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2657" y="6057900"/>
            <a:ext cx="192024" cy="155448"/>
          </a:xfrm>
          <a:prstGeom prst="rect">
            <a:avLst/>
          </a:prstGeom>
        </p:spPr>
      </p:pic>
      <p:sp>
        <p:nvSpPr>
          <p:cNvPr id="101" name="Text 87"/>
          <p:cNvSpPr/>
          <p:nvPr/>
        </p:nvSpPr>
        <p:spPr>
          <a:xfrm>
            <a:off x="9159545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people</a:t>
            </a:r>
            <a:endParaRPr lang="en-US" sz="1000" dirty="0"/>
          </a:p>
        </p:txBody>
      </p:sp>
      <p:sp>
        <p:nvSpPr>
          <p:cNvPr id="102" name="Shape 88"/>
          <p:cNvSpPr/>
          <p:nvPr/>
        </p:nvSpPr>
        <p:spPr>
          <a:xfrm>
            <a:off x="10222992" y="1709928"/>
            <a:ext cx="1481328" cy="4617720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AFA3D0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sp>
        <p:nvSpPr>
          <p:cNvPr id="103" name="Shape 89"/>
          <p:cNvSpPr/>
          <p:nvPr/>
        </p:nvSpPr>
        <p:spPr>
          <a:xfrm>
            <a:off x="10222992" y="1709928"/>
            <a:ext cx="1481328" cy="804672"/>
          </a:xfrm>
          <a:prstGeom prst="roundRect">
            <a:avLst>
              <a:gd name="adj" fmla="val 7955"/>
            </a:avLst>
          </a:prstGeom>
          <a:solidFill>
            <a:srgbClr val="36198A"/>
          </a:solidFill>
          <a:ln/>
        </p:spPr>
      </p:sp>
      <p:sp>
        <p:nvSpPr>
          <p:cNvPr id="104" name="Shape 90"/>
          <p:cNvSpPr/>
          <p:nvPr/>
        </p:nvSpPr>
        <p:spPr>
          <a:xfrm>
            <a:off x="10222992" y="2112264"/>
            <a:ext cx="1481328" cy="402336"/>
          </a:xfrm>
          <a:prstGeom prst="rect">
            <a:avLst/>
          </a:prstGeom>
          <a:solidFill>
            <a:srgbClr val="36198A"/>
          </a:solidFill>
          <a:ln/>
        </p:spPr>
      </p:sp>
      <p:sp>
        <p:nvSpPr>
          <p:cNvPr id="105" name="Shape 91"/>
          <p:cNvSpPr/>
          <p:nvPr/>
        </p:nvSpPr>
        <p:spPr>
          <a:xfrm>
            <a:off x="10725912" y="1472184"/>
            <a:ext cx="475488" cy="475488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6198A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20000"/>
              </a:srgbClr>
            </a:outerShdw>
          </a:effectLst>
        </p:spPr>
      </p:sp>
      <p:sp>
        <p:nvSpPr>
          <p:cNvPr id="106" name="Text 92"/>
          <p:cNvSpPr/>
          <p:nvPr/>
        </p:nvSpPr>
        <p:spPr>
          <a:xfrm>
            <a:off x="10725912" y="14721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61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07" name="Text 93"/>
          <p:cNvSpPr/>
          <p:nvPr/>
        </p:nvSpPr>
        <p:spPr>
          <a:xfrm>
            <a:off x="10296144" y="1947672"/>
            <a:ext cx="13350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&amp; Capstone</a:t>
            </a:r>
            <a:endParaRPr lang="en-US" sz="1000" dirty="0"/>
          </a:p>
        </p:txBody>
      </p:sp>
      <p:sp>
        <p:nvSpPr>
          <p:cNvPr id="108" name="Text 94"/>
          <p:cNvSpPr/>
          <p:nvPr/>
        </p:nvSpPr>
        <p:spPr>
          <a:xfrm>
            <a:off x="10332720" y="2587752"/>
            <a:ext cx="1261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TRAININGS</a:t>
            </a:r>
            <a:endParaRPr lang="en-US" sz="700" dirty="0"/>
          </a:p>
        </p:txBody>
      </p:sp>
      <p:sp>
        <p:nvSpPr>
          <p:cNvPr id="109" name="Text 95"/>
          <p:cNvSpPr/>
          <p:nvPr/>
        </p:nvSpPr>
        <p:spPr>
          <a:xfrm>
            <a:off x="10332720" y="2761488"/>
            <a:ext cx="12801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Arch. (CCA-F)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cert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/ Azure / GCP certs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Mentoring &amp; CoE</a:t>
            </a:r>
            <a:endParaRPr lang="en-US" sz="800" dirty="0"/>
          </a:p>
          <a:p>
            <a:pPr algn="l" marL="101600" indent="-1016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3A2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800" dirty="0"/>
          </a:p>
        </p:txBody>
      </p:sp>
      <p:sp>
        <p:nvSpPr>
          <p:cNvPr id="110" name="Shape 96"/>
          <p:cNvSpPr/>
          <p:nvPr/>
        </p:nvSpPr>
        <p:spPr>
          <a:xfrm>
            <a:off x="10305288" y="4800600"/>
            <a:ext cx="1316736" cy="1051560"/>
          </a:xfrm>
          <a:prstGeom prst="roundRect">
            <a:avLst>
              <a:gd name="adj" fmla="val 5217"/>
            </a:avLst>
          </a:prstGeom>
          <a:solidFill>
            <a:srgbClr val="E7E3F1"/>
          </a:solidFill>
          <a:ln/>
        </p:spPr>
      </p:sp>
      <p:pic>
        <p:nvPicPr>
          <p:cNvPr id="11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396728" y="4905756"/>
            <a:ext cx="137160" cy="137160"/>
          </a:xfrm>
          <a:prstGeom prst="rect">
            <a:avLst/>
          </a:prstGeom>
        </p:spPr>
      </p:pic>
      <p:sp>
        <p:nvSpPr>
          <p:cNvPr id="112" name="Text 97"/>
          <p:cNvSpPr/>
          <p:nvPr/>
        </p:nvSpPr>
        <p:spPr>
          <a:xfrm>
            <a:off x="10570464" y="488289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5335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PROJECTS</a:t>
            </a:r>
            <a:endParaRPr lang="en-US" sz="700" dirty="0"/>
          </a:p>
        </p:txBody>
      </p:sp>
      <p:sp>
        <p:nvSpPr>
          <p:cNvPr id="113" name="Text 98"/>
          <p:cNvSpPr/>
          <p:nvPr/>
        </p:nvSpPr>
        <p:spPr>
          <a:xfrm>
            <a:off x="10396728" y="5129784"/>
            <a:ext cx="1152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 exam simulation</a:t>
            </a:r>
            <a:endParaRPr lang="en-US" sz="850" dirty="0"/>
          </a:p>
          <a:p>
            <a:pPr algn="l" marL="114300" indent="-114300">
              <a:spcAft>
                <a:spcPts val="500"/>
              </a:spcAft>
              <a:buSzPct val="100000"/>
              <a:buChar char="▸"/>
            </a:pPr>
            <a:r>
              <a:rPr lang="en-US" sz="850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production GenAI app</a:t>
            </a:r>
            <a:endParaRPr lang="en-US" sz="850" dirty="0"/>
          </a:p>
        </p:txBody>
      </p:sp>
      <p:sp>
        <p:nvSpPr>
          <p:cNvPr id="114" name="Shape 99"/>
          <p:cNvSpPr/>
          <p:nvPr/>
        </p:nvSpPr>
        <p:spPr>
          <a:xfrm>
            <a:off x="10222992" y="5943600"/>
            <a:ext cx="1481328" cy="384048"/>
          </a:xfrm>
          <a:prstGeom prst="roundRect">
            <a:avLst>
              <a:gd name="adj" fmla="val 16667"/>
            </a:avLst>
          </a:prstGeom>
          <a:solidFill>
            <a:srgbClr val="36198A"/>
          </a:solidFill>
          <a:ln/>
        </p:spPr>
      </p:sp>
      <p:sp>
        <p:nvSpPr>
          <p:cNvPr id="115" name="Shape 100"/>
          <p:cNvSpPr/>
          <p:nvPr/>
        </p:nvSpPr>
        <p:spPr>
          <a:xfrm>
            <a:off x="10222992" y="5943600"/>
            <a:ext cx="1481328" cy="192024"/>
          </a:xfrm>
          <a:prstGeom prst="rect">
            <a:avLst/>
          </a:prstGeom>
          <a:solidFill>
            <a:srgbClr val="36198A"/>
          </a:solidFill>
          <a:ln/>
        </p:spPr>
      </p:sp>
      <p:pic>
        <p:nvPicPr>
          <p:cNvPr id="11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40289" y="6057900"/>
            <a:ext cx="192024" cy="155448"/>
          </a:xfrm>
          <a:prstGeom prst="rect">
            <a:avLst/>
          </a:prstGeom>
        </p:spPr>
      </p:pic>
      <p:sp>
        <p:nvSpPr>
          <p:cNvPr id="117" name="Text 101"/>
          <p:cNvSpPr/>
          <p:nvPr/>
        </p:nvSpPr>
        <p:spPr>
          <a:xfrm>
            <a:off x="10787177" y="5943600"/>
            <a:ext cx="7827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people</a:t>
            </a:r>
            <a:endParaRPr lang="en-US" sz="1000" dirty="0"/>
          </a:p>
        </p:txBody>
      </p:sp>
      <p:sp>
        <p:nvSpPr>
          <p:cNvPr id="118" name="Text 102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complexity rises level by level — from guided learning labs to deployed, monitored, production-grade GenAI products. Complete all 7 levels to qualify as an Accenture RDE.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315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Learning to Impact — The Story So Far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0664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levelling up, the cohort dug deep into their own platforms, brainstormed as a core group, and solutionized within client-approved tools &amp; capabilities.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WORKED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5216" y="1591056"/>
            <a:ext cx="402336" cy="402336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platform analysis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5216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champion mined their own platform for opportunities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980944" y="1819656"/>
            <a:ext cx="347472" cy="256032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11" name="Shape 8"/>
          <p:cNvSpPr/>
          <p:nvPr/>
        </p:nvSpPr>
        <p:spPr>
          <a:xfrm>
            <a:off x="3383280" y="14630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11296" y="1591056"/>
            <a:ext cx="402336" cy="402336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9164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05072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Core-group brainstorming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511296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pressure-tested together as one cohort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5907024" y="1819656"/>
            <a:ext cx="347472" cy="256032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17" name="Shape 13"/>
          <p:cNvSpPr/>
          <p:nvPr/>
        </p:nvSpPr>
        <p:spPr>
          <a:xfrm>
            <a:off x="6309360" y="14630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37376" y="1591056"/>
            <a:ext cx="402336" cy="402336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91640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31152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solutionize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37376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within client-allowed tools &amp; capabilities</a:t>
            </a:r>
            <a:endParaRPr lang="en-US" sz="800" dirty="0"/>
          </a:p>
        </p:txBody>
      </p:sp>
      <p:sp>
        <p:nvSpPr>
          <p:cNvPr id="22" name="Shape 17"/>
          <p:cNvSpPr/>
          <p:nvPr/>
        </p:nvSpPr>
        <p:spPr>
          <a:xfrm>
            <a:off x="8833104" y="1819656"/>
            <a:ext cx="347472" cy="256032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23" name="Shape 18"/>
          <p:cNvSpPr/>
          <p:nvPr/>
        </p:nvSpPr>
        <p:spPr>
          <a:xfrm>
            <a:off x="9235440" y="1463040"/>
            <a:ext cx="246888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63456" y="1591056"/>
            <a:ext cx="402336" cy="402336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691640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57232" y="1554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 delivered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363456" y="20299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automations + AI automations as outcomes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57200" y="2743200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— AI AUTOMATION PIPELINE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57200" y="3035808"/>
            <a:ext cx="2377440" cy="2240280"/>
          </a:xfrm>
          <a:prstGeom prst="roundRect">
            <a:avLst>
              <a:gd name="adj" fmla="val 4082"/>
            </a:avLst>
          </a:prstGeom>
          <a:solidFill>
            <a:srgbClr val="36198A"/>
          </a:solidFill>
          <a:ln/>
          <a:effectLst>
            <a:outerShdw sx="100000" sy="100000" kx="0" ky="0" algn="bl" rotWithShape="0" blurRad="88900" dist="25400" dir="5400000">
              <a:srgbClr val="000000">
                <a:alpha val="20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57200" y="3246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DCC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457200" y="3520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32" name="Text 26"/>
          <p:cNvSpPr/>
          <p:nvPr/>
        </p:nvSpPr>
        <p:spPr>
          <a:xfrm>
            <a:off x="457200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66928" y="4736592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CC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 with the core group, within client-approved tooling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2962656" y="3474720"/>
            <a:ext cx="329184" cy="256032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35" name="Shape 29"/>
          <p:cNvSpPr/>
          <p:nvPr/>
        </p:nvSpPr>
        <p:spPr>
          <a:xfrm>
            <a:off x="2962656" y="4663440"/>
            <a:ext cx="329184" cy="256032"/>
          </a:xfrm>
          <a:prstGeom prst="rightArrow">
            <a:avLst/>
          </a:prstGeom>
          <a:solidFill>
            <a:srgbClr val="C9B8F0"/>
          </a:solidFill>
          <a:ln/>
        </p:spPr>
      </p:sp>
      <p:sp>
        <p:nvSpPr>
          <p:cNvPr id="36" name="Shape 30"/>
          <p:cNvSpPr/>
          <p:nvPr/>
        </p:nvSpPr>
        <p:spPr>
          <a:xfrm>
            <a:off x="3419856" y="3035808"/>
            <a:ext cx="2770632" cy="1143000"/>
          </a:xfrm>
          <a:prstGeom prst="roundRect">
            <a:avLst>
              <a:gd name="adj" fmla="val 8000"/>
            </a:avLst>
          </a:prstGeom>
          <a:solidFill>
            <a:srgbClr val="5A35B8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3584448" y="31272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IMPLEMENTATION  </a:t>
            </a:r>
            <a:pPr algn="l" indent="0" marL="0">
              <a:buNone/>
            </a:pPr>
            <a:r>
              <a:rPr lang="en-US" sz="900" dirty="0">
                <a:solidFill>
                  <a:srgbClr val="DCCD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2 use cases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584448" y="3419856"/>
            <a:ext cx="245059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3730752" y="3419856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61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1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800600" y="3419856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ROI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3584448" y="3767328"/>
            <a:ext cx="2450592" cy="283464"/>
          </a:xfrm>
          <a:prstGeom prst="roundRect">
            <a:avLst>
              <a:gd name="adj" fmla="val 48387"/>
            </a:avLst>
          </a:prstGeom>
          <a:solidFill>
            <a:srgbClr val="FFFFFF"/>
          </a:solidFill>
          <a:ln/>
        </p:spPr>
      </p:sp>
      <p:sp>
        <p:nvSpPr>
          <p:cNvPr id="42" name="Text 36"/>
          <p:cNvSpPr/>
          <p:nvPr/>
        </p:nvSpPr>
        <p:spPr>
          <a:xfrm>
            <a:off x="3730752" y="376732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61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2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4800600" y="3767328"/>
            <a:ext cx="10972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ROI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3419856" y="4315968"/>
            <a:ext cx="2770632" cy="960120"/>
          </a:xfrm>
          <a:prstGeom prst="roundRect">
            <a:avLst>
              <a:gd name="adj" fmla="val 9524"/>
            </a:avLst>
          </a:prstGeom>
          <a:solidFill>
            <a:srgbClr val="EFEAFB"/>
          </a:solidFill>
          <a:ln/>
        </p:spPr>
      </p:sp>
      <p:sp>
        <p:nvSpPr>
          <p:cNvPr id="45" name="Text 39"/>
          <p:cNvSpPr/>
          <p:nvPr/>
        </p:nvSpPr>
        <p:spPr>
          <a:xfrm>
            <a:off x="3584448" y="4315968"/>
            <a:ext cx="685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31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46" name="Text 40"/>
          <p:cNvSpPr/>
          <p:nvPr/>
        </p:nvSpPr>
        <p:spPr>
          <a:xfrm>
            <a:off x="4315968" y="4315968"/>
            <a:ext cx="1783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spc="100" kern="0" dirty="0">
                <a:solidFill>
                  <a:srgbClr val="331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85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solutioning — being scoped with client teams</a:t>
            </a:r>
            <a:endParaRPr lang="en-US" sz="1050" dirty="0"/>
          </a:p>
        </p:txBody>
      </p:sp>
      <p:sp>
        <p:nvSpPr>
          <p:cNvPr id="47" name="Text 41"/>
          <p:cNvSpPr/>
          <p:nvPr/>
        </p:nvSpPr>
        <p:spPr>
          <a:xfrm>
            <a:off x="457200" y="5413248"/>
            <a:ext cx="5733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…alongside classic automations already delivered in-platform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6675120" y="27432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8A6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CAPSTONES WE BUILT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6675120" y="3035808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6839712" y="3182112"/>
            <a:ext cx="438912" cy="438912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291840"/>
            <a:ext cx="219456" cy="219456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7424928" y="3145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</a:t>
            </a:r>
            <a:endParaRPr lang="en-US" sz="1250" dirty="0"/>
          </a:p>
        </p:txBody>
      </p:sp>
      <p:sp>
        <p:nvSpPr>
          <p:cNvPr id="53" name="Text 46"/>
          <p:cNvSpPr/>
          <p:nvPr/>
        </p:nvSpPr>
        <p:spPr>
          <a:xfrm>
            <a:off x="7424928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prior-authorization automation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10625328" y="328269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A3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750" dirty="0"/>
          </a:p>
        </p:txBody>
      </p:sp>
      <p:sp>
        <p:nvSpPr>
          <p:cNvPr id="55" name="Shape 48"/>
          <p:cNvSpPr/>
          <p:nvPr/>
        </p:nvSpPr>
        <p:spPr>
          <a:xfrm>
            <a:off x="6675120" y="3904488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6839712" y="4050792"/>
            <a:ext cx="438912" cy="438912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5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4160520"/>
            <a:ext cx="219456" cy="219456"/>
          </a:xfrm>
          <a:prstGeom prst="rect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7424928" y="40142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</a:t>
            </a:r>
            <a:endParaRPr lang="en-US" sz="1250" dirty="0"/>
          </a:p>
        </p:txBody>
      </p:sp>
      <p:sp>
        <p:nvSpPr>
          <p:cNvPr id="59" name="Text 51"/>
          <p:cNvSpPr/>
          <p:nvPr/>
        </p:nvSpPr>
        <p:spPr>
          <a:xfrm>
            <a:off x="7424928" y="428853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Surprises Act workflows</a:t>
            </a:r>
            <a:endParaRPr lang="en-US" sz="900" dirty="0"/>
          </a:p>
        </p:txBody>
      </p:sp>
      <p:sp>
        <p:nvSpPr>
          <p:cNvPr id="60" name="Text 52"/>
          <p:cNvSpPr/>
          <p:nvPr/>
        </p:nvSpPr>
        <p:spPr>
          <a:xfrm>
            <a:off x="10625328" y="415137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A3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750" dirty="0"/>
          </a:p>
        </p:txBody>
      </p:sp>
      <p:sp>
        <p:nvSpPr>
          <p:cNvPr id="61" name="Shape 53"/>
          <p:cNvSpPr/>
          <p:nvPr/>
        </p:nvSpPr>
        <p:spPr>
          <a:xfrm>
            <a:off x="6675120" y="4773168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CBF5"/>
            </a:solidFill>
            <a:prstDash val="solid"/>
          </a:ln>
          <a:effectLst>
            <a:outerShdw sx="100000" sy="100000" kx="0" ky="0" algn="bl" rotWithShape="0" blurRad="63500" dist="12700" dir="5400000">
              <a:srgbClr val="000000">
                <a:alpha val="12000"/>
              </a:srgbClr>
            </a:outerShdw>
          </a:effectLst>
        </p:spPr>
      </p:sp>
      <p:sp>
        <p:nvSpPr>
          <p:cNvPr id="62" name="Shape 54"/>
          <p:cNvSpPr/>
          <p:nvPr/>
        </p:nvSpPr>
        <p:spPr>
          <a:xfrm>
            <a:off x="6839712" y="4919472"/>
            <a:ext cx="438912" cy="438912"/>
          </a:xfrm>
          <a:prstGeom prst="ellipse">
            <a:avLst/>
          </a:prstGeom>
          <a:solidFill>
            <a:srgbClr val="5A35B8"/>
          </a:solidFill>
          <a:ln/>
        </p:spPr>
      </p:sp>
      <p:pic>
        <p:nvPicPr>
          <p:cNvPr id="6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5029200"/>
            <a:ext cx="219456" cy="219456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7424928" y="48828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A1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Automation</a:t>
            </a:r>
            <a:endParaRPr lang="en-US" sz="1250" dirty="0"/>
          </a:p>
        </p:txBody>
      </p:sp>
      <p:sp>
        <p:nvSpPr>
          <p:cNvPr id="65" name="Text 56"/>
          <p:cNvSpPr/>
          <p:nvPr/>
        </p:nvSpPr>
        <p:spPr>
          <a:xfrm>
            <a:off x="7424928" y="515721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A3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Infrastructure-as-code automation</a:t>
            </a:r>
            <a:endParaRPr lang="en-US" sz="900" dirty="0"/>
          </a:p>
        </p:txBody>
      </p:sp>
      <p:sp>
        <p:nvSpPr>
          <p:cNvPr id="66" name="Text 57"/>
          <p:cNvSpPr/>
          <p:nvPr/>
        </p:nvSpPr>
        <p:spPr>
          <a:xfrm>
            <a:off x="10625328" y="50200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150" kern="0" dirty="0">
                <a:solidFill>
                  <a:srgbClr val="5A3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</a:t>
            </a:r>
            <a:endParaRPr lang="en-US" sz="750" dirty="0"/>
          </a:p>
        </p:txBody>
      </p:sp>
      <p:sp>
        <p:nvSpPr>
          <p:cNvPr id="67" name="Shape 58"/>
          <p:cNvSpPr/>
          <p:nvPr/>
        </p:nvSpPr>
        <p:spPr>
          <a:xfrm>
            <a:off x="457200" y="5897880"/>
            <a:ext cx="11247120" cy="658368"/>
          </a:xfrm>
          <a:prstGeom prst="roundRect">
            <a:avLst>
              <a:gd name="adj" fmla="val 13889"/>
            </a:avLst>
          </a:prstGeom>
          <a:solidFill>
            <a:srgbClr val="36198A"/>
          </a:solidFill>
          <a:ln/>
          <a:effectLst>
            <a:outerShdw sx="100000" sy="100000" kx="0" ky="0" algn="bl" rotWithShape="0" blurRad="101600" dist="25400" dir="5400000">
              <a:srgbClr val="000000">
                <a:alpha val="22000"/>
              </a:srgbClr>
            </a:outerShdw>
          </a:effectLst>
        </p:spPr>
      </p:sp>
      <p:pic>
        <p:nvPicPr>
          <p:cNvPr id="6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80" y="6089904"/>
            <a:ext cx="274320" cy="274320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3310128" y="589788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just the beginning — more automations, more AI, more impact to come…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RDE Learning Path</dc:title>
  <dc:subject>PptxGenJS Presentation</dc:subject>
  <dc:creator>PptxGenJS</dc:creator>
  <cp:lastModifiedBy>PptxGenJS</cp:lastModifiedBy>
  <cp:revision>1</cp:revision>
  <dcterms:created xsi:type="dcterms:W3CDTF">2026-06-12T05:53:19Z</dcterms:created>
  <dcterms:modified xsi:type="dcterms:W3CDTF">2026-06-12T05:53:19Z</dcterms:modified>
</cp:coreProperties>
</file>