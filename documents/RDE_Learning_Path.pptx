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31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First RDE Cohort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06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 accounts, we hand-picked 5 high-potential engineers — the right foundations, the right mindset for an AI career.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STARTED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1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accounts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CBF5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40180" y="2551176"/>
            <a:ext cx="502920" cy="502920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2679192"/>
            <a:ext cx="246888" cy="2468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17296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1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57200" y="402336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CBF5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440180" y="4242816"/>
            <a:ext cx="502920" cy="502920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196" y="4370832"/>
            <a:ext cx="246888" cy="2468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7200" y="48646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2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2999232" y="3712464"/>
            <a:ext cx="384048" cy="310896"/>
          </a:xfrm>
          <a:prstGeom prst="rightArrow">
            <a:avLst/>
          </a:prstGeom>
          <a:solidFill>
            <a:srgbClr val="C9B8F0"/>
          </a:solidFill>
          <a:ln/>
        </p:spPr>
      </p:sp>
      <p:sp>
        <p:nvSpPr>
          <p:cNvPr id="15" name="Text 11"/>
          <p:cNvSpPr/>
          <p:nvPr/>
        </p:nvSpPr>
        <p:spPr>
          <a:xfrm>
            <a:off x="3520440" y="1444752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LOOKED FOR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520440" y="16642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1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3520440" y="2212848"/>
            <a:ext cx="4434840" cy="1115568"/>
          </a:xfrm>
          <a:prstGeom prst="roundRect">
            <a:avLst>
              <a:gd name="adj" fmla="val 6557"/>
            </a:avLst>
          </a:prstGeom>
          <a:solidFill>
            <a:srgbClr val="EFEAFB"/>
          </a:solidFill>
          <a:ln/>
        </p:spPr>
      </p:sp>
      <p:sp>
        <p:nvSpPr>
          <p:cNvPr id="18" name="Shape 14"/>
          <p:cNvSpPr/>
          <p:nvPr/>
        </p:nvSpPr>
        <p:spPr>
          <a:xfrm>
            <a:off x="3703320" y="2519172"/>
            <a:ext cx="502920" cy="502920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336" y="2647188"/>
            <a:ext cx="246888" cy="24688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370832" y="23591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Proficiency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4370832" y="264261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A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knowledge of at least one programming language — ready to build, not just operate.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3520440" y="3520440"/>
            <a:ext cx="4434840" cy="1115568"/>
          </a:xfrm>
          <a:prstGeom prst="roundRect">
            <a:avLst>
              <a:gd name="adj" fmla="val 6557"/>
            </a:avLst>
          </a:prstGeom>
          <a:solidFill>
            <a:srgbClr val="EFEAFB"/>
          </a:solidFill>
          <a:ln/>
        </p:spPr>
      </p:sp>
      <p:sp>
        <p:nvSpPr>
          <p:cNvPr id="23" name="Shape 18"/>
          <p:cNvSpPr/>
          <p:nvPr/>
        </p:nvSpPr>
        <p:spPr>
          <a:xfrm>
            <a:off x="3703320" y="3826764"/>
            <a:ext cx="502920" cy="502920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1336" y="3954780"/>
            <a:ext cx="246888" cy="2468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370832" y="36667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Mindset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4370832" y="39502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A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automating day-to-day delivery work — scripts, workflows and tooling on live projects.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3520440" y="4828032"/>
            <a:ext cx="4434840" cy="1115568"/>
          </a:xfrm>
          <a:prstGeom prst="roundRect">
            <a:avLst>
              <a:gd name="adj" fmla="val 6557"/>
            </a:avLst>
          </a:prstGeom>
          <a:solidFill>
            <a:srgbClr val="EFEAFB"/>
          </a:solidFill>
          <a:ln/>
        </p:spPr>
      </p:sp>
      <p:sp>
        <p:nvSpPr>
          <p:cNvPr id="28" name="Shape 22"/>
          <p:cNvSpPr/>
          <p:nvPr/>
        </p:nvSpPr>
        <p:spPr>
          <a:xfrm>
            <a:off x="3703320" y="5134356"/>
            <a:ext cx="502920" cy="502920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1336" y="5262372"/>
            <a:ext cx="246888" cy="24688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370832" y="49743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Hunger to grow in AI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4370832" y="52578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A3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Self-driven enthusiasm to learn, experiment and build a long-term career in AI.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8074152" y="3712464"/>
            <a:ext cx="384048" cy="310896"/>
          </a:xfrm>
          <a:prstGeom prst="rightArrow">
            <a:avLst/>
          </a:prstGeom>
          <a:solidFill>
            <a:srgbClr val="C9B8F0"/>
          </a:solidFill>
          <a:ln/>
        </p:spPr>
      </p:sp>
      <p:sp>
        <p:nvSpPr>
          <p:cNvPr id="33" name="Text 26"/>
          <p:cNvSpPr/>
          <p:nvPr/>
        </p:nvSpPr>
        <p:spPr>
          <a:xfrm>
            <a:off x="8595360" y="14447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PICKED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8595360" y="1664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1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cohort</a:t>
            </a:r>
            <a:endParaRPr lang="en-US" sz="1600" dirty="0"/>
          </a:p>
        </p:txBody>
      </p:sp>
      <p:sp>
        <p:nvSpPr>
          <p:cNvPr id="35" name="Shape 28"/>
          <p:cNvSpPr/>
          <p:nvPr/>
        </p:nvSpPr>
        <p:spPr>
          <a:xfrm>
            <a:off x="8595360" y="2212848"/>
            <a:ext cx="3108960" cy="3730752"/>
          </a:xfrm>
          <a:prstGeom prst="roundRect">
            <a:avLst>
              <a:gd name="adj" fmla="val 2941"/>
            </a:avLst>
          </a:prstGeom>
          <a:solidFill>
            <a:srgbClr val="36198A"/>
          </a:solidFill>
          <a:ln/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504" y="2542032"/>
            <a:ext cx="804672" cy="65836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595360" y="321868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38" name="Text 30"/>
          <p:cNvSpPr/>
          <p:nvPr/>
        </p:nvSpPr>
        <p:spPr>
          <a:xfrm>
            <a:off x="8595360" y="4096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champions</a:t>
            </a:r>
            <a:endParaRPr lang="en-US" sz="1400" dirty="0"/>
          </a:p>
        </p:txBody>
      </p:sp>
      <p:sp>
        <p:nvSpPr>
          <p:cNvPr id="39" name="Shape 31"/>
          <p:cNvSpPr/>
          <p:nvPr/>
        </p:nvSpPr>
        <p:spPr>
          <a:xfrm>
            <a:off x="8887968" y="5138928"/>
            <a:ext cx="25237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0" name="Text 32"/>
          <p:cNvSpPr/>
          <p:nvPr/>
        </p:nvSpPr>
        <p:spPr>
          <a:xfrm>
            <a:off x="8887968" y="5138928"/>
            <a:ext cx="2523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61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members picked — Account 1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8887968" y="5522976"/>
            <a:ext cx="25237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2" name="Text 34"/>
          <p:cNvSpPr/>
          <p:nvPr/>
        </p:nvSpPr>
        <p:spPr>
          <a:xfrm>
            <a:off x="8887968" y="5522976"/>
            <a:ext cx="2523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61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members picked — Account 2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31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RDE — Reinvention Developer Engineer Learning Path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06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internal skilling framework  ·  6 levels  ·  learning labs → production-grade products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2386584"/>
            <a:ext cx="1752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spc="2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9768840" y="832104"/>
            <a:ext cx="2118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spc="2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2898648"/>
            <a:ext cx="1752600" cy="3429000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DACEF4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898648"/>
            <a:ext cx="1752600" cy="804672"/>
          </a:xfrm>
          <a:prstGeom prst="roundRect">
            <a:avLst>
              <a:gd name="adj" fmla="val 7955"/>
            </a:avLst>
          </a:prstGeom>
          <a:solidFill>
            <a:srgbClr val="A284E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3300984"/>
            <a:ext cx="1752600" cy="402336"/>
          </a:xfrm>
          <a:prstGeom prst="rect">
            <a:avLst/>
          </a:prstGeom>
          <a:solidFill>
            <a:srgbClr val="A284E3"/>
          </a:solidFill>
          <a:ln/>
        </p:spPr>
      </p:sp>
      <p:sp>
        <p:nvSpPr>
          <p:cNvPr id="9" name="Shape 7"/>
          <p:cNvSpPr/>
          <p:nvPr/>
        </p:nvSpPr>
        <p:spPr>
          <a:xfrm>
            <a:off x="1095756" y="2660904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A284E3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5756" y="26609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28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30352" y="3136392"/>
            <a:ext cx="1606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GenAI Basics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9496" y="4343400"/>
            <a:ext cx="1588008" cy="384048"/>
          </a:xfrm>
          <a:prstGeom prst="roundRect">
            <a:avLst>
              <a:gd name="adj" fmla="val 14286"/>
            </a:avLst>
          </a:prstGeom>
          <a:solidFill>
            <a:srgbClr val="FFF6E3"/>
          </a:solidFill>
          <a:ln w="9525">
            <a:solidFill>
              <a:srgbClr val="F0D9A8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4457700"/>
            <a:ext cx="155448" cy="15544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2960" y="4343400"/>
            <a:ext cx="1277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AI-900 / AWS AI Practitioner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66928" y="3776472"/>
            <a:ext cx="1533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566928" y="3950208"/>
            <a:ext cx="1551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foundations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· LLMs · Copilot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539496" y="4800600"/>
            <a:ext cx="1588008" cy="1051560"/>
          </a:xfrm>
          <a:prstGeom prst="roundRect">
            <a:avLst>
              <a:gd name="adj" fmla="val 5217"/>
            </a:avLst>
          </a:prstGeom>
          <a:solidFill>
            <a:srgbClr val="F4F0FC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4905756"/>
            <a:ext cx="137160" cy="1371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04672" y="4882896"/>
            <a:ext cx="129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533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PROJECTS</a:t>
            </a:r>
            <a:endParaRPr lang="en-US" sz="700" dirty="0"/>
          </a:p>
        </p:txBody>
      </p:sp>
      <p:sp>
        <p:nvSpPr>
          <p:cNvPr id="20" name="Text 16"/>
          <p:cNvSpPr/>
          <p:nvPr/>
        </p:nvSpPr>
        <p:spPr>
          <a:xfrm>
            <a:off x="630936" y="5129784"/>
            <a:ext cx="1423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workshop</a:t>
            </a:r>
            <a:endParaRPr lang="en-US" sz="850" dirty="0"/>
          </a:p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+ temperature lab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457200" y="5943600"/>
            <a:ext cx="1752600" cy="384048"/>
          </a:xfrm>
          <a:prstGeom prst="roundRect">
            <a:avLst>
              <a:gd name="adj" fmla="val 16667"/>
            </a:avLst>
          </a:prstGeom>
          <a:solidFill>
            <a:srgbClr val="A284E3"/>
          </a:solidFill>
          <a:ln/>
        </p:spPr>
      </p:sp>
      <p:sp>
        <p:nvSpPr>
          <p:cNvPr id="22" name="Shape 18"/>
          <p:cNvSpPr/>
          <p:nvPr/>
        </p:nvSpPr>
        <p:spPr>
          <a:xfrm>
            <a:off x="457200" y="5943600"/>
            <a:ext cx="1752600" cy="192024"/>
          </a:xfrm>
          <a:prstGeom prst="rect">
            <a:avLst/>
          </a:prstGeom>
          <a:solidFill>
            <a:srgbClr val="A284E3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84" y="6057900"/>
            <a:ext cx="192024" cy="15544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995172" y="594360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1205484" y="59436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0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652" y="6048756"/>
            <a:ext cx="164592" cy="16459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626108" y="5943600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2356104" y="2587752"/>
            <a:ext cx="1752600" cy="3739896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D2C4F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2356104" y="2587752"/>
            <a:ext cx="1752600" cy="804672"/>
          </a:xfrm>
          <a:prstGeom prst="roundRect">
            <a:avLst>
              <a:gd name="adj" fmla="val 7955"/>
            </a:avLst>
          </a:prstGeom>
          <a:solidFill>
            <a:srgbClr val="8F6CDB"/>
          </a:solidFill>
          <a:ln/>
        </p:spPr>
      </p:sp>
      <p:sp>
        <p:nvSpPr>
          <p:cNvPr id="30" name="Shape 24"/>
          <p:cNvSpPr/>
          <p:nvPr/>
        </p:nvSpPr>
        <p:spPr>
          <a:xfrm>
            <a:off x="2356104" y="2990088"/>
            <a:ext cx="1752600" cy="402336"/>
          </a:xfrm>
          <a:prstGeom prst="rect">
            <a:avLst/>
          </a:prstGeom>
          <a:solidFill>
            <a:srgbClr val="8F6CDB"/>
          </a:solidFill>
          <a:ln/>
        </p:spPr>
      </p:sp>
      <p:sp>
        <p:nvSpPr>
          <p:cNvPr id="31" name="Shape 25"/>
          <p:cNvSpPr/>
          <p:nvPr/>
        </p:nvSpPr>
        <p:spPr>
          <a:xfrm>
            <a:off x="2994660" y="2350008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8F6CDB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20000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2994660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F6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3" name="Text 27"/>
          <p:cNvSpPr/>
          <p:nvPr/>
        </p:nvSpPr>
        <p:spPr>
          <a:xfrm>
            <a:off x="2429256" y="2825496"/>
            <a:ext cx="1606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Low-code AI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2438400" y="4343400"/>
            <a:ext cx="1588008" cy="384048"/>
          </a:xfrm>
          <a:prstGeom prst="roundRect">
            <a:avLst>
              <a:gd name="adj" fmla="val 14286"/>
            </a:avLst>
          </a:prstGeom>
          <a:solidFill>
            <a:srgbClr val="FFF6E3"/>
          </a:solidFill>
          <a:ln w="9525">
            <a:solidFill>
              <a:srgbClr val="F0D9A8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0696" y="4457700"/>
            <a:ext cx="155448" cy="15544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2721864" y="4343400"/>
            <a:ext cx="1277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PL-900 · n8n / Make badges</a:t>
            </a:r>
            <a:endParaRPr lang="en-US" sz="750" dirty="0"/>
          </a:p>
        </p:txBody>
      </p:sp>
      <p:sp>
        <p:nvSpPr>
          <p:cNvPr id="37" name="Text 30"/>
          <p:cNvSpPr/>
          <p:nvPr/>
        </p:nvSpPr>
        <p:spPr>
          <a:xfrm>
            <a:off x="2465832" y="3465576"/>
            <a:ext cx="1533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700" dirty="0"/>
          </a:p>
        </p:txBody>
      </p:sp>
      <p:sp>
        <p:nvSpPr>
          <p:cNvPr id="38" name="Text 31"/>
          <p:cNvSpPr/>
          <p:nvPr/>
        </p:nvSpPr>
        <p:spPr>
          <a:xfrm>
            <a:off x="2465832" y="3639312"/>
            <a:ext cx="1551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/ Zapier / Make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&amp; AutoGen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&amp; function calls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memory &amp; ReAct</a:t>
            </a:r>
            <a:endParaRPr lang="en-US" sz="800" dirty="0"/>
          </a:p>
        </p:txBody>
      </p:sp>
      <p:sp>
        <p:nvSpPr>
          <p:cNvPr id="39" name="Shape 32"/>
          <p:cNvSpPr/>
          <p:nvPr/>
        </p:nvSpPr>
        <p:spPr>
          <a:xfrm>
            <a:off x="2438400" y="4800600"/>
            <a:ext cx="1588008" cy="1051560"/>
          </a:xfrm>
          <a:prstGeom prst="roundRect">
            <a:avLst>
              <a:gd name="adj" fmla="val 5217"/>
            </a:avLst>
          </a:prstGeom>
          <a:solidFill>
            <a:srgbClr val="F2EDFB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9840" y="4905756"/>
            <a:ext cx="137160" cy="13716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2703576" y="4882896"/>
            <a:ext cx="129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533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PROJECTS</a:t>
            </a:r>
            <a:endParaRPr lang="en-US" sz="700" dirty="0"/>
          </a:p>
        </p:txBody>
      </p:sp>
      <p:sp>
        <p:nvSpPr>
          <p:cNvPr id="42" name="Text 34"/>
          <p:cNvSpPr/>
          <p:nvPr/>
        </p:nvSpPr>
        <p:spPr>
          <a:xfrm>
            <a:off x="2529840" y="5129784"/>
            <a:ext cx="1423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agent in n8n</a:t>
            </a:r>
            <a:endParaRPr lang="en-US" sz="850" dirty="0"/>
          </a:p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Tool-calling Python agent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2356104" y="5943600"/>
            <a:ext cx="1752600" cy="384048"/>
          </a:xfrm>
          <a:prstGeom prst="roundRect">
            <a:avLst>
              <a:gd name="adj" fmla="val 16667"/>
            </a:avLst>
          </a:prstGeom>
          <a:solidFill>
            <a:srgbClr val="8F6CDB"/>
          </a:solidFill>
          <a:ln/>
        </p:spPr>
      </p:sp>
      <p:sp>
        <p:nvSpPr>
          <p:cNvPr id="44" name="Shape 36"/>
          <p:cNvSpPr/>
          <p:nvPr/>
        </p:nvSpPr>
        <p:spPr>
          <a:xfrm>
            <a:off x="2356104" y="5943600"/>
            <a:ext cx="1752600" cy="192024"/>
          </a:xfrm>
          <a:prstGeom prst="rect">
            <a:avLst/>
          </a:prstGeom>
          <a:solidFill>
            <a:srgbClr val="8F6CDB"/>
          </a:solidFill>
          <a:ln/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7188" y="6057900"/>
            <a:ext cx="192024" cy="15544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2894076" y="594360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47" name="Text 38"/>
          <p:cNvSpPr/>
          <p:nvPr/>
        </p:nvSpPr>
        <p:spPr>
          <a:xfrm>
            <a:off x="3104388" y="59436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000" dirty="0"/>
          </a:p>
        </p:txBody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5556" y="6048756"/>
            <a:ext cx="164592" cy="164592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3525012" y="5943600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4255008" y="2276856"/>
            <a:ext cx="1752600" cy="405079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CBBCED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sp>
      <p:sp>
        <p:nvSpPr>
          <p:cNvPr id="51" name="Shape 41"/>
          <p:cNvSpPr/>
          <p:nvPr/>
        </p:nvSpPr>
        <p:spPr>
          <a:xfrm>
            <a:off x="4255008" y="2276856"/>
            <a:ext cx="1752600" cy="804672"/>
          </a:xfrm>
          <a:prstGeom prst="roundRect">
            <a:avLst>
              <a:gd name="adj" fmla="val 7955"/>
            </a:avLst>
          </a:prstGeom>
          <a:solidFill>
            <a:srgbClr val="7E58D2"/>
          </a:solidFill>
          <a:ln/>
        </p:spPr>
      </p:sp>
      <p:sp>
        <p:nvSpPr>
          <p:cNvPr id="52" name="Shape 42"/>
          <p:cNvSpPr/>
          <p:nvPr/>
        </p:nvSpPr>
        <p:spPr>
          <a:xfrm>
            <a:off x="4255008" y="2679192"/>
            <a:ext cx="1752600" cy="402336"/>
          </a:xfrm>
          <a:prstGeom prst="rect">
            <a:avLst/>
          </a:prstGeom>
          <a:solidFill>
            <a:srgbClr val="7E58D2"/>
          </a:solidFill>
          <a:ln/>
        </p:spPr>
      </p:sp>
      <p:sp>
        <p:nvSpPr>
          <p:cNvPr id="53" name="Shape 43"/>
          <p:cNvSpPr/>
          <p:nvPr/>
        </p:nvSpPr>
        <p:spPr>
          <a:xfrm>
            <a:off x="4893564" y="2039112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E58D2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20000"/>
              </a:srgbClr>
            </a:outerShdw>
          </a:effectLst>
        </p:spPr>
      </p:sp>
      <p:sp>
        <p:nvSpPr>
          <p:cNvPr id="54" name="Text 44"/>
          <p:cNvSpPr/>
          <p:nvPr/>
        </p:nvSpPr>
        <p:spPr>
          <a:xfrm>
            <a:off x="4893564" y="2039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5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55" name="Text 45"/>
          <p:cNvSpPr/>
          <p:nvPr/>
        </p:nvSpPr>
        <p:spPr>
          <a:xfrm>
            <a:off x="4328160" y="2514600"/>
            <a:ext cx="1606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MCP &amp; Orchestration</a:t>
            </a:r>
            <a:endParaRPr lang="en-US" sz="1000" dirty="0"/>
          </a:p>
        </p:txBody>
      </p:sp>
      <p:sp>
        <p:nvSpPr>
          <p:cNvPr id="56" name="Text 46"/>
          <p:cNvSpPr/>
          <p:nvPr/>
        </p:nvSpPr>
        <p:spPr>
          <a:xfrm>
            <a:off x="4364736" y="3154680"/>
            <a:ext cx="1533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700" dirty="0"/>
          </a:p>
        </p:txBody>
      </p:sp>
      <p:sp>
        <p:nvSpPr>
          <p:cNvPr id="57" name="Text 47"/>
          <p:cNvSpPr/>
          <p:nvPr/>
        </p:nvSpPr>
        <p:spPr>
          <a:xfrm>
            <a:off x="4364736" y="3328416"/>
            <a:ext cx="15514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fundamentals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vector DBs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&amp; evals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TDLC L3A</a:t>
            </a:r>
            <a:endParaRPr lang="en-US" sz="800" dirty="0"/>
          </a:p>
        </p:txBody>
      </p:sp>
      <p:sp>
        <p:nvSpPr>
          <p:cNvPr id="58" name="Shape 48"/>
          <p:cNvSpPr/>
          <p:nvPr/>
        </p:nvSpPr>
        <p:spPr>
          <a:xfrm>
            <a:off x="4337304" y="4800600"/>
            <a:ext cx="1588008" cy="1051560"/>
          </a:xfrm>
          <a:prstGeom prst="roundRect">
            <a:avLst>
              <a:gd name="adj" fmla="val 5217"/>
            </a:avLst>
          </a:prstGeom>
          <a:solidFill>
            <a:srgbClr val="F0EBFA"/>
          </a:solidFill>
          <a:ln/>
        </p:spPr>
      </p:sp>
      <p:pic>
        <p:nvPicPr>
          <p:cNvPr id="5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8744" y="4905756"/>
            <a:ext cx="137160" cy="137160"/>
          </a:xfrm>
          <a:prstGeom prst="rect">
            <a:avLst/>
          </a:prstGeom>
        </p:spPr>
      </p:pic>
      <p:sp>
        <p:nvSpPr>
          <p:cNvPr id="60" name="Text 49"/>
          <p:cNvSpPr/>
          <p:nvPr/>
        </p:nvSpPr>
        <p:spPr>
          <a:xfrm>
            <a:off x="4602480" y="4882896"/>
            <a:ext cx="129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533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PROJECTS</a:t>
            </a:r>
            <a:endParaRPr lang="en-US" sz="700" dirty="0"/>
          </a:p>
        </p:txBody>
      </p:sp>
      <p:sp>
        <p:nvSpPr>
          <p:cNvPr id="61" name="Text 50"/>
          <p:cNvSpPr/>
          <p:nvPr/>
        </p:nvSpPr>
        <p:spPr>
          <a:xfrm>
            <a:off x="4428744" y="5129784"/>
            <a:ext cx="1423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custom MCP server</a:t>
            </a:r>
            <a:endParaRPr lang="en-US" sz="850" dirty="0"/>
          </a:p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+ RAGAS evals</a:t>
            </a:r>
            <a:endParaRPr lang="en-US" sz="850" dirty="0"/>
          </a:p>
        </p:txBody>
      </p:sp>
      <p:sp>
        <p:nvSpPr>
          <p:cNvPr id="62" name="Shape 51"/>
          <p:cNvSpPr/>
          <p:nvPr/>
        </p:nvSpPr>
        <p:spPr>
          <a:xfrm>
            <a:off x="4255008" y="5943600"/>
            <a:ext cx="1752600" cy="384048"/>
          </a:xfrm>
          <a:prstGeom prst="roundRect">
            <a:avLst>
              <a:gd name="adj" fmla="val 16667"/>
            </a:avLst>
          </a:prstGeom>
          <a:solidFill>
            <a:srgbClr val="7E58D2"/>
          </a:solidFill>
          <a:ln/>
        </p:spPr>
      </p:sp>
      <p:sp>
        <p:nvSpPr>
          <p:cNvPr id="63" name="Shape 52"/>
          <p:cNvSpPr/>
          <p:nvPr/>
        </p:nvSpPr>
        <p:spPr>
          <a:xfrm>
            <a:off x="4255008" y="5943600"/>
            <a:ext cx="1752600" cy="192024"/>
          </a:xfrm>
          <a:prstGeom prst="rect">
            <a:avLst/>
          </a:prstGeom>
          <a:solidFill>
            <a:srgbClr val="7E58D2"/>
          </a:solidFill>
          <a:ln/>
        </p:spPr>
      </p:sp>
      <p:pic>
        <p:nvPicPr>
          <p:cNvPr id="6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7941" y="6057900"/>
            <a:ext cx="192024" cy="155448"/>
          </a:xfrm>
          <a:prstGeom prst="rect">
            <a:avLst/>
          </a:prstGeom>
        </p:spPr>
      </p:pic>
      <p:sp>
        <p:nvSpPr>
          <p:cNvPr id="65" name="Text 53"/>
          <p:cNvSpPr/>
          <p:nvPr/>
        </p:nvSpPr>
        <p:spPr>
          <a:xfrm>
            <a:off x="4954829" y="5943600"/>
            <a:ext cx="7827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people</a:t>
            </a:r>
            <a:endParaRPr lang="en-US" sz="1000" dirty="0"/>
          </a:p>
        </p:txBody>
      </p:sp>
      <p:sp>
        <p:nvSpPr>
          <p:cNvPr id="66" name="Shape 54"/>
          <p:cNvSpPr/>
          <p:nvPr/>
        </p:nvSpPr>
        <p:spPr>
          <a:xfrm>
            <a:off x="6153912" y="1965960"/>
            <a:ext cx="1752600" cy="4361688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C4B5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sp>
      <p:sp>
        <p:nvSpPr>
          <p:cNvPr id="67" name="Shape 55"/>
          <p:cNvSpPr/>
          <p:nvPr/>
        </p:nvSpPr>
        <p:spPr>
          <a:xfrm>
            <a:off x="6153912" y="1965960"/>
            <a:ext cx="1752600" cy="804672"/>
          </a:xfrm>
          <a:prstGeom prst="roundRect">
            <a:avLst>
              <a:gd name="adj" fmla="val 7955"/>
            </a:avLst>
          </a:prstGeom>
          <a:solidFill>
            <a:srgbClr val="6C46C7"/>
          </a:solidFill>
          <a:ln/>
        </p:spPr>
      </p:sp>
      <p:sp>
        <p:nvSpPr>
          <p:cNvPr id="68" name="Shape 56"/>
          <p:cNvSpPr/>
          <p:nvPr/>
        </p:nvSpPr>
        <p:spPr>
          <a:xfrm>
            <a:off x="6153912" y="2368296"/>
            <a:ext cx="1752600" cy="402336"/>
          </a:xfrm>
          <a:prstGeom prst="rect">
            <a:avLst/>
          </a:prstGeom>
          <a:solidFill>
            <a:srgbClr val="6C46C7"/>
          </a:solidFill>
          <a:ln/>
        </p:spPr>
      </p:sp>
      <p:sp>
        <p:nvSpPr>
          <p:cNvPr id="69" name="Shape 57"/>
          <p:cNvSpPr/>
          <p:nvPr/>
        </p:nvSpPr>
        <p:spPr>
          <a:xfrm>
            <a:off x="6792468" y="1728216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C46C7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20000"/>
              </a:srgbClr>
            </a:outerShdw>
          </a:effectLst>
        </p:spPr>
      </p:sp>
      <p:sp>
        <p:nvSpPr>
          <p:cNvPr id="70" name="Text 58"/>
          <p:cNvSpPr/>
          <p:nvPr/>
        </p:nvSpPr>
        <p:spPr>
          <a:xfrm>
            <a:off x="6792468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4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71" name="Text 59"/>
          <p:cNvSpPr/>
          <p:nvPr/>
        </p:nvSpPr>
        <p:spPr>
          <a:xfrm>
            <a:off x="6227064" y="2203704"/>
            <a:ext cx="1606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Enterprise AI Platforms</a:t>
            </a:r>
            <a:endParaRPr lang="en-US" sz="1000" dirty="0"/>
          </a:p>
        </p:txBody>
      </p:sp>
      <p:sp>
        <p:nvSpPr>
          <p:cNvPr id="72" name="Shape 60"/>
          <p:cNvSpPr/>
          <p:nvPr/>
        </p:nvSpPr>
        <p:spPr>
          <a:xfrm>
            <a:off x="6236208" y="4343400"/>
            <a:ext cx="1588008" cy="384048"/>
          </a:xfrm>
          <a:prstGeom prst="roundRect">
            <a:avLst>
              <a:gd name="adj" fmla="val 14286"/>
            </a:avLst>
          </a:prstGeom>
          <a:solidFill>
            <a:srgbClr val="FFF6E3"/>
          </a:solidFill>
          <a:ln w="9525">
            <a:solidFill>
              <a:srgbClr val="F0D9A8"/>
            </a:solidFill>
            <a:prstDash val="solid"/>
          </a:ln>
        </p:spPr>
      </p:sp>
      <p:pic>
        <p:nvPicPr>
          <p:cNvPr id="7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8504" y="4457700"/>
            <a:ext cx="155448" cy="155448"/>
          </a:xfrm>
          <a:prstGeom prst="rect">
            <a:avLst/>
          </a:prstGeom>
        </p:spPr>
      </p:pic>
      <p:sp>
        <p:nvSpPr>
          <p:cNvPr id="74" name="Text 61"/>
          <p:cNvSpPr/>
          <p:nvPr/>
        </p:nvSpPr>
        <p:spPr>
          <a:xfrm>
            <a:off x="6519672" y="4343400"/>
            <a:ext cx="1277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SAA / Azure AI-102</a:t>
            </a:r>
            <a:endParaRPr lang="en-US" sz="750" dirty="0"/>
          </a:p>
        </p:txBody>
      </p:sp>
      <p:sp>
        <p:nvSpPr>
          <p:cNvPr id="75" name="Text 62"/>
          <p:cNvSpPr/>
          <p:nvPr/>
        </p:nvSpPr>
        <p:spPr>
          <a:xfrm>
            <a:off x="6263640" y="2843784"/>
            <a:ext cx="1533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700" dirty="0"/>
          </a:p>
        </p:txBody>
      </p:sp>
      <p:sp>
        <p:nvSpPr>
          <p:cNvPr id="76" name="Text 63"/>
          <p:cNvSpPr/>
          <p:nvPr/>
        </p:nvSpPr>
        <p:spPr>
          <a:xfrm>
            <a:off x="6263640" y="3017520"/>
            <a:ext cx="1551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Vertex AI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Kubernetes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&amp; security</a:t>
            </a:r>
            <a:endParaRPr lang="en-US" sz="800" dirty="0"/>
          </a:p>
        </p:txBody>
      </p:sp>
      <p:sp>
        <p:nvSpPr>
          <p:cNvPr id="77" name="Shape 64"/>
          <p:cNvSpPr/>
          <p:nvPr/>
        </p:nvSpPr>
        <p:spPr>
          <a:xfrm>
            <a:off x="6236208" y="4800600"/>
            <a:ext cx="1588008" cy="1051560"/>
          </a:xfrm>
          <a:prstGeom prst="roundRect">
            <a:avLst>
              <a:gd name="adj" fmla="val 5217"/>
            </a:avLst>
          </a:prstGeom>
          <a:solidFill>
            <a:srgbClr val="EDE9F8"/>
          </a:solidFill>
          <a:ln/>
        </p:spPr>
      </p:sp>
      <p:pic>
        <p:nvPicPr>
          <p:cNvPr id="7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27648" y="4905756"/>
            <a:ext cx="137160" cy="137160"/>
          </a:xfrm>
          <a:prstGeom prst="rect">
            <a:avLst/>
          </a:prstGeom>
        </p:spPr>
      </p:pic>
      <p:sp>
        <p:nvSpPr>
          <p:cNvPr id="79" name="Text 65"/>
          <p:cNvSpPr/>
          <p:nvPr/>
        </p:nvSpPr>
        <p:spPr>
          <a:xfrm>
            <a:off x="6501384" y="4882896"/>
            <a:ext cx="129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533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PROJECTS</a:t>
            </a:r>
            <a:endParaRPr lang="en-US" sz="700" dirty="0"/>
          </a:p>
        </p:txBody>
      </p:sp>
      <p:sp>
        <p:nvSpPr>
          <p:cNvPr id="80" name="Text 66"/>
          <p:cNvSpPr/>
          <p:nvPr/>
        </p:nvSpPr>
        <p:spPr>
          <a:xfrm>
            <a:off x="6327648" y="5129784"/>
            <a:ext cx="1423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 on AWS Bedrock</a:t>
            </a:r>
            <a:endParaRPr lang="en-US" sz="850" dirty="0"/>
          </a:p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Automation capstone</a:t>
            </a:r>
            <a:endParaRPr lang="en-US" sz="850" dirty="0"/>
          </a:p>
        </p:txBody>
      </p:sp>
      <p:sp>
        <p:nvSpPr>
          <p:cNvPr id="81" name="Shape 67"/>
          <p:cNvSpPr/>
          <p:nvPr/>
        </p:nvSpPr>
        <p:spPr>
          <a:xfrm>
            <a:off x="6153912" y="5943600"/>
            <a:ext cx="1752600" cy="384048"/>
          </a:xfrm>
          <a:prstGeom prst="roundRect">
            <a:avLst>
              <a:gd name="adj" fmla="val 16667"/>
            </a:avLst>
          </a:prstGeom>
          <a:solidFill>
            <a:srgbClr val="6C46C7"/>
          </a:solidFill>
          <a:ln/>
        </p:spPr>
      </p:sp>
      <p:sp>
        <p:nvSpPr>
          <p:cNvPr id="82" name="Shape 68"/>
          <p:cNvSpPr/>
          <p:nvPr/>
        </p:nvSpPr>
        <p:spPr>
          <a:xfrm>
            <a:off x="6153912" y="5943600"/>
            <a:ext cx="1752600" cy="192024"/>
          </a:xfrm>
          <a:prstGeom prst="rect">
            <a:avLst/>
          </a:prstGeom>
          <a:solidFill>
            <a:srgbClr val="6C46C7"/>
          </a:solidFill>
          <a:ln/>
        </p:spPr>
      </p:sp>
      <p:pic>
        <p:nvPicPr>
          <p:cNvPr id="8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4996" y="6057900"/>
            <a:ext cx="192024" cy="155448"/>
          </a:xfrm>
          <a:prstGeom prst="rect">
            <a:avLst/>
          </a:prstGeom>
        </p:spPr>
      </p:pic>
      <p:sp>
        <p:nvSpPr>
          <p:cNvPr id="84" name="Text 69"/>
          <p:cNvSpPr/>
          <p:nvPr/>
        </p:nvSpPr>
        <p:spPr>
          <a:xfrm>
            <a:off x="6691884" y="594360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85" name="Text 70"/>
          <p:cNvSpPr/>
          <p:nvPr/>
        </p:nvSpPr>
        <p:spPr>
          <a:xfrm>
            <a:off x="6902196" y="59436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000" dirty="0"/>
          </a:p>
        </p:txBody>
      </p:sp>
      <p:pic>
        <p:nvPicPr>
          <p:cNvPr id="8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3364" y="6048756"/>
            <a:ext cx="164592" cy="164592"/>
          </a:xfrm>
          <a:prstGeom prst="rect">
            <a:avLst/>
          </a:prstGeom>
        </p:spPr>
      </p:pic>
      <p:sp>
        <p:nvSpPr>
          <p:cNvPr id="87" name="Text 71"/>
          <p:cNvSpPr/>
          <p:nvPr/>
        </p:nvSpPr>
        <p:spPr>
          <a:xfrm>
            <a:off x="7322820" y="5943600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88" name="Shape 72"/>
          <p:cNvSpPr/>
          <p:nvPr/>
        </p:nvSpPr>
        <p:spPr>
          <a:xfrm>
            <a:off x="8052816" y="1655064"/>
            <a:ext cx="1752600" cy="4672584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B9ABD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sp>
      <p:sp>
        <p:nvSpPr>
          <p:cNvPr id="89" name="Shape 73"/>
          <p:cNvSpPr/>
          <p:nvPr/>
        </p:nvSpPr>
        <p:spPr>
          <a:xfrm>
            <a:off x="8052816" y="1655064"/>
            <a:ext cx="1752600" cy="804672"/>
          </a:xfrm>
          <a:prstGeom prst="roundRect">
            <a:avLst>
              <a:gd name="adj" fmla="val 7955"/>
            </a:avLst>
          </a:prstGeom>
          <a:solidFill>
            <a:srgbClr val="4F2DAD"/>
          </a:solidFill>
          <a:ln/>
        </p:spPr>
      </p:sp>
      <p:sp>
        <p:nvSpPr>
          <p:cNvPr id="90" name="Shape 74"/>
          <p:cNvSpPr/>
          <p:nvPr/>
        </p:nvSpPr>
        <p:spPr>
          <a:xfrm>
            <a:off x="8052816" y="2057400"/>
            <a:ext cx="1752600" cy="402336"/>
          </a:xfrm>
          <a:prstGeom prst="rect">
            <a:avLst/>
          </a:prstGeom>
          <a:solidFill>
            <a:srgbClr val="4F2DAD"/>
          </a:solidFill>
          <a:ln/>
        </p:spPr>
      </p:sp>
      <p:sp>
        <p:nvSpPr>
          <p:cNvPr id="91" name="Shape 75"/>
          <p:cNvSpPr/>
          <p:nvPr/>
        </p:nvSpPr>
        <p:spPr>
          <a:xfrm>
            <a:off x="8691372" y="1417320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4F2DAD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20000"/>
              </a:srgbClr>
            </a:outerShdw>
          </a:effectLst>
        </p:spPr>
      </p:sp>
      <p:sp>
        <p:nvSpPr>
          <p:cNvPr id="92" name="Text 76"/>
          <p:cNvSpPr/>
          <p:nvPr/>
        </p:nvSpPr>
        <p:spPr>
          <a:xfrm>
            <a:off x="8691372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F2D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93" name="Text 77"/>
          <p:cNvSpPr/>
          <p:nvPr/>
        </p:nvSpPr>
        <p:spPr>
          <a:xfrm>
            <a:off x="8125968" y="1892808"/>
            <a:ext cx="1606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Production, Domain &amp; Architecture</a:t>
            </a:r>
            <a:endParaRPr lang="en-US" sz="1000" dirty="0"/>
          </a:p>
        </p:txBody>
      </p:sp>
      <p:sp>
        <p:nvSpPr>
          <p:cNvPr id="94" name="Shape 78"/>
          <p:cNvSpPr/>
          <p:nvPr/>
        </p:nvSpPr>
        <p:spPr>
          <a:xfrm>
            <a:off x="8135112" y="4343400"/>
            <a:ext cx="1588008" cy="384048"/>
          </a:xfrm>
          <a:prstGeom prst="roundRect">
            <a:avLst>
              <a:gd name="adj" fmla="val 14286"/>
            </a:avLst>
          </a:prstGeom>
          <a:solidFill>
            <a:srgbClr val="FFF6E3"/>
          </a:solidFill>
          <a:ln w="9525">
            <a:solidFill>
              <a:srgbClr val="F0D9A8"/>
            </a:solidFill>
            <a:prstDash val="solid"/>
          </a:ln>
        </p:spPr>
      </p:sp>
      <p:pic>
        <p:nvPicPr>
          <p:cNvPr id="9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17408" y="4457700"/>
            <a:ext cx="155448" cy="155448"/>
          </a:xfrm>
          <a:prstGeom prst="rect">
            <a:avLst/>
          </a:prstGeom>
        </p:spPr>
      </p:pic>
      <p:sp>
        <p:nvSpPr>
          <p:cNvPr id="96" name="Text 79"/>
          <p:cNvSpPr/>
          <p:nvPr/>
        </p:nvSpPr>
        <p:spPr>
          <a:xfrm>
            <a:off x="8418576" y="4343400"/>
            <a:ext cx="1277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/ DevOps cert</a:t>
            </a:r>
            <a:endParaRPr lang="en-US" sz="750" dirty="0"/>
          </a:p>
        </p:txBody>
      </p:sp>
      <p:sp>
        <p:nvSpPr>
          <p:cNvPr id="97" name="Text 80"/>
          <p:cNvSpPr/>
          <p:nvPr/>
        </p:nvSpPr>
        <p:spPr>
          <a:xfrm>
            <a:off x="8162544" y="2532888"/>
            <a:ext cx="1533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700" dirty="0"/>
          </a:p>
        </p:txBody>
      </p:sp>
      <p:sp>
        <p:nvSpPr>
          <p:cNvPr id="98" name="Text 81"/>
          <p:cNvSpPr/>
          <p:nvPr/>
        </p:nvSpPr>
        <p:spPr>
          <a:xfrm>
            <a:off x="8162544" y="2706624"/>
            <a:ext cx="155143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/ LLMOps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(OWASP LLM)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BFSI · Health · Retail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/ Salesforce AI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</a:t>
            </a:r>
            <a:endParaRPr lang="en-US" sz="800" dirty="0"/>
          </a:p>
        </p:txBody>
      </p:sp>
      <p:sp>
        <p:nvSpPr>
          <p:cNvPr id="99" name="Shape 82"/>
          <p:cNvSpPr/>
          <p:nvPr/>
        </p:nvSpPr>
        <p:spPr>
          <a:xfrm>
            <a:off x="8135112" y="4800600"/>
            <a:ext cx="1588008" cy="1051560"/>
          </a:xfrm>
          <a:prstGeom prst="roundRect">
            <a:avLst>
              <a:gd name="adj" fmla="val 5217"/>
            </a:avLst>
          </a:prstGeom>
          <a:solidFill>
            <a:srgbClr val="EAE6F5"/>
          </a:solidFill>
          <a:ln/>
        </p:spPr>
      </p:sp>
      <p:pic>
        <p:nvPicPr>
          <p:cNvPr id="10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26552" y="4905756"/>
            <a:ext cx="137160" cy="137160"/>
          </a:xfrm>
          <a:prstGeom prst="rect">
            <a:avLst/>
          </a:prstGeom>
        </p:spPr>
      </p:pic>
      <p:sp>
        <p:nvSpPr>
          <p:cNvPr id="101" name="Text 83"/>
          <p:cNvSpPr/>
          <p:nvPr/>
        </p:nvSpPr>
        <p:spPr>
          <a:xfrm>
            <a:off x="8400288" y="4882896"/>
            <a:ext cx="129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533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PROJECTS</a:t>
            </a:r>
            <a:endParaRPr lang="en-US" sz="700" dirty="0"/>
          </a:p>
        </p:txBody>
      </p:sp>
      <p:sp>
        <p:nvSpPr>
          <p:cNvPr id="102" name="Text 84"/>
          <p:cNvSpPr/>
          <p:nvPr/>
        </p:nvSpPr>
        <p:spPr>
          <a:xfrm>
            <a:off x="8226552" y="5129784"/>
            <a:ext cx="1423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 capstone (healthcare)</a:t>
            </a:r>
            <a:endParaRPr lang="en-US" sz="850" dirty="0"/>
          </a:p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 workflows capstone</a:t>
            </a:r>
            <a:endParaRPr lang="en-US" sz="850" dirty="0"/>
          </a:p>
        </p:txBody>
      </p:sp>
      <p:sp>
        <p:nvSpPr>
          <p:cNvPr id="103" name="Shape 85"/>
          <p:cNvSpPr/>
          <p:nvPr/>
        </p:nvSpPr>
        <p:spPr>
          <a:xfrm>
            <a:off x="8052816" y="5943600"/>
            <a:ext cx="1752600" cy="384048"/>
          </a:xfrm>
          <a:prstGeom prst="roundRect">
            <a:avLst>
              <a:gd name="adj" fmla="val 16667"/>
            </a:avLst>
          </a:prstGeom>
          <a:solidFill>
            <a:srgbClr val="4F2DAD"/>
          </a:solidFill>
          <a:ln/>
        </p:spPr>
      </p:sp>
      <p:sp>
        <p:nvSpPr>
          <p:cNvPr id="104" name="Shape 86"/>
          <p:cNvSpPr/>
          <p:nvPr/>
        </p:nvSpPr>
        <p:spPr>
          <a:xfrm>
            <a:off x="8052816" y="5943600"/>
            <a:ext cx="1752600" cy="192024"/>
          </a:xfrm>
          <a:prstGeom prst="rect">
            <a:avLst/>
          </a:prstGeom>
          <a:solidFill>
            <a:srgbClr val="4F2DAD"/>
          </a:solidFill>
          <a:ln/>
        </p:spPr>
      </p:sp>
      <p:pic>
        <p:nvPicPr>
          <p:cNvPr id="10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3900" y="6057900"/>
            <a:ext cx="192024" cy="155448"/>
          </a:xfrm>
          <a:prstGeom prst="rect">
            <a:avLst/>
          </a:prstGeom>
        </p:spPr>
      </p:pic>
      <p:sp>
        <p:nvSpPr>
          <p:cNvPr id="106" name="Text 87"/>
          <p:cNvSpPr/>
          <p:nvPr/>
        </p:nvSpPr>
        <p:spPr>
          <a:xfrm>
            <a:off x="8590788" y="594360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7" name="Text 88"/>
          <p:cNvSpPr/>
          <p:nvPr/>
        </p:nvSpPr>
        <p:spPr>
          <a:xfrm>
            <a:off x="8801100" y="59436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000" dirty="0"/>
          </a:p>
        </p:txBody>
      </p:sp>
      <p:pic>
        <p:nvPicPr>
          <p:cNvPr id="10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02268" y="6048756"/>
            <a:ext cx="164592" cy="164592"/>
          </a:xfrm>
          <a:prstGeom prst="rect">
            <a:avLst/>
          </a:prstGeom>
        </p:spPr>
      </p:pic>
      <p:sp>
        <p:nvSpPr>
          <p:cNvPr id="109" name="Text 89"/>
          <p:cNvSpPr/>
          <p:nvPr/>
        </p:nvSpPr>
        <p:spPr>
          <a:xfrm>
            <a:off x="9221724" y="5943600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10" name="Shape 90"/>
          <p:cNvSpPr/>
          <p:nvPr/>
        </p:nvSpPr>
        <p:spPr>
          <a:xfrm>
            <a:off x="9951720" y="1344168"/>
            <a:ext cx="1752600" cy="4983480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AFA3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6000"/>
              </a:srgbClr>
            </a:outerShdw>
          </a:effectLst>
        </p:spPr>
      </p:sp>
      <p:sp>
        <p:nvSpPr>
          <p:cNvPr id="111" name="Shape 91"/>
          <p:cNvSpPr/>
          <p:nvPr/>
        </p:nvSpPr>
        <p:spPr>
          <a:xfrm>
            <a:off x="9951720" y="1344168"/>
            <a:ext cx="1752600" cy="804672"/>
          </a:xfrm>
          <a:prstGeom prst="roundRect">
            <a:avLst>
              <a:gd name="adj" fmla="val 7955"/>
            </a:avLst>
          </a:prstGeom>
          <a:solidFill>
            <a:srgbClr val="36198A"/>
          </a:solidFill>
          <a:ln/>
        </p:spPr>
      </p:sp>
      <p:sp>
        <p:nvSpPr>
          <p:cNvPr id="112" name="Shape 92"/>
          <p:cNvSpPr/>
          <p:nvPr/>
        </p:nvSpPr>
        <p:spPr>
          <a:xfrm>
            <a:off x="9951720" y="1746504"/>
            <a:ext cx="1752600" cy="402336"/>
          </a:xfrm>
          <a:prstGeom prst="rect">
            <a:avLst/>
          </a:prstGeom>
          <a:solidFill>
            <a:srgbClr val="36198A"/>
          </a:solidFill>
          <a:ln/>
        </p:spPr>
      </p:sp>
      <p:sp>
        <p:nvSpPr>
          <p:cNvPr id="113" name="Shape 93"/>
          <p:cNvSpPr/>
          <p:nvPr/>
        </p:nvSpPr>
        <p:spPr>
          <a:xfrm>
            <a:off x="10590276" y="1106424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36198A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20000"/>
              </a:srgbClr>
            </a:outerShdw>
          </a:effectLst>
        </p:spPr>
      </p:sp>
      <p:sp>
        <p:nvSpPr>
          <p:cNvPr id="114" name="Text 94"/>
          <p:cNvSpPr/>
          <p:nvPr/>
        </p:nvSpPr>
        <p:spPr>
          <a:xfrm>
            <a:off x="10590276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1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15" name="Text 95"/>
          <p:cNvSpPr/>
          <p:nvPr/>
        </p:nvSpPr>
        <p:spPr>
          <a:xfrm>
            <a:off x="10024872" y="1581912"/>
            <a:ext cx="1606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&amp; Capstone</a:t>
            </a:r>
            <a:endParaRPr lang="en-US" sz="1000" dirty="0"/>
          </a:p>
        </p:txBody>
      </p:sp>
      <p:sp>
        <p:nvSpPr>
          <p:cNvPr id="116" name="Shape 96"/>
          <p:cNvSpPr/>
          <p:nvPr/>
        </p:nvSpPr>
        <p:spPr>
          <a:xfrm>
            <a:off x="10034016" y="4343400"/>
            <a:ext cx="1588008" cy="384048"/>
          </a:xfrm>
          <a:prstGeom prst="roundRect">
            <a:avLst>
              <a:gd name="adj" fmla="val 14286"/>
            </a:avLst>
          </a:prstGeom>
          <a:solidFill>
            <a:srgbClr val="FFF6E3"/>
          </a:solidFill>
          <a:ln w="9525">
            <a:solidFill>
              <a:srgbClr val="F0D9A8"/>
            </a:solidFill>
            <a:prstDash val="solid"/>
          </a:ln>
        </p:spPr>
      </p:sp>
      <p:pic>
        <p:nvPicPr>
          <p:cNvPr id="117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16312" y="4457700"/>
            <a:ext cx="155448" cy="155448"/>
          </a:xfrm>
          <a:prstGeom prst="rect">
            <a:avLst/>
          </a:prstGeom>
        </p:spPr>
      </p:pic>
      <p:sp>
        <p:nvSpPr>
          <p:cNvPr id="118" name="Text 97"/>
          <p:cNvSpPr/>
          <p:nvPr/>
        </p:nvSpPr>
        <p:spPr>
          <a:xfrm>
            <a:off x="10317480" y="4343400"/>
            <a:ext cx="1277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CCA-F · Copilot · Cloud certs</a:t>
            </a:r>
            <a:endParaRPr lang="en-US" sz="750" dirty="0"/>
          </a:p>
        </p:txBody>
      </p:sp>
      <p:sp>
        <p:nvSpPr>
          <p:cNvPr id="119" name="Text 98"/>
          <p:cNvSpPr/>
          <p:nvPr/>
        </p:nvSpPr>
        <p:spPr>
          <a:xfrm>
            <a:off x="10061448" y="2221992"/>
            <a:ext cx="1533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700" dirty="0"/>
          </a:p>
        </p:txBody>
      </p:sp>
      <p:sp>
        <p:nvSpPr>
          <p:cNvPr id="120" name="Text 99"/>
          <p:cNvSpPr/>
          <p:nvPr/>
        </p:nvSpPr>
        <p:spPr>
          <a:xfrm>
            <a:off x="10061448" y="2395728"/>
            <a:ext cx="155143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Arch. (CCA-F)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cert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Azure / GCP certs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leadership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 &amp; CoE</a:t>
            </a:r>
            <a:endParaRPr lang="en-US" sz="8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3A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800" dirty="0"/>
          </a:p>
        </p:txBody>
      </p:sp>
      <p:sp>
        <p:nvSpPr>
          <p:cNvPr id="121" name="Shape 100"/>
          <p:cNvSpPr/>
          <p:nvPr/>
        </p:nvSpPr>
        <p:spPr>
          <a:xfrm>
            <a:off x="10034016" y="4800600"/>
            <a:ext cx="1588008" cy="1051560"/>
          </a:xfrm>
          <a:prstGeom prst="roundRect">
            <a:avLst>
              <a:gd name="adj" fmla="val 5217"/>
            </a:avLst>
          </a:prstGeom>
          <a:solidFill>
            <a:srgbClr val="E7E3F1"/>
          </a:solidFill>
          <a:ln/>
        </p:spPr>
      </p:sp>
      <p:pic>
        <p:nvPicPr>
          <p:cNvPr id="122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25456" y="4905756"/>
            <a:ext cx="137160" cy="137160"/>
          </a:xfrm>
          <a:prstGeom prst="rect">
            <a:avLst/>
          </a:prstGeom>
        </p:spPr>
      </p:pic>
      <p:sp>
        <p:nvSpPr>
          <p:cNvPr id="123" name="Text 101"/>
          <p:cNvSpPr/>
          <p:nvPr/>
        </p:nvSpPr>
        <p:spPr>
          <a:xfrm>
            <a:off x="10299192" y="4882896"/>
            <a:ext cx="1295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533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PROJECTS</a:t>
            </a:r>
            <a:endParaRPr lang="en-US" sz="700" dirty="0"/>
          </a:p>
        </p:txBody>
      </p:sp>
      <p:sp>
        <p:nvSpPr>
          <p:cNvPr id="124" name="Text 102"/>
          <p:cNvSpPr/>
          <p:nvPr/>
        </p:nvSpPr>
        <p:spPr>
          <a:xfrm>
            <a:off x="10125456" y="5129784"/>
            <a:ext cx="1423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CCA-F exam simulation</a:t>
            </a:r>
            <a:endParaRPr lang="en-US" sz="850" dirty="0"/>
          </a:p>
          <a:p>
            <a:pPr algn="l" marL="114300" indent="-114300">
              <a:spcAft>
                <a:spcPts val="500"/>
              </a:spcAft>
              <a:buSzPct val="100000"/>
              <a:buChar char="▸"/>
            </a:pPr>
            <a:r>
              <a:rPr lang="en-US" sz="850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production GenAI app</a:t>
            </a:r>
            <a:endParaRPr lang="en-US" sz="850" dirty="0"/>
          </a:p>
        </p:txBody>
      </p:sp>
      <p:sp>
        <p:nvSpPr>
          <p:cNvPr id="125" name="Shape 103"/>
          <p:cNvSpPr/>
          <p:nvPr/>
        </p:nvSpPr>
        <p:spPr>
          <a:xfrm>
            <a:off x="9951720" y="5943600"/>
            <a:ext cx="1752600" cy="384048"/>
          </a:xfrm>
          <a:prstGeom prst="roundRect">
            <a:avLst>
              <a:gd name="adj" fmla="val 16667"/>
            </a:avLst>
          </a:prstGeom>
          <a:solidFill>
            <a:srgbClr val="36198A"/>
          </a:solidFill>
          <a:ln/>
        </p:spPr>
      </p:sp>
      <p:sp>
        <p:nvSpPr>
          <p:cNvPr id="126" name="Shape 104"/>
          <p:cNvSpPr/>
          <p:nvPr/>
        </p:nvSpPr>
        <p:spPr>
          <a:xfrm>
            <a:off x="9951720" y="5943600"/>
            <a:ext cx="1752600" cy="192024"/>
          </a:xfrm>
          <a:prstGeom prst="rect">
            <a:avLst/>
          </a:prstGeom>
          <a:solidFill>
            <a:srgbClr val="36198A"/>
          </a:solidFill>
          <a:ln/>
        </p:spPr>
      </p:sp>
      <p:pic>
        <p:nvPicPr>
          <p:cNvPr id="127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42804" y="6057900"/>
            <a:ext cx="192024" cy="155448"/>
          </a:xfrm>
          <a:prstGeom prst="rect">
            <a:avLst/>
          </a:prstGeom>
        </p:spPr>
      </p:pic>
      <p:sp>
        <p:nvSpPr>
          <p:cNvPr id="128" name="Text 105"/>
          <p:cNvSpPr/>
          <p:nvPr/>
        </p:nvSpPr>
        <p:spPr>
          <a:xfrm>
            <a:off x="10489692" y="5943600"/>
            <a:ext cx="237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29" name="Text 106"/>
          <p:cNvSpPr/>
          <p:nvPr/>
        </p:nvSpPr>
        <p:spPr>
          <a:xfrm>
            <a:off x="10700004" y="59436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000" dirty="0"/>
          </a:p>
        </p:txBody>
      </p:sp>
      <p:pic>
        <p:nvPicPr>
          <p:cNvPr id="13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901172" y="6048756"/>
            <a:ext cx="164592" cy="164592"/>
          </a:xfrm>
          <a:prstGeom prst="rect">
            <a:avLst/>
          </a:prstGeom>
        </p:spPr>
      </p:pic>
      <p:sp>
        <p:nvSpPr>
          <p:cNvPr id="131" name="Text 107"/>
          <p:cNvSpPr/>
          <p:nvPr/>
        </p:nvSpPr>
        <p:spPr>
          <a:xfrm>
            <a:off x="11120628" y="5943600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132" name="Text 108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complexity rises level by level — from guided learning labs to deployed, monitored, production-grade GenAI products. Complete all 6 levels to qualify as an Accenture RDE.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31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Learning to Impact — The Story So Far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066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levelling up, the cohort dug deep into their own platforms, brainstormed as a core group, and solutionized within client-approved tools &amp; capabilities.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8A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WORKED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463040" y="1810512"/>
            <a:ext cx="9235440" cy="0"/>
          </a:xfrm>
          <a:prstGeom prst="line">
            <a:avLst/>
          </a:prstGeom>
          <a:noFill/>
          <a:ln w="19050">
            <a:solidFill>
              <a:srgbClr val="D8CB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9576" y="1527048"/>
            <a:ext cx="566928" cy="566928"/>
          </a:xfrm>
          <a:prstGeom prst="ellipse">
            <a:avLst/>
          </a:prstGeom>
          <a:solidFill>
            <a:srgbClr val="5A35B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67335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21762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platform analysis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9768" y="241401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champion mined their own platform for opportunities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488436" y="1527048"/>
            <a:ext cx="566928" cy="566928"/>
          </a:xfrm>
          <a:prstGeom prst="ellipse">
            <a:avLst/>
          </a:prstGeom>
          <a:solidFill>
            <a:srgbClr val="5A35B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167335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74620" y="21762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Core-group brainstorming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2738628" y="241401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pressure-tested together as one cohort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797296" y="1527048"/>
            <a:ext cx="566928" cy="566928"/>
          </a:xfrm>
          <a:prstGeom prst="ellipse">
            <a:avLst/>
          </a:prstGeom>
          <a:solidFill>
            <a:srgbClr val="5A35B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7335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983480" y="21762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solutionize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047488" y="241401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within client-allowed tools &amp; capabilities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8106156" y="1527048"/>
            <a:ext cx="566928" cy="566928"/>
          </a:xfrm>
          <a:prstGeom prst="ellipse">
            <a:avLst/>
          </a:prstGeom>
          <a:solidFill>
            <a:srgbClr val="5A35B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8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460" y="1673352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292340" y="21762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approval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356348" y="241401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reviewed &amp; signed off by client stakeholders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10415016" y="1527048"/>
            <a:ext cx="566928" cy="566928"/>
          </a:xfrm>
          <a:prstGeom prst="ellipse">
            <a:avLst/>
          </a:prstGeom>
          <a:solidFill>
            <a:srgbClr val="36198A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1673352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601200" y="21762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9665208" y="241401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classic + AI automation outcomes</a:t>
            </a:r>
            <a:endParaRPr lang="en-US" sz="850" dirty="0"/>
          </a:p>
        </p:txBody>
      </p:sp>
      <p:sp>
        <p:nvSpPr>
          <p:cNvPr id="26" name="Shape 19"/>
          <p:cNvSpPr/>
          <p:nvPr/>
        </p:nvSpPr>
        <p:spPr>
          <a:xfrm>
            <a:off x="320040" y="2852928"/>
            <a:ext cx="11521440" cy="3730752"/>
          </a:xfrm>
          <a:prstGeom prst="roundRect">
            <a:avLst>
              <a:gd name="adj" fmla="val 2941"/>
            </a:avLst>
          </a:prstGeom>
          <a:solidFill>
            <a:srgbClr val="F2EDFB"/>
          </a:solidFill>
          <a:ln/>
        </p:spPr>
      </p:sp>
      <p:sp>
        <p:nvSpPr>
          <p:cNvPr id="27" name="Shape 20"/>
          <p:cNvSpPr/>
          <p:nvPr/>
        </p:nvSpPr>
        <p:spPr>
          <a:xfrm>
            <a:off x="548640" y="3072384"/>
            <a:ext cx="2743200" cy="3291840"/>
          </a:xfrm>
          <a:prstGeom prst="roundRect">
            <a:avLst>
              <a:gd name="adj" fmla="val 4000"/>
            </a:avLst>
          </a:prstGeom>
          <a:solidFill>
            <a:srgbClr val="36198A"/>
          </a:solidFill>
          <a:ln/>
          <a:effectLst>
            <a:outerShdw sx="100000" sy="100000" kx="0" ky="0" algn="bl" rotWithShape="0" blurRad="114300" dist="25400" dir="5400000">
              <a:srgbClr val="000000">
                <a:alpha val="25000"/>
              </a:srgbClr>
            </a:outerShdw>
          </a:effectLst>
        </p:spPr>
      </p:sp>
      <p:sp>
        <p:nvSpPr>
          <p:cNvPr id="28" name="Text 21"/>
          <p:cNvSpPr/>
          <p:nvPr/>
        </p:nvSpPr>
        <p:spPr>
          <a:xfrm>
            <a:off x="548640" y="32735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WE DELIVERED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548640" y="3493008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0" dirty="0"/>
          </a:p>
        </p:txBody>
      </p:sp>
      <p:sp>
        <p:nvSpPr>
          <p:cNvPr id="30" name="Text 23"/>
          <p:cNvSpPr/>
          <p:nvPr/>
        </p:nvSpPr>
        <p:spPr>
          <a:xfrm>
            <a:off x="548640" y="49926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700" dirty="0"/>
          </a:p>
        </p:txBody>
      </p:sp>
      <p:sp>
        <p:nvSpPr>
          <p:cNvPr id="31" name="Text 24"/>
          <p:cNvSpPr/>
          <p:nvPr/>
        </p:nvSpPr>
        <p:spPr>
          <a:xfrm>
            <a:off x="640080" y="53400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CD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within client-approved tools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307592" y="5769864"/>
            <a:ext cx="118872" cy="118872"/>
          </a:xfrm>
          <a:prstGeom prst="ellipse">
            <a:avLst/>
          </a:prstGeom>
          <a:solidFill>
            <a:srgbClr val="3FBF7F"/>
          </a:solidFill>
          <a:ln/>
        </p:spPr>
      </p:sp>
      <p:sp>
        <p:nvSpPr>
          <p:cNvPr id="33" name="Text 26"/>
          <p:cNvSpPr/>
          <p:nvPr/>
        </p:nvSpPr>
        <p:spPr>
          <a:xfrm>
            <a:off x="1517904" y="57241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completed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1307592" y="6053328"/>
            <a:ext cx="118872" cy="118872"/>
          </a:xfrm>
          <a:prstGeom prst="ellipse">
            <a:avLst/>
          </a:prstGeom>
          <a:solidFill>
            <a:srgbClr val="F5B544"/>
          </a:solidFill>
          <a:ln/>
        </p:spPr>
      </p:sp>
      <p:sp>
        <p:nvSpPr>
          <p:cNvPr id="35" name="Text 28"/>
          <p:cNvSpPr/>
          <p:nvPr/>
        </p:nvSpPr>
        <p:spPr>
          <a:xfrm>
            <a:off x="1517904" y="60076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 progress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3566160" y="3072384"/>
            <a:ext cx="8092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B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7607808" y="3346704"/>
            <a:ext cx="0" cy="2743200"/>
          </a:xfrm>
          <a:prstGeom prst="line">
            <a:avLst/>
          </a:prstGeom>
          <a:noFill/>
          <a:ln w="15875">
            <a:solidFill>
              <a:srgbClr val="E3DAF7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3840480" y="331012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331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1</a:t>
            </a:r>
            <a:endParaRPr lang="en-US" sz="1150" dirty="0"/>
          </a:p>
        </p:txBody>
      </p:sp>
      <p:sp>
        <p:nvSpPr>
          <p:cNvPr id="39" name="Shape 32"/>
          <p:cNvSpPr/>
          <p:nvPr/>
        </p:nvSpPr>
        <p:spPr>
          <a:xfrm>
            <a:off x="3840480" y="3602736"/>
            <a:ext cx="3520440" cy="0"/>
          </a:xfrm>
          <a:prstGeom prst="line">
            <a:avLst/>
          </a:prstGeom>
          <a:noFill/>
          <a:ln w="22225">
            <a:solidFill>
              <a:srgbClr val="5A35B8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3840480" y="3831336"/>
            <a:ext cx="329184" cy="329184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2776" y="3913632"/>
            <a:ext cx="164592" cy="164592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4297680" y="37673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4297680" y="400507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~xx% ROI</a:t>
            </a:r>
            <a:endParaRPr lang="en-US" sz="900" dirty="0"/>
          </a:p>
        </p:txBody>
      </p:sp>
      <p:sp>
        <p:nvSpPr>
          <p:cNvPr id="44" name="Shape 36"/>
          <p:cNvSpPr/>
          <p:nvPr/>
        </p:nvSpPr>
        <p:spPr>
          <a:xfrm>
            <a:off x="6190488" y="3941064"/>
            <a:ext cx="109728" cy="10972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45" name="Text 37"/>
          <p:cNvSpPr/>
          <p:nvPr/>
        </p:nvSpPr>
        <p:spPr>
          <a:xfrm>
            <a:off x="6355080" y="3858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3840480" y="4315968"/>
            <a:ext cx="3520440" cy="0"/>
          </a:xfrm>
          <a:prstGeom prst="line">
            <a:avLst/>
          </a:prstGeom>
          <a:noFill/>
          <a:ln w="12700">
            <a:solidFill>
              <a:srgbClr val="EEE8FA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3840480" y="4480560"/>
            <a:ext cx="329184" cy="329184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4562856"/>
            <a:ext cx="164592" cy="164592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4297680" y="441655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050" dirty="0"/>
          </a:p>
        </p:txBody>
      </p:sp>
      <p:sp>
        <p:nvSpPr>
          <p:cNvPr id="50" name="Text 41"/>
          <p:cNvSpPr/>
          <p:nvPr/>
        </p:nvSpPr>
        <p:spPr>
          <a:xfrm>
            <a:off x="4297680" y="46542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~xx% ROI</a:t>
            </a:r>
            <a:endParaRPr lang="en-US" sz="900" dirty="0"/>
          </a:p>
        </p:txBody>
      </p:sp>
      <p:sp>
        <p:nvSpPr>
          <p:cNvPr id="51" name="Shape 42"/>
          <p:cNvSpPr/>
          <p:nvPr/>
        </p:nvSpPr>
        <p:spPr>
          <a:xfrm>
            <a:off x="6190488" y="4590288"/>
            <a:ext cx="109728" cy="10972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52" name="Text 43"/>
          <p:cNvSpPr/>
          <p:nvPr/>
        </p:nvSpPr>
        <p:spPr>
          <a:xfrm>
            <a:off x="6355080" y="45079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3840480" y="4965192"/>
            <a:ext cx="3520440" cy="0"/>
          </a:xfrm>
          <a:prstGeom prst="line">
            <a:avLst/>
          </a:prstGeom>
          <a:noFill/>
          <a:ln w="12700">
            <a:solidFill>
              <a:srgbClr val="EEE8FA"/>
            </a:solidFill>
            <a:prstDash val="solid"/>
          </a:ln>
        </p:spPr>
      </p:sp>
      <p:sp>
        <p:nvSpPr>
          <p:cNvPr id="54" name="Shape 45"/>
          <p:cNvSpPr/>
          <p:nvPr/>
        </p:nvSpPr>
        <p:spPr>
          <a:xfrm>
            <a:off x="3840480" y="5129784"/>
            <a:ext cx="329184" cy="329184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776" y="5212080"/>
            <a:ext cx="164592" cy="164592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4297680" y="506577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050" dirty="0"/>
          </a:p>
        </p:txBody>
      </p:sp>
      <p:sp>
        <p:nvSpPr>
          <p:cNvPr id="57" name="Text 47"/>
          <p:cNvSpPr/>
          <p:nvPr/>
        </p:nvSpPr>
        <p:spPr>
          <a:xfrm>
            <a:off x="4297680" y="53035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in assessment</a:t>
            </a:r>
            <a:endParaRPr lang="en-US" sz="900" dirty="0"/>
          </a:p>
        </p:txBody>
      </p:sp>
      <p:sp>
        <p:nvSpPr>
          <p:cNvPr id="58" name="Shape 48"/>
          <p:cNvSpPr/>
          <p:nvPr/>
        </p:nvSpPr>
        <p:spPr>
          <a:xfrm>
            <a:off x="6190488" y="5239512"/>
            <a:ext cx="109728" cy="109728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59" name="Text 49"/>
          <p:cNvSpPr/>
          <p:nvPr/>
        </p:nvSpPr>
        <p:spPr>
          <a:xfrm>
            <a:off x="6355080" y="51572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60" name="Shape 50"/>
          <p:cNvSpPr/>
          <p:nvPr/>
        </p:nvSpPr>
        <p:spPr>
          <a:xfrm>
            <a:off x="3840480" y="5614416"/>
            <a:ext cx="3520440" cy="0"/>
          </a:xfrm>
          <a:prstGeom prst="line">
            <a:avLst/>
          </a:prstGeom>
          <a:noFill/>
          <a:ln w="12700">
            <a:solidFill>
              <a:srgbClr val="EEE8FA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3840480" y="5779008"/>
            <a:ext cx="329184" cy="329184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2776" y="5861304"/>
            <a:ext cx="164592" cy="164592"/>
          </a:xfrm>
          <a:prstGeom prst="rect">
            <a:avLst/>
          </a:prstGeom>
        </p:spPr>
      </p:pic>
      <p:sp>
        <p:nvSpPr>
          <p:cNvPr id="63" name="Text 52"/>
          <p:cNvSpPr/>
          <p:nvPr/>
        </p:nvSpPr>
        <p:spPr>
          <a:xfrm>
            <a:off x="4297680" y="5715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4</a:t>
            </a:r>
            <a:endParaRPr lang="en-US" sz="1050" dirty="0"/>
          </a:p>
        </p:txBody>
      </p:sp>
      <p:sp>
        <p:nvSpPr>
          <p:cNvPr id="64" name="Text 53"/>
          <p:cNvSpPr/>
          <p:nvPr/>
        </p:nvSpPr>
        <p:spPr>
          <a:xfrm>
            <a:off x="4297680" y="595274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in assessment</a:t>
            </a:r>
            <a:endParaRPr lang="en-US" sz="900" dirty="0"/>
          </a:p>
        </p:txBody>
      </p:sp>
      <p:sp>
        <p:nvSpPr>
          <p:cNvPr id="65" name="Shape 54"/>
          <p:cNvSpPr/>
          <p:nvPr/>
        </p:nvSpPr>
        <p:spPr>
          <a:xfrm>
            <a:off x="6190488" y="5888736"/>
            <a:ext cx="109728" cy="109728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66" name="Text 55"/>
          <p:cNvSpPr/>
          <p:nvPr/>
        </p:nvSpPr>
        <p:spPr>
          <a:xfrm>
            <a:off x="6355080" y="5806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67" name="Text 56"/>
          <p:cNvSpPr/>
          <p:nvPr/>
        </p:nvSpPr>
        <p:spPr>
          <a:xfrm>
            <a:off x="7882128" y="331012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331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2</a:t>
            </a:r>
            <a:endParaRPr lang="en-US" sz="1150" dirty="0"/>
          </a:p>
        </p:txBody>
      </p:sp>
      <p:sp>
        <p:nvSpPr>
          <p:cNvPr id="68" name="Shape 57"/>
          <p:cNvSpPr/>
          <p:nvPr/>
        </p:nvSpPr>
        <p:spPr>
          <a:xfrm>
            <a:off x="7882128" y="3602736"/>
            <a:ext cx="3520440" cy="0"/>
          </a:xfrm>
          <a:prstGeom prst="line">
            <a:avLst/>
          </a:prstGeom>
          <a:noFill/>
          <a:ln w="22225">
            <a:solidFill>
              <a:srgbClr val="5A35B8"/>
            </a:solidFill>
            <a:prstDash val="solid"/>
          </a:ln>
        </p:spPr>
      </p:sp>
      <p:sp>
        <p:nvSpPr>
          <p:cNvPr id="69" name="Shape 58"/>
          <p:cNvSpPr/>
          <p:nvPr/>
        </p:nvSpPr>
        <p:spPr>
          <a:xfrm>
            <a:off x="7882128" y="3831336"/>
            <a:ext cx="329184" cy="329184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7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64424" y="3913632"/>
            <a:ext cx="164592" cy="164592"/>
          </a:xfrm>
          <a:prstGeom prst="rect">
            <a:avLst/>
          </a:prstGeom>
        </p:spPr>
      </p:pic>
      <p:sp>
        <p:nvSpPr>
          <p:cNvPr id="71" name="Text 59"/>
          <p:cNvSpPr/>
          <p:nvPr/>
        </p:nvSpPr>
        <p:spPr>
          <a:xfrm>
            <a:off x="8339328" y="37673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5</a:t>
            </a:r>
            <a:endParaRPr lang="en-US" sz="1050" dirty="0"/>
          </a:p>
        </p:txBody>
      </p:sp>
      <p:sp>
        <p:nvSpPr>
          <p:cNvPr id="72" name="Text 60"/>
          <p:cNvSpPr/>
          <p:nvPr/>
        </p:nvSpPr>
        <p:spPr>
          <a:xfrm>
            <a:off x="8339328" y="400507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~xx% ROI</a:t>
            </a:r>
            <a:endParaRPr lang="en-US" sz="900" dirty="0"/>
          </a:p>
        </p:txBody>
      </p:sp>
      <p:sp>
        <p:nvSpPr>
          <p:cNvPr id="73" name="Shape 61"/>
          <p:cNvSpPr/>
          <p:nvPr/>
        </p:nvSpPr>
        <p:spPr>
          <a:xfrm>
            <a:off x="10232136" y="3941064"/>
            <a:ext cx="109728" cy="109728"/>
          </a:xfrm>
          <a:prstGeom prst="ellipse">
            <a:avLst/>
          </a:prstGeom>
          <a:solidFill>
            <a:srgbClr val="1E8E5A"/>
          </a:solidFill>
          <a:ln/>
        </p:spPr>
      </p:sp>
      <p:sp>
        <p:nvSpPr>
          <p:cNvPr id="74" name="Text 62"/>
          <p:cNvSpPr/>
          <p:nvPr/>
        </p:nvSpPr>
        <p:spPr>
          <a:xfrm>
            <a:off x="10396728" y="3858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5" name="Shape 63"/>
          <p:cNvSpPr/>
          <p:nvPr/>
        </p:nvSpPr>
        <p:spPr>
          <a:xfrm>
            <a:off x="7882128" y="4315968"/>
            <a:ext cx="3520440" cy="0"/>
          </a:xfrm>
          <a:prstGeom prst="line">
            <a:avLst/>
          </a:prstGeom>
          <a:noFill/>
          <a:ln w="12700">
            <a:solidFill>
              <a:srgbClr val="EEE8FA"/>
            </a:solidFill>
            <a:prstDash val="solid"/>
          </a:ln>
        </p:spPr>
      </p:sp>
      <p:sp>
        <p:nvSpPr>
          <p:cNvPr id="76" name="Shape 64"/>
          <p:cNvSpPr/>
          <p:nvPr/>
        </p:nvSpPr>
        <p:spPr>
          <a:xfrm>
            <a:off x="7882128" y="4480560"/>
            <a:ext cx="329184" cy="329184"/>
          </a:xfrm>
          <a:prstGeom prst="ellipse">
            <a:avLst/>
          </a:prstGeom>
          <a:solidFill>
            <a:srgbClr val="5A35B8"/>
          </a:solidFill>
          <a:ln/>
        </p:spPr>
      </p:sp>
      <p:pic>
        <p:nvPicPr>
          <p:cNvPr id="7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64424" y="4562856"/>
            <a:ext cx="164592" cy="164592"/>
          </a:xfrm>
          <a:prstGeom prst="rect">
            <a:avLst/>
          </a:prstGeom>
        </p:spPr>
      </p:pic>
      <p:sp>
        <p:nvSpPr>
          <p:cNvPr id="78" name="Text 65"/>
          <p:cNvSpPr/>
          <p:nvPr/>
        </p:nvSpPr>
        <p:spPr>
          <a:xfrm>
            <a:off x="8339328" y="441655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1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6</a:t>
            </a:r>
            <a:endParaRPr lang="en-US" sz="1050" dirty="0"/>
          </a:p>
        </p:txBody>
      </p:sp>
      <p:sp>
        <p:nvSpPr>
          <p:cNvPr id="79" name="Text 66"/>
          <p:cNvSpPr/>
          <p:nvPr/>
        </p:nvSpPr>
        <p:spPr>
          <a:xfrm>
            <a:off x="8339328" y="46542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in assessment</a:t>
            </a:r>
            <a:endParaRPr lang="en-US" sz="900" dirty="0"/>
          </a:p>
        </p:txBody>
      </p:sp>
      <p:sp>
        <p:nvSpPr>
          <p:cNvPr id="80" name="Shape 67"/>
          <p:cNvSpPr/>
          <p:nvPr/>
        </p:nvSpPr>
        <p:spPr>
          <a:xfrm>
            <a:off x="10232136" y="4590288"/>
            <a:ext cx="109728" cy="109728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81" name="Text 68"/>
          <p:cNvSpPr/>
          <p:nvPr/>
        </p:nvSpPr>
        <p:spPr>
          <a:xfrm>
            <a:off x="10396728" y="45079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RDE Learning Path</dc:title>
  <dc:subject>PptxGenJS Presentation</dc:subject>
  <dc:creator>PptxGenJS</dc:creator>
  <cp:lastModifiedBy>PptxGenJS</cp:lastModifiedBy>
  <cp:revision>1</cp:revision>
  <dcterms:created xsi:type="dcterms:W3CDTF">2026-06-13T01:50:07Z</dcterms:created>
  <dcterms:modified xsi:type="dcterms:W3CDTF">2026-06-13T01:50:07Z</dcterms:modified>
</cp:coreProperties>
</file>